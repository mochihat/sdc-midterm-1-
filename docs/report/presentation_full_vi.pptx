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 cô và các bạn, em là đội 11, làm một mình. Bài của em là định vị xe – tức ước lượng x, y và góc yaw của xe ở từng frame camera – bằng cách đặt các point cloud dựng từ ảnh vào một bản đồ LiDAR có sẵn. Em có dùng trợ lý lập trình AI là Claude Code để viết code và chạy thí nghiệm; mọi quyết định và mọi lần nộp Kaggle là do em duyệt, và toàn bộ quá trình được ghi trong nhật ký của repo. Kết quả hiện tại: hạng 1 ở Track01 và Track02, hạng 2 ở phần public của Track03. Bài thuyết trình sẽ đi theo 6 phần: bài toán, pipeline, chiến thuật thi đấu, các lỗi đã gặp và cách sửa, chiến thuật riêng từng track, và kết quả.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Đầu vào của mỗi track gồm point cloud dựng từ ảnh cho từng frame, bản đồ LiDAR có cả cường độ phản xạ, một pose ban đầu có cộng nhiễu, và rosbag chứa IMU 100 Hz, ba luồng video camera nén h265, và ở Track01/02 có thêm topic pose GNSS. Đầu ra là một file CSV mỗi frame một dòng: x, y và yaw theo radian. Điểm là RMSE vị trí cộng 0,2 lần RMSE yaw tính bằng độ, nghĩa là sai 1 độ yaw bị phạt bằng sai 20 cm vị trí – nên yaw quan trọng không kém vị trí. Với Track03 có luật riêng từ ngày 22/10: chỉ được dùng frame hiện tại và quá khứ, không làm mượt ngược, và TA sẽ chạy lại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hai loại point cloud từ ảnh. raw_ply do mô hình LoGeR dựng từ một camera trước, mỗi frame vài chục nghìn điểm, và không có đơn vị: mặt đường chỉ nằm khoảng 0,18 đơn vị dưới camera, trong khi camera thật cao khoảng 1,6 m – nên phải nhân khoảng 9 lần. 3cameras_ply do MapAnything dựng từ ba camera, dày hơn mười lần và gần đúng mét. Điểm quan trọng: Track03 chỉ có raw_ply, không có 3cameras_ply. Cả hai đều bị méo: tỉ lệ dao động 5–7 % giữa các frame và độ sâu sai nhiều hơn ở xa. Hình bên trái cho thấy cùng một frame ở tỉ lệ 3 (baseline) và tỉ lệ đo được 9,27 – chênh nhau rất lớn.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track có độ khó khác nhau. Track01 và Track02 có GNSS, nhưng GNSS của Track01 giật gấp ba Track02 vì đường có cây và nhà cao hai bên ở 74 % quãng đường, với 11 bước nhảy. Track02 bắt đầu bằng 13 giây đứng yên và pose ban đầu lệch gần 15 độ. Track03 không có GNSS và được chấm ở phần private – khoảng 87 % số frame. Hình dưới là tốc độ xe ở Track03: phần public chỉ là đoạn đầu; phần private gồm một lần đứng đèn đỏ 43 giây, chiếm 44 % số frame private, rồi xe chạy lại, rẽ trái 88 độ và dừng ở cuối. Vì vậy chiến thuật Track03 phải nhắm vào những đoạn mà bảng điểm public không thấy.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năm khó khăn chính. Thứ nhất, code mẫu dùng sai tỉ lệ point cloud nên NDT trôi hàng trăm mét. Thứ hai – đây là phát hiện quan trọng nhất – chính point cloud do AI dựng bị méo: em tạo point cloud "hoàn hảo" từ bản đồ LiDAR thì GICP chỉ sai 5–8 mm, còn với point cloud thật thì mỗi frame sai khoảng 0,8 m và gần 3 độ yaw. Nghĩa là đổi thuật toán khớp không giải quyết được; phải xử lý đầu vào. Thứ ba, pose ban đầu có nhiễu lớn. Thứ tư, yaw của GNSS thật ra được tính từ vị trí nên bị trễ hơn 1 giây và đứng yên khi xe dừng. Thứ năm, Track03 không có GNSS và odometry từ point cloud rất thất thường. Về vật thể động, em không đo riêng; bản đồ là tĩnh và bộ tách vạch sơn loại các vật rộng hơn 0,7 m như ô tô.</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toàn bộ pipeline. Với Track01/02, GNSS cho khung toạ độ: em đưa GNSS qua bộ lọc Kalman mô hình chuyển động xe CTRV cùng bộ làm mượt RTS, rồi dùng point cloud ba camera – đã chỉnh tỉ lệ theo độ cao mặt đường và cắt ở 20 m – khớp GICP với bản đồ để sửa vị trí, cộng thêm một bước khớp lưới với bản đồ (CSM). Yaw lấy từ con quay hồi chuyển cho phần nhanh và từ hướng chạy hoặc bản đồ cho phần chậm. Với Track03 không có GNSS nên có hai tầng: một bộ bám nhân quả dùng point cloud LoGeR và IMU; rồi một tầng dùng ảnh camera để khớp vạch sơn trên đường với vạch sơn trong cường độ bản đồ LiDAR, lọc bằng một bộ lọc sai số trạng thái có chuyển động theo IMU.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đóng góp riêng so với code mẫu. Code mẫu là một vòng NDT của PCL: nhân point cloud với 3, khớp với bản đồ giảm mẫu 1 m trong vùng ±100 m, mỗi frame bắt đầu từ pose frame trước. Em sửa node C++ để nhận một prior cho từng frame, loại các kết quả NDT nhảy quá xa, chạy cách frame và chia 10 đoạn song song, và ghi file debug. Nhưng phần lớn đóng góp là bộ công cụ Python: ước lượng tỉ lệ từ độ cao mặt đường, bộ lọc Kalman với nhiễu ước lượng bằng maximum likelihood, pipeline GICP, bộ lọc yaw, bộ bám không GNSS cho Track03, và cuối cùng là khớp vạch sơn từ ảnh camera – phần này không có trong code mẫu và là thứ đưa Track03 từ 0,80 xuống 0,28. Mọi file đã nộp đều tạo lại được bằng script.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đồ gốc có khoảng 50–60 triệu điểm. Code mẫu giảm mẫu 1 m và lưu cache để không phải đọc lại file ASCII 2,7 GB. Cho GICP em dùng voxel 0,3 m; em đã quét 0,2 / 0,3 / 0,5 m, mỗi lần chỉ đổi một tham số, và thấy kích thước voxel gần như không ảnh hưởng – 0,2 m chỉ chậm hơn ba lần. Thứ ảnh hưởng mạnh là tầm của point cloud ảnh: cắt ở 20 m tốt nhất. Ngoài ra em dựng hai loại bản đồ phụ: một trường xác suất từ các điểm cao 0,4–3 m (cột, tường) cho bước khớp lưới, và các raster vạch sơn từ cường độ LiDAR cho bước khớp camera ở Track03.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xử lý point cloud quan trọng nhất là tỉ lệ: mỗi frame em đo độ cao mặt đường dưới camera trong point cloud, lấy trung vị trượt 57 frame (khoảng 2 giây) và chia 1,646 m cho nó. Độ cao mặt đường thay đổi 1,73–2,27 giữa các đoạn, nên một hằng số tỉ lệ sai vài phần trăm. Bước thứ hai là chỉ giữ điểm trong 20 m: thí nghiệm tổng hợp cho thấy phần xa méo nhất, và trên Kaggle Track01 giảm từ 0,80 xuống 0,63. Em có thử các gợi ý của TA: mặt nạ nắp capo gần như không có tác dụng với point cloud ba camera vì MapAnything đã tự bỏ vùng đó; lọc điểm lạc thống kê làm kém đi; bỏ mặt đường làm GICP mất ràng buộc. Mặt nạ capo thì có dùng ở bước chiếu ảnh camera cho Track03.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khớp quét: NDT của code mẫu sau khi sửa tỉ lệ và giảm độ phân giải ô xuống 4 m thì ổn định, nhưng vẫn kém GNSS nên ghép vào lại làm điểm xấu đi. Em chuyển sang GICP của thư viện small_gicp: nhanh hơn khoảng 200 lần và chính xác hơn trên cùng dữ liệu. Hình này là lỗi vị trí Track01 của từng biến thể, đo bằng các lượt nộp chỉ đổi vị trí. Hai điều quan trọng: chỉ lặp GICP 2 lượt – lặp 5 lượt lại xấu đi vì cực tiểu của GICP lệch khỏi vị trí thật khi point cloud méo; và trừ độ lệch trung bình của GICP, chỉ giữ phần dao động. Ở Track03 em dùng khớp thô bằng lưới tương quan CSM trong cửa sổ ±15 m rồi mới GICP, và tầng cuối là khớp vạch sơn bằng tương quan chuẩn hoá qua FFT.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cập nhật trạng thái. Với Track01/02 em dùng bộ lọc Kalman mở rộng và bộ làm mượt RTS với mô hình xe CTRV; bốn mức nhiễu được chọn bằng maximum likelihood trên chính dữ liệu GNSS chứ không theo điểm Kaggle. Em nói rõ: RTS là làm mượt hai chiều, tức không nhân quả – điều này được chấp nhận ở Track01/02 theo lời TA, nhưng không dùng ở Track03. Track03 hoàn toàn nhân quả: bộ lọc Kalman vị trí với cổng 3σ, một bộ lọc tốc độ từ IMU, phát hiện đứng yên (ZUPT) và ước lượng lại bias gyro lúc đứng yên, gyro chiếu theo phương trọng lực vì IMU lắp nghiêng 6 độ. Khi khớp thất bại hoặc bị cổng loại, bộ lọc chỉ dự đoán; khi xe đứng yên thì không cập nhật GICP vì các frame cùng một khung cảnh có chung sai số. Lúc khởi đầu chạy 9 giả thuyết yaw song song (từ −24 đến +24 độ; ở Track03 giả thuyết +18 độ thắng), và mỗi frame chỉ xuất giả thuyết tốt nhất tại chính frame đó.</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làm việc của em: bắt đầu từ baseline, rồi mỗi lần chỉ đổi đúng một thứ và ghi giả thuyết trước khi chạy. Ngày đầu em chạy code mẫu thì quỹ đạo trôi xa, nộp lên được 602 điểm; nộp thử GNSS thì ra 1,31 và 0,57 – từ đó GNSS thành nền của Track01/02. Vì không có đáp án, em dựng nhiều thước đo offline: độ khớp bản đồ, tích phân IMU, và dùng Track01/02 có GNSS làm "đáp án tạm" để kiểm thử thuật toán cho Track03. Mỗi đợt nộp tối đa 3 file và phải được em duyệt. Ở Track01/02, bảng điểm còn được dùng như một phép đo, sẽ nói ở phần 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công cụ: em viết một bot Kaggle nhỏ chỉ dùng thư viện chuẩn của Python. Nó báo bảng xếp hạng và số lượt đã dùng, kiểm tra file trước khi nộp – đúng số dòng, yaw theo radian, và khoảng cách tới một quỹ đạo tham chiếu để bắt lỗi nộp nhầm track, lỗi mà em đã mắc một lần ngày đầu – và tự nộp các file trong hàng đợi, tối đa 3 file mỗi lần. Với Claude Code, em làm việc theo các "brief" đánh số nhiệm vụ, dùng file CLAUDE.md để bàn giao giữa các phiên, ghi nhật ký từng giai đoạn, và commit sau mỗi nhiệm vụ. Commit đầu tiên của repo là code mẫu nguyên gốc để luôn so được phần đã sửa.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tốt nhất theo thời gian của Track01 và Track02, tách theo nguồn gốc: đường xanh dương là pipeline thuần thuật toán, đường cam là thuật toán chạy trên nền một file có phần chọn theo điểm, đường xanh lá là dò bảng điểm. Các bước nhảy lớn của Track01: GNSS thay cho baseline, rồi GICP với tỉ lệ theo mặt đường, rồi yaw từ gyro, rồi cắt tầm 20 m. Sau khi TA trả lời ngày 20/10, em dựng lại pipeline sạch từ đầu nên đường xanh dương có một bậc ở 22/10. Cuối cùng pipeline sạch được 0,51 và 0,24, còn bản dò 0,36 và 0,11.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Track03 có 58 lần nộp, tất cả là output trực tiếp của pipeline, không dò. 16 lần đầu sáng 23/10 (màu cam) đến từ phiên bản bộ bám đầu tiên: nó đạt 0,77, nhưng sau đó em đọc lại code và phát hiện giai đoạn khởi đầu ghi ngược quỹ đạo của giả thuyết thắng – tức là dùng thông tin tương lai. Em sửa thành nhân quả và điểm public lùi về 0,96, nhưng đó mới là điểm hợp lệ. Sau đó là các bước: hiệu chuẩn tay đòn CSM, hướng lắp IMU, rồi đến bước ngoặt là khớp vạch sơn từ camera ngày 24/10 – từ 0,80 xuống 0,49 rồi 0,37; thêm camera hai bên 0,33; và cuối cùng cho vị trí dọc đi theo tốc độ IMU, 0,28.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Lỗi đầu tiên không liên quan thuật toán: Dockerfile của TA có pandas&lt;2.1 không đặt trong nháy nên shell hiểu dấu &lt; là chuyển hướng file, và docker-compose còn đường dẫn mẫu chưa điền cùng khối GPU mà máy em không có. Em sửa ba chỗ và lưu bản đã sửa trong thư mục docker/ của repo để người khác chạy lại được.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Tải dữ liệu qua API bị Kaggle giới hạn tốc độ, nên em tải zip trên trình duyệt rồi kiểm tra lại số file, dung lượng và mã CRC với danh sách của Kaggle. Bài học nhỏ: với dữ liệu lớn nên chọn cách tải đơn giản nhất ngay từ đầu.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lỗi lớn nhất của code mẫu. Em đo độ cao mặt đường trong point cloud LoGeR thì chỉ 0,18 đơn vị, trong khi camera thật cao khoảng 1,6 m, nghĩa là phải nhân khoảng 9 chứ không phải 3. Với tỉ lệ 3, cả khung cảnh co lại trong bán kính 13 m, NDT không có vị trí đúng để tìm nên bám vào cấu trúc gần nhất, và vì mỗi frame bắt đầu từ kết quả frame trước, sai số cứ thế cộng dồn lên hơn 100 m. Sửa tỉ lệ xong, độ sửa yaw của NDT giảm từ ±47 độ xuống ±2 độ.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bài học về thước đo: lần đầu em chọn tỉ lệ có khoảng cách trung bình tới bản đồ nhỏ nhất, và nó chỉ ra tỉ lệ 1 – sai, vì point cloud càng nhỏ thì càng dồn sát mặt đường nên luôn "gần" bản đồ. Em đổi sang xem độ lệch yaw tốt nhất có nhất quán giữa các frame không: ở tỉ lệ 9 hầu hết frame chỉ cần quay dưới 6 độ, ở tỉ lệ 3 phải quay 24–30 độ. Từ đó em luôn kiểm tra xem thước đo có thiên vị không.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sửa tỉ lệ, độ phân giải ô NDT 8 m của code mẫu lại quá thô cho một point cloud chỉ phủ khoảng 27 m. Giảm xuống 4 m thì độ sửa trung vị từ 1,55 m còn 0,23 m và 92 % frame dưới 1 m – NDT đã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NDT ổn định chưa có nghĩa là chính xác. Ghép độ sửa của NDT vào GNSS làm điểm xấu đi ở cả hai track, nghĩa là khoảng 0,2–0,5 m mà NDT "sửa" chính là sai số của NDT. Em thử point cloud ba camera: ở tỉ lệ 1,0 (tin MapAnything) vẫn xấu đi, nhưng ở tỉ lệ 0,8 – ứng với camera cao 1,65 m, khớp với tỉ lệ 9 của LoGeR – thì lần đầu tiên khớp quét sửa được lỗi vị trí của GNSS.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thử chạy NDT chỉ bằng ảnh như yêu cầu gốc của đề, 150 frame đầu: sai số tăng đều tới 9 m. Hai lý do: không có mô hình chuyển động – frame nào cũng bắt đầu từ vị trí cũ trong khi xe đã đi tiếp – và hướng ban đầu của Track02 lệch 15 độ mà NDT không tự sửa được. Hai chẩn đoán này về sau thành thiết kế của bộ bám Track03: có dự đoán chuyển động và có nhiều giả thuyết yaw lúc khởi đầu.</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đầu em nộp nhầm file Track01 vào Track02 và mất một lượt. Sau đó mọi lần nộp đều qua bước kiểm tra của bot, trong đó có kiểm tra khoảng cách tới một quỹ đạo tham chiếu của đúng track – nên nộp nhầm track sẽ bị từ chối trước khi lên Kaggle.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dữ liệu cho thấy yaw của topic GNSS không phải phép đo độc lập: nó là hướng dịch chuyển của vị trí GNSS trong 1 giây, cập nhật mỗi 1,25 giây kiểu bậc thang, nên trễ hơn 1 giây và đứng im khi xe dừng – ở Track02 nó giữ −15,2 độ suốt 13 giây đầu trong khi yaw thật khoảng −19,8 độ. Em dựng lại yaw lúc đứng yên bằng gyro, và Track02 tốt lên 0,01.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giả thuyết đẹp nhưng sai: em bù độ trễ cho yaw GNSS, đúng về vật lý, nhưng điểm lại xấu đi ở cả hai track. Từ đó suy ra yaw của đáp án là yaw thân xe chứ không phải hướng chuyển động. Em làm bộ lọc bù: gyro lo phần thay đổi nhanh, hướng chạy giữ phần trung bình. Yaw Track01 giảm từ 1,56 xuống 0,87 độ – bước tiến lớn nhất của ngày 19/10. Hằng số τ, trục gyro và việc bỏ hiệu chỉnh trượt được chọn theo điểm Kaggle; em ghi rõ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thử lặp GICP nhiều lượt: lượt 2 tốt hơn, nhưng lượt 5 xấu hẳn dù mỗi lượt vẫn kéo cùng một hướng. Chẩn đoán trên vài frame: mặt đường khớp tốt nhưng phần nhà cửa, cây cối thì không, vì point cloud ảnh bị méo – nên cực tiểu của GICP nằm lệch khỏi vị trí thật. Đi một phần đường về phía nó thì có lợi, đi hết thì có hại. Em dừng ở 2 lượt.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GICP lệch cố định khoảng 17 cm dọc và 14 cm ngang so với GNSS. Các lượt thăm dò cho thấy GNSS không lệch ngang và không lệch thời gian, nên độ lệch này thuộc về phép khớp ảnh. Cách xử lý giống bộ lọc bù: GNSS giữ phần trung bình, GICP chỉ đóng góp phần dao động cục bộ. Điểm giảm đúng như dự đoán, xuống 0,928.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thứ không dùng được: yaw từ GICP làm yaw kém đi, và ở Track02 mọi phép khớp đều kéo vị trí ra xa đáp án, vì GNSS Track02 chỉ sai khoảng 0,2 m – nhỏ hơn sai số có hệ thống khoảng 1 m của phép khớp ảnh. Vì vậy Track02 không dùng GICP cho vị trí.</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tổng hợp chỉ ra lỗi tăng theo khoảng cách, nên em quét tầm point cloud. Cắt ở 20 m cho nhiều frame hợp lệ nhất và nhiễu thấp nhất, nhanh hơn 2,5 lần. Trên Kaggle Track01 giảm từ 0,80 xuống 0,63 – mạnh hơn cả kịch bản tốt nhất em dự đoán.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20/10 em hỏi TA và TA trả lời rằng nộp có hệ thống các nhiễu loạn để suy ra lỗi của đáp án là leaderboard fitting, không được làm cơ sở cho bài chấm. Em dừng ngay, phân loại lại toàn bộ file đã nộp, và dựng lại pipeline sạch từ đầu bằng một lệnh. Sau đó ngày 23/10, TA cho biết Track01/02 chấm theo public nên được dò – em sẽ nói ở phần 5 – nhưng pipeline sạch vẫn được giữ và báo cáo riêng.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rà lại nguồn gốc, em thấy file "thuần thuật toán" tốt nhất thật ra được khởi tạo từ một yaw chọn theo điểm, và z, roll, pitch lấy từ một lượt NDT cũ cũng có nguồn gốc như vậy. Em thay bằng mặt đường của bản đồ cộng ba hằng số hiệu chuẩn; vị trí cuối chỉ đổi 6 cm và điểm giữ nguyên – nghĩa là pipeline sạch hơn mà không mất điểm.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lỗi cấu hình: lượt GICP đầu tiên của Track02 lấy nhầm độ cao z của Track01, lệch gần 100 m. Em thêm kiểm tra đầu vào để chương trình dừng ngay và báo lỗi rõ ràng, thay vì chạy ra kết quả sai mà không ai biết.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thử một bộ ghép "thông minh" hơn, đặt trọng số theo Hessian của GICP, nhưng điểm kém đi. Phân tích cho thấy Hessian đúng xu hướng trung bình nhưng không dự báo được nhiễu từng frame, và phần lỗi còn lại là độ lệch có hệ thống kéo dài theo thời gian – loại lỗi mà bộ lọc Kalman với giả định nhiễu độc lập không khử được. Kết luận: sửa đầu vào chứ không sửa bộ lọc.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dò bảng điểm ở Track01/02, phép giải tổ hợp bị suy biến: nhiều hướng gần trùng nhau cộng với điểm bị cắt còn 2 chữ số làm hệ số bùng nổ, dự đoán 0,33 mà ra 0,42. Em thêm chính quy hoá ridge và loại nghiệm có hệ số quá lớn. Em nói rõ: đây là kỹ thuật dò, các trọng số không có ý nghĩa vật lý.</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lỗi em tự phát hiện khi đọc lại code: giai đoạn khởi đầu chạy nhiều giả thuyết yaw, chọn giả thuyết thắng ở khoảng frame 60–80 rồi ghi lại quỹ đạo quá khứ của nó – tức là frame 10 dùng thông tin của frame 70, vi phạm luật nhân quả. Em sửa để mỗi frame chỉ xuất giả thuyết tốt nhất tại chính frame đó. Điểm public lùi từ 0,77 về 0,96, nhưng đó mới là điểm hợp lệ, và em phải tự chọn tay file nhân quả làm bài chấm vì Kaggle mặc định chọn theo public.</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Lỗi thứ hai trong bộ bám cũ: khi tích phân gyro, đoạn từ mẫu IMU cuối cùng tới thời điểm frame bị bỏ, nên mỗi khúc cua chỉ quay được 86 %. Một khúc cua 90 độ thành 77 độ, sau cua yaw lệch 12 độ và quỹ đạo chạy song song với đường nhưng cách 20 m. Phần lớn ảnh hưởng nằm ở phần private, nên điểm public không phản ánh.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đáp án, em dùng ba bằng chứng độc lập: đồ thị độ khớp bản đồ theo phương dọc, tích phân gia tốc kế ngược từ chỗ dừng, và hình học – sau khi rẽ trái quỹ đạo nằm ở vùng không có đường. Cả ba nói bộ bám đi xa hơn thật gần 30 m trước chỗ dừng đèn đỏ. Nguyên nhân là odometry từ point cloud LoGeR rất thất thường. Em thêm khớp lưới tương quan CSM, nhìn được vị trí đúng cách xa 15 m, và tỉ lệ frame được chấp nhận tăng từ 69 % lên 98 %.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dấu hiệu thiếu ổn định: đổi một tham số nhỏ là bộ bám lạc. Đọc chẩn đoán từng frame thì thấy GICP mỗi lần hội tụ trước dự đoán khoảng 1 m mà vẫn qua cổng, cộng dồn thành 11 m. Em cho GICP chỉ được tin theo phương ngang, còn phương dọc để CSM lo. Sau đó mọi biến thể đều bám và khớp nhau trong ±0,5 m – đây là tiêu chí "ổn định" em dùng cho Track03.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Hiệu chuẩn tay đòn camera trên Track01/02 rồi đem sang Track03 làm điểm xấu đi. Em không chỉnh theo bảng điểm mà tìm nguyên nhân vật lý: point cloud LoGeR dài hơn thật 10 % ở Track01/02 nhưng chỉ 5–7 % ở Track03, nên "tay đòn" −1 m thực chất là hệ quả của sai tỉ lệ. Đặt tay đòn theo sai tỉ lệ đo trên chính Track03 thì điểm về 0,84.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IMU được lắp nghiêng khoảng 6 độ, nên gyro trục z không đo đúng tốc độ quay quanh phương thẳng đứng. Em chiếu véc-tơ gyro lên phương trọng lực. Lần đầu em ước lượng trọng lực bằng trung bình gia tốc kế – nhân quả – nhưng xe vừa tăng tốc vừa rẽ ngay từ đầu nên ước lượng lệch 8 độ. Dùng một hướng trọng lực cố định đã hiệu chuẩn lúc xe đứng yên thì yaw đúng hơn, điểm 0,80.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xe đứng yên, mọi frame nhìn cùng một khung cảnh nên có chung một sai số; cập nhật hàng trăm lần một phép đo sai sẽ kéo vị trí đi rất xa. Em khoá vị trí và yaw khi xe đứng yên. Điều này quan trọng vì lần dừng đèn đỏ chiếm 44 % số frame private của Track03.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xe chạy lại sau đèn đỏ, vị trí bị trễ 4 m. Có hai lỗi: số đọc odometry hỏng trông "chính xác" vì nhiễu đặt tỉ lệ với số đọc, kéo tốc độ về 0; và bộ phát hiện đứng yên nhầm lúc xe tăng tốc đều là đứng yên, vì khi tăng tốc đều độ lệch chuẩn gia tốc cũng nhỏ. Em sửa cả hai. Sai số dọc ở đoạn chạy lại giảm từ 2,5 m xuống 0,7 m. Điểm public không đổi vì đoạn này nằm trong phần private – em ước tính lợi 0,13–0,21 điểm private.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Đến tối 23/10 em thấy bộ bám đã chạm giới hạn: dù chỉnh nhiễu thế nào, sai số vẫn khoảng 1 m, vì đó là giới hạn hình học của point cloud LoGeR. Muốn tốt hơn phải có nguồn thông tin mới. Bản đồ LiDAR lưu cường độ phản xạ, trong đó vạch sơn hiện rất rõ và chính xác tới vài cm; rosbag lại có video của ba camera. Em giải mã video, chiếu mặt đường của bản đồ vào ảnh fisheye và so vạch sơn hai bên. Điểm public giảm từ 0,80 xuống 0,49 ngay lần đầu.</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bài học với GICP lúc đứng yên: khi xe dừng, camera chụp đi chụp lại cùng một khung cảnh, nên phải coi đó là một phép đo. Em cho trọng số của phép đo vạch sơn tỉ lệ với quãng đường xe đã đi, và đặt một sàn cho độ lệch chuẩn vì các frame liên tiếp có chung sai số.</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lần đầu, em chỉnh từng tham số một và nộp từng file một – TA cho phép chỉnh tham số Track03 theo điểm public. Tay đòn ngang tốt nhất quanh 0, tay đòn dọc +0,15 m, trọng số κ càng lớn càng tốt tới 80. Yaw lấy từ vạch sơn lại kém yaw của bộ bám, nên giữ yaw bộ bám. Chạy nhiều lượt hay tìm kiếm trực tuyến không có lợi hoặc bị lạc ở khúc cua.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Camera trước chỉ nhìn 5–18 m phía trước. Em thêm hai camera trước-trái và trước-phải, dùng thông số ngoại của chúng để chiếu phần mặt đường ngay cạnh xe, và cho chúng một khối tương quan riêng với trọng số bằng một nửa camera trước. Điểm còn 0,33. Lặp nhiều lượt với camera bên thì bị trôi, nên chỉ chạy một lượt.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tốc độ suy ra từ quỹ đạo thì thấy nó nhảy từ 0 đến 29 m/s, trong khi xe chạy đều khoảng 9,5 m/s – chắc chắn là sai số. Lý do: vạch làn song song với hướng đi nên chốt rất chắc vị trí ngang, còn vị trí dọc chỉ được chốt khi gặp vạch đứt, vạch dừng, vạch sang đường; ở giữa, vị trí dọc nhảy theo bộ bám. Em cho vị trí dọc đi theo tốc độ IMU nhân một hệ số tỉ lệ mà bộ lọc tự học. Điểm còn 0,28 và độ rung dọc ở phần private giảm một nửa.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Phiên bản đầu không có điều kiện thì lệch 1 m khi xe bò chậm vào cua, và lúc đứng yên bị kéo lệch. Em chỉ dùng IMU khi xe chạy từ 4 m/s trở lên và gần như thẳng; còn lại giữ nguyên cách cũ. Nhờ vậy đoạn đứng yên và yaw trùng từng byte với bản trước – chỉ phần chạy thẳng đổi.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cuối track xe phanh rồi dừng ở chỗ không có vạch nào chốt vị trí dọc. Bộ lọc cộng dồn một độ dốc rất nhỏ của tương quan và trượt lùi 1,57 m, trong khi camera trước và camera bên còn dốc ngược chiều nhau. Hai nguồn độc lập – tích phân IMU với hệ số tỉ lệ đã học, và bộ bám – đều nói không lùi xa vậy. Em cho chế độ IMU tiếp tục khi xe giảm tốc nếu hệ số tỉ lệ đã được học kỹ. File Q4 giống hệt Q2 ở phần public nên điểm public không đổi; nó chỉ sửa phần private, và là bài em chọn làm bài chấm cuối.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21/10 Kaggle chỉ hiện 2 chữ số và cắt bớt, nên những khác biệt nhỏ hơn 0,01 không còn thấy được. Em dựng thêm thước đo không cần đáp án: ví dụ, chạy bộ lọc chỉ với camera trước rồi xem camera bên – thứ chưa được dùng – khớp tốt đến đâu. Thước đo này tương quan tốt với điểm public nhưng chỉ phân biệt được chênh lệch từ khoảng 0,05.</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vấn đề còn mở: 14 frame đầu không có ảnh camera trước vì luồng video bắt đầu giữa một nhóm ảnh nén, và xe đang vào một khúc cua nhẹ nên chế độ IMU chưa bật. Em đã có bản sửa nhưng lợi ích dự kiến nhỏ hơn 0,01 nên chưa nộp.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danh sách những hướng đã thử và bỏ, mỗi hướng một dòng kèm số liệu. Em giữ lại để cho thấy các quyết định đều dựa trên thí nghiệm, kể cả những thí nghiệm thất bại.</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Track01/02, chiến thuật là lấy GNSS làm khung, vì riêng GNSS đã tốt hơn baseline của TA. Hai track này chấm theo điểm public của cả quỹ đạo, nên em chỉnh tham số theo điểm public – TA gọi đây là chỉnh tham số bình thường – mỗi lần nộp chỉ đổi một tham số. Em liệt kê đầy đủ những hằng số đã chọn theo điểm để người chấm biết phần nào là thuật toán, phần nào là chỉnh theo bảng điểm. Pipeline cuối được 0,51 và 0,24.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Track01/02 em có dùng bảng điểm như một phép đo, và TA cho phép ở hai track này. Ý tưởng: điểm là một RMSE, nên khi cộng một thay đổi đã biết vào file rồi đọc điểm mới, em đo được đúng một con số – hình chiếu của sai số ẩn lên thay đổi đó. Một cặp dời ±L tách được phần lỗi vị trí và phần lỗi yaw; ba cặp độc lập khớp nhau tới 0,0014. Ghép nhiều phép đo lại thì giải được tổ hợp tối ưu. Điều em muốn nhấn mạnh là những gì phép đo này dạy cho thuật toán: yaw là lỗi lớn hơn, yaw của đáp án là yaw thân xe, GNSS không lệch ngang – và từ đó em sửa pipeline thật. Còn các file dò thì không phải thuật toán: trọng số không có ý nghĩa vật lý và không dùng được cho dữ liệu mới.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muốn trình bày rõ điểm này: pipeline Track01/02 dùng bộ làm mượt RTS, tức là có dùng frame tương lai, và các file xếp hạng 1 là file dò bảng điểm. Văn bản luật ngày 22/10 có câu cấm leaderboard fitting và yêu cầu định vị nhân quả; em đã hỏi TA trên lớp ngày 23/10 và được trả lời rằng Track01/02 chấm theo public nên được dò, còn Track03 phải tuyệt đối nhân quả. Em cũng đã viết một phiên bản nhân quả cho Track01/02 nhưng chưa nộp.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Track03 được chấm ở phần private, mà phần public chỉ là 13 % đầu – một đoạn đường thẳng. Phần private gồm lần đứng đèn đỏ chiếm gần một nửa, đoạn chạy lại và rẽ trái, và chỗ dừng cuối. Điểm public lại rất nhạy với giai đoạn khởi đầu, nên nếu chỉ chạy theo điểm public em sẽ tối ưu nhầm chỗ. Vì vậy nhiều thay đổi của em nhắm vào phần private và được đánh giá bằng bằng chứng vật lý: tích phân gia tốc kế, độ khớp bản đồ, tính nhất quán động học qua khúc cua, và so camera trước với camera bên.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Tiêu chí ổn định của em cho Track03: chạy lại luôn ra cùng một file, đổi tham số nhỏ thì quỹ đạo chỉ đổi trong ±0,5 m, và mọi thuật toán đều được thử trên Track01/02 – nơi có GNSS làm đáp án – bằng cách chạy như không có GNSS. Hiệu chuẩn camera dùng chung cho cả ba track vì cùng một xe. Khi thêm một tầng mới, em cố ý để nó chỉ đổi những frame mà nó đáng tin, còn lại trùng từng byte với phiên bản trước.</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không bị quá khớp phần public, em chỉ chỉnh theo điểm public những hằng số áp dụng cho mọi frame – như trọng số và tay đòn camera – vì chúng cũng có tác dụng ở đoạn đứng đèn đỏ. Những thay đổi chỉ ảnh hưởng giai đoạn khởi đầu thì em không nộp. Bài chấm cuối là Q4: điểm public bằng bản Q2 nhưng sửa được lỗi trượt ở cuối track. Kaggle chỉ tính private cho bài được chọn, nên em phải chọn tay. Ước tính của em cho phần private là khoảng 0,3–0,4, nhưng đó là suy luận, không phải phép đo.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Track03 tuân thủ luật nhân quả: hàng k chỉ dùng dữ liệu tới frame k, không làm mượt ngược. Bản đồ được cắt theo hành lang chỉ để đọc nhanh, và frame k chỉ đọc phần bản đồ quanh vị trí prior của chính nó. Toàn bộ chuỗi chạy bằng một script từ rosbag gốc, và chạy lại từ bộ đệm trống ra đúng từng byte. Không có file nào bị sửa tay.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điểm: so với baseline của TA, pipeline thuật toán của em giảm Track01 từ 1,79 xuống 0,51, Track02 từ 1,93 xuống 0,24, và Track03 – không có GNSS – đạt 0,28 ở phần public. Có dò bảng điểm thì Track01/02 được 0,36 và 0,11, hạng nhất. Điểm private của Track03 sẽ chỉ biết sau khi cuộc thi đóng.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quỹ đạo cuối của ba track đặt lên bản đồ LiDAR. Ở Track01/02, đường pipeline và đường dò gần như trùng nhau ở tỉ lệ này – khác biệt chỉ vài chục cm. Ở Track03, quỹ đạo nằm đúng trên đường suốt chặng, qua khúc rẽ trái tới chỗ dừng cuối, dù không có GNSS.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ablation cho Track01/02: mỗi dòng là một thay đổi, đo bằng một lượt nộp. Thành phần đáng giá nhất ở Track01 là GICP với tỉ lệ theo mặt đường, yaw từ gyro, và cắt tầm 20 m. Ở Track02, GNSS đã rất tốt nên khớp quét làm xấu đi; phần cải thiện đến từ bộ lọc Kalman và yaw gyro.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Ablation cho Track03: bỏ từng tầng thì điểm public tăng thế nào. Bỏ chuyển động IMU: 0,33; bỏ camera bên: 0,37; bỏ toàn bộ khớp vạch sơn: 0,80. Một số thành phần quan trọng không thấy trên điểm public vì chúng nằm ở phần private – em đưa kèm số liệu offline: tỉ lệ frame được chấp nhận tăng từ 69 lên 98 %, sai số lúc chạy lại giảm từ 2,5 m xuống 0,7 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[CẦN ĐIỀN – nên tự viết lời của mình] Gợi ý: nói rõ đội một người, em quyết định hướng đi và duyệt mọi lần nộp, liên hệ TA; trợ lý AI viết và chạy code theo chỉ dẫn; toàn bộ quá trình có nhật ký trong repo để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Những bài học chính: luôn kiểm tra đơn vị và hệ trục trước khi chạy lâu; kiểm tra thước đo có thiên vị không; hiểu rằng giới hạn nằm ở dữ liệu đầu vào chứ không ở thuật toán khớp; một giả thuyết đúng về vật lý vẫn có thể sai với đáp án; các frame của cùng một khung cảnh chỉ là một phép đo; tự đọc lại code để kiểm tra tính nhân quả; và ghi chép đầy đủ để mọi kết quả tái tạo được.</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Hướng tiếp theo: dùng cấu trúc 3D của bản đồ như cột, mép lề, tường để chốt vị trí dọc ở những chỗ không có vạch sơn – nhất là chỗ dừng cuối của Track03. Ngoài ra là sửa giai đoạn khởi đầu Track03, đánh giá phiên bản nhân quả của Track01/02, và mô hình sai độ sâu theo khoảng cách cho point cloud LoGeR.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*Track03 có dùng frame tương lai không?* – Không; hàng k chỉ dùng dữ liệu ≤ k; lỗi MHT ghi ngược đã sửa ngày 23/10 (slide 4.20). - *Vì sao được dò ở Track01/02?* – TA trả lời trên lớp 23/10; pipeline sạch vẫn báo cáo riêng (slide 5.3). [CẦN ĐIỀN: bằng chứng] - *Vì sao không dùng NDT?* – Ổn định sau khi sửa tỉ lệ nhưng kém GNSS; GICP nhanh hơn ~200× và chính xác hơn (slide 2.5, 4.6). - *Baseline 1.79 của TA được tạo thế nào?* – Không phải cấu hình mặc định (chạy mặc định ra 602.39) [CẦN ĐIỀN: câu trả lời của TA cho câu hỏi ở nk 10 T10]. - *Điểm private Track03?* – Chưa biết; ước tính 0,3–0,4 (slide 5.6).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0.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26.png"/><Relationship Id="rId4"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2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42E"/>
        </a:solidFill>
        <a:effectLst/>
      </p:bgPr>
    </p:bg>
    <p:spTree>
      <p:nvGrpSpPr>
        <p:cNvPr id="1" name=""/>
        <p:cNvGrpSpPr/>
        <p:nvPr/>
      </p:nvGrpSpPr>
      <p:grpSpPr/>
      <p:sp>
        <p:nvSpPr>
          <p:cNvPr id="2" name="TextBox 1"/>
          <p:cNvSpPr txBox="1"/>
          <p:nvPr/>
        </p:nvSpPr>
        <p:spPr>
          <a:xfrm>
            <a:off x="731520" y="1280160"/>
            <a:ext cx="6766560" cy="1463040"/>
          </a:xfrm>
          <a:prstGeom prst="rect">
            <a:avLst/>
          </a:prstGeom>
          <a:noFill/>
        </p:spPr>
        <p:txBody>
          <a:bodyPr wrap="square" anchor="t" lIns="0" rIns="0" tIns="0" bIns="0">
            <a:spAutoFit/>
          </a:bodyPr>
          <a:lstStyle/>
          <a:p>
            <a:pPr algn="l">
              <a:spcAft>
                <a:spcPts val="600"/>
              </a:spcAft>
            </a:pPr>
            <a:r>
              <a:rPr sz="3600" b="1">
                <a:solidFill>
                  <a:srgbClr val="FFFFFF"/>
                </a:solidFill>
                <a:latin typeface="Cambria"/>
              </a:rPr>
              <a:t>Định vị xe trên bản đồ LiDAR</a:t>
            </a:r>
          </a:p>
        </p:txBody>
      </p:sp>
      <p:sp>
        <p:nvSpPr>
          <p:cNvPr id="3" name="TextBox 2"/>
          <p:cNvSpPr txBox="1"/>
          <p:nvPr/>
        </p:nvSpPr>
        <p:spPr>
          <a:xfrm>
            <a:off x="731520" y="2880360"/>
            <a:ext cx="6766560" cy="914400"/>
          </a:xfrm>
          <a:prstGeom prst="rect">
            <a:avLst/>
          </a:prstGeom>
          <a:noFill/>
        </p:spPr>
        <p:txBody>
          <a:bodyPr wrap="square" anchor="t" lIns="0" rIns="0" tIns="0" bIns="0">
            <a:spAutoFit/>
          </a:bodyPr>
          <a:lstStyle/>
          <a:p>
            <a:pPr algn="l">
              <a:spcAft>
                <a:spcPts val="600"/>
              </a:spcAft>
            </a:pPr>
            <a:r>
              <a:rPr sz="1800" b="0">
                <a:solidFill>
                  <a:srgbClr val="B9D9DE"/>
                </a:solidFill>
                <a:latin typeface="Calibri"/>
              </a:rPr>
              <a:t>Point cloud dựng từ ảnh, vạch sơn mặt đường và IMU – Track01, Track02 và Track03 không có GNSS</a:t>
            </a:r>
          </a:p>
        </p:txBody>
      </p:sp>
      <p:sp>
        <p:nvSpPr>
          <p:cNvPr id="4" name="TextBox 3"/>
          <p:cNvSpPr txBox="1"/>
          <p:nvPr/>
        </p:nvSpPr>
        <p:spPr>
          <a:xfrm>
            <a:off x="731520" y="4206240"/>
            <a:ext cx="6766560" cy="2011680"/>
          </a:xfrm>
          <a:prstGeom prst="rect">
            <a:avLst/>
          </a:prstGeom>
          <a:noFill/>
        </p:spPr>
        <p:txBody>
          <a:bodyPr wrap="square" anchor="t" lIns="0" rIns="0" tIns="0" bIns="0">
            <a:spAutoFit/>
          </a:bodyPr>
          <a:lstStyle/>
          <a:p>
            <a:pPr algn="l">
              <a:spcAft>
                <a:spcPts val="600"/>
              </a:spcAft>
            </a:pPr>
            <a:r>
              <a:rPr sz="1500" b="1">
                <a:solidFill>
                  <a:srgbClr val="E89B2B"/>
                </a:solidFill>
                <a:latin typeface="Calibri"/>
              </a:rPr>
              <a:t>SDC 2026 · Midterm01 · Đội 11 · [CẦN ĐIỀN: họ tên] · MSSV 114550202</a:t>
            </a:r>
          </a:p>
          <a:p>
            <a:pPr algn="l">
              <a:spcAft>
                <a:spcPts val="600"/>
              </a:spcAft>
            </a:pPr>
            <a:r>
              <a:rPr sz="1500" b="1">
                <a:solidFill>
                  <a:srgbClr val="E89B2B"/>
                </a:solidFill>
                <a:latin typeface="Calibri"/>
              </a:rPr>
              <a:t>Làm một mình, có trợ lý lập trình AI (Claude Code)</a:t>
            </a:r>
          </a:p>
          <a:p>
            <a:pPr algn="l">
              <a:spcAft>
                <a:spcPts val="600"/>
              </a:spcAft>
            </a:pPr>
            <a:r>
              <a:rPr sz="1500" b="1">
                <a:solidFill>
                  <a:srgbClr val="E89B2B"/>
                </a:solidFill>
                <a:latin typeface="Calibri"/>
              </a:rPr>
              <a:t>Bảng điểm public 25/10: Track01 hạng 1 (0.36) · Track02 hạng 1 (0.11) · Track03 hạng 2 (0.28)</a:t>
            </a:r>
          </a:p>
        </p:txBody>
      </p:sp>
      <p:pic>
        <p:nvPicPr>
          <p:cNvPr id="5" name="Picture 4" descr="trajectory_on_map_t3.png"/>
          <p:cNvPicPr>
            <a:picLocks noChangeAspect="1"/>
          </p:cNvPicPr>
          <p:nvPr/>
        </p:nvPicPr>
        <p:blipFill>
          <a:blip r:embed="rId2"/>
          <a:stretch>
            <a:fillRect/>
          </a:stretch>
        </p:blipFill>
        <p:spPr>
          <a:xfrm>
            <a:off x="7772400" y="2464429"/>
            <a:ext cx="4023360" cy="2020581"/>
          </a:xfrm>
          <a:prstGeom prst="rect">
            <a:avLst/>
          </a:prstGeom>
        </p:spPr>
      </p:pic>
      <p:sp>
        <p:nvSpPr>
          <p:cNvPr id="6" name="TextBox 5"/>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7" name="TextBox 6"/>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1 – Mở đầu · slide 1.2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Bài toán: mỗi frame camera một pose (x, y, yaw)</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a:t>
            </a:r>
          </a:p>
        </p:txBody>
      </p:sp>
      <p:sp>
        <p:nvSpPr>
          <p:cNvPr id="6" name="TextBox 5"/>
          <p:cNvSpPr txBox="1"/>
          <p:nvPr/>
        </p:nvSpPr>
        <p:spPr>
          <a:xfrm>
            <a:off x="502920" y="1325880"/>
            <a:ext cx="11155680" cy="173736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1">
                <a:solidFill>
                  <a:srgbClr val="14242E"/>
                </a:solidFill>
                <a:latin typeface="Calibri"/>
              </a:rPr>
              <a:t>Đầu vào:</a:t>
            </a:r>
            <a:r>
              <a:rPr sz="1500" b="0">
                <a:solidFill>
                  <a:srgbClr val="1E2A32"/>
                </a:solidFill>
                <a:latin typeface="Calibri"/>
              </a:rPr>
              <a:t> point cloud dựng từ ảnh mỗi frame (raw_ply / 3cameras_ply), bản đồ LiDAR map.pcd (x y z cường độ), init_guess.txt (pose đầu có nhiễu), rosbag: IMU 100 Hz, 3 luồng video h265, GNSS (chỉ Track01/02)</a:t>
            </a:r>
          </a:p>
          <a:p>
            <a:pPr algn="l">
              <a:spcAft>
                <a:spcPts val="800"/>
              </a:spcAft>
            </a:pPr>
            <a:r>
              <a:rPr sz="1500" b="1">
                <a:solidFill>
                  <a:srgbClr val="137C8B"/>
                </a:solidFill>
                <a:latin typeface="Calibri"/>
              </a:rPr>
              <a:t>• </a:t>
            </a:r>
            <a:r>
              <a:rPr sz="1500" b="1">
                <a:solidFill>
                  <a:srgbClr val="14242E"/>
                </a:solidFill>
                <a:latin typeface="Calibri"/>
              </a:rPr>
              <a:t>Đầu ra:</a:t>
            </a:r>
            <a:r>
              <a:rPr sz="1500" b="0">
                <a:solidFill>
                  <a:srgbClr val="1E2A32"/>
                </a:solidFill>
                <a:latin typeface="Calibri"/>
              </a:rPr>
              <a:t> CSV idx, x, y, yaw (radian). </a:t>
            </a:r>
            <a:r>
              <a:rPr sz="1500" b="1">
                <a:solidFill>
                  <a:srgbClr val="14242E"/>
                </a:solidFill>
                <a:latin typeface="Calibri"/>
              </a:rPr>
              <a:t>Điểm:</a:t>
            </a:r>
            <a:r>
              <a:rPr sz="1500" b="0">
                <a:solidFill>
                  <a:srgbClr val="1E2A32"/>
                </a:solidFill>
                <a:latin typeface="Calibri"/>
              </a:rPr>
              <a:t> E = RMSE(Δp) + 0.2·RMSE(Δθ) → sai 1° yaw = sai 0.2 m vị trí</a:t>
            </a:r>
          </a:p>
          <a:p>
            <a:pPr algn="l">
              <a:spcAft>
                <a:spcPts val="800"/>
              </a:spcAft>
            </a:pPr>
            <a:r>
              <a:rPr sz="1500" b="1">
                <a:solidFill>
                  <a:srgbClr val="137C8B"/>
                </a:solidFill>
                <a:latin typeface="Calibri"/>
              </a:rPr>
              <a:t>• </a:t>
            </a:r>
            <a:r>
              <a:rPr sz="1500" b="1">
                <a:solidFill>
                  <a:srgbClr val="14242E"/>
                </a:solidFill>
                <a:latin typeface="Calibri"/>
              </a:rPr>
              <a:t>Luật 10/22 cho Track03:</a:t>
            </a:r>
            <a:r>
              <a:rPr sz="1500" b="0">
                <a:solidFill>
                  <a:srgbClr val="1E2A32"/>
                </a:solidFill>
                <a:latin typeface="Calibri"/>
              </a:rPr>
              <a:t> chỉ dùng frame hiện tại và quá khứ, không làm mượt ngược, TA chạy lại code</a:t>
            </a:r>
          </a:p>
        </p:txBody>
      </p:sp>
      <p:pic>
        <p:nvPicPr>
          <p:cNvPr id="7" name="Picture 6" descr="x01_t1_cameras.png"/>
          <p:cNvPicPr>
            <a:picLocks noChangeAspect="1"/>
          </p:cNvPicPr>
          <p:nvPr/>
        </p:nvPicPr>
        <p:blipFill>
          <a:blip r:embed="rId3"/>
          <a:stretch>
            <a:fillRect/>
          </a:stretch>
        </p:blipFill>
        <p:spPr>
          <a:xfrm>
            <a:off x="502920" y="3517656"/>
            <a:ext cx="11155679" cy="242872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1 – Mở đầu · slide 1.3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Hai loại point cloud từ ảnh – không cái nào đúng đơn vị mét</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a:t>
            </a:r>
          </a:p>
        </p:txBody>
      </p:sp>
      <p:sp>
        <p:nvSpPr>
          <p:cNvPr id="6" name="TextBox 5"/>
          <p:cNvSpPr txBox="1"/>
          <p:nvPr/>
        </p:nvSpPr>
        <p:spPr>
          <a:xfrm>
            <a:off x="502920" y="1325880"/>
            <a:ext cx="11155680" cy="137160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1">
                <a:solidFill>
                  <a:srgbClr val="14242E"/>
                </a:solidFill>
                <a:latin typeface="Calibri"/>
              </a:rPr>
              <a:t>raw_ply (LoGeR, 1 camera):</a:t>
            </a:r>
            <a:r>
              <a:rPr sz="1600" b="0">
                <a:solidFill>
                  <a:srgbClr val="1E2A32"/>
                </a:solidFill>
                <a:latin typeface="Calibri"/>
              </a:rPr>
              <a:t> 20–41 nghìn điểm/frame, mặt đường chỉ 0.18 đơn vị dưới camera → phải nhân ≈ 9</a:t>
            </a:r>
          </a:p>
          <a:p>
            <a:pPr algn="l">
              <a:spcAft>
                <a:spcPts val="800"/>
              </a:spcAft>
            </a:pPr>
            <a:r>
              <a:rPr sz="1600" b="1">
                <a:solidFill>
                  <a:srgbClr val="137C8B"/>
                </a:solidFill>
                <a:latin typeface="Calibri"/>
              </a:rPr>
              <a:t>• </a:t>
            </a:r>
            <a:r>
              <a:rPr sz="1600" b="1">
                <a:solidFill>
                  <a:srgbClr val="14242E"/>
                </a:solidFill>
                <a:latin typeface="Calibri"/>
              </a:rPr>
              <a:t>3cameras_ply (MapAnything, 3 camera):</a:t>
            </a:r>
            <a:r>
              <a:rPr sz="1600" b="0">
                <a:solidFill>
                  <a:srgbClr val="1E2A32"/>
                </a:solidFill>
                <a:latin typeface="Calibri"/>
              </a:rPr>
              <a:t> ~330 nghìn điểm, gần đúng mét (×0.8) – </a:t>
            </a:r>
            <a:r>
              <a:rPr sz="1600" b="1">
                <a:solidFill>
                  <a:srgbClr val="14242E"/>
                </a:solidFill>
                <a:latin typeface="Calibri"/>
              </a:rPr>
              <a:t>Track03 không có loại này</a:t>
            </a:r>
          </a:p>
          <a:p>
            <a:pPr algn="l">
              <a:spcAft>
                <a:spcPts val="800"/>
              </a:spcAft>
            </a:pPr>
            <a:r>
              <a:rPr sz="1600" b="1">
                <a:solidFill>
                  <a:srgbClr val="137C8B"/>
                </a:solidFill>
                <a:latin typeface="Calibri"/>
              </a:rPr>
              <a:t>• </a:t>
            </a:r>
            <a:r>
              <a:rPr sz="1600" b="0">
                <a:solidFill>
                  <a:srgbClr val="1E2A32"/>
                </a:solidFill>
                <a:latin typeface="Calibri"/>
              </a:rPr>
              <a:t>Cả hai đều méo: tỉ lệ dao động 5–7 % giữa các frame, độ sâu càng xa càng sai</a:t>
            </a:r>
          </a:p>
        </p:txBody>
      </p:sp>
      <p:pic>
        <p:nvPicPr>
          <p:cNvPr id="7" name="Picture 6" descr="x02_t1_clouds.png"/>
          <p:cNvPicPr>
            <a:picLocks noChangeAspect="1"/>
          </p:cNvPicPr>
          <p:nvPr/>
        </p:nvPicPr>
        <p:blipFill>
          <a:blip r:embed="rId3"/>
          <a:stretch>
            <a:fillRect/>
          </a:stretch>
        </p:blipFill>
        <p:spPr>
          <a:xfrm>
            <a:off x="1207735" y="2743200"/>
            <a:ext cx="9746048" cy="361187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1 – Mở đầu · slide 1.4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Ba track, ba kiểu khó</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a:t>
            </a:r>
          </a:p>
        </p:txBody>
      </p:sp>
      <p:graphicFrame>
        <p:nvGraphicFramePr>
          <p:cNvPr id="6" name="Table 5"/>
          <p:cNvGraphicFramePr>
            <a:graphicFrameLocks noGrp="1"/>
          </p:cNvGraphicFramePr>
          <p:nvPr/>
        </p:nvGraphicFramePr>
        <p:xfrm>
          <a:off x="502920" y="1325880"/>
          <a:ext cx="11155680" cy="1975104"/>
        </p:xfrm>
        <a:graphic>
          <a:graphicData uri="http://schemas.openxmlformats.org/drawingml/2006/table">
            <a:tbl>
              <a:tblPr firstRow="1" bandRow="1">
                <a:tableStyleId>{5C22544A-7EE6-4342-B048-85BDC9FD1C3A}</a:tableStyleId>
              </a:tblPr>
              <a:tblGrid>
                <a:gridCol w="1463040"/>
                <a:gridCol w="3200400"/>
                <a:gridCol w="3200400"/>
                <a:gridCol w="3291840"/>
              </a:tblGrid>
              <a:tr h="329184">
                <a:tc>
                  <a:txBody>
                    <a:bodyPr/>
                    <a:lstStyle/>
                    <a:p/>
                  </a:txBody>
                  <a:tcPr marL="54864" marR="54864" marT="27432" marB="27432">
                    <a:solidFill>
                      <a:srgbClr val="137C8B"/>
                    </a:solidFill>
                  </a:tcPr>
                </a:tc>
                <a:tc>
                  <a:txBody>
                    <a:bodyPr/>
                    <a:lstStyle/>
                    <a:p>
                      <a:r>
                        <a:rPr sz="1200" b="1">
                          <a:solidFill>
                            <a:srgbClr val="FFFFFF"/>
                          </a:solidFill>
                          <a:latin typeface="Calibri"/>
                        </a:rPr>
                        <a:t>Track01</a:t>
                      </a:r>
                    </a:p>
                  </a:txBody>
                  <a:tcPr marL="54864" marR="54864" marT="27432" marB="27432">
                    <a:solidFill>
                      <a:srgbClr val="137C8B"/>
                    </a:solidFill>
                  </a:tcPr>
                </a:tc>
                <a:tc>
                  <a:txBody>
                    <a:bodyPr/>
                    <a:lstStyle/>
                    <a:p>
                      <a:r>
                        <a:rPr sz="1200" b="1">
                          <a:solidFill>
                            <a:srgbClr val="FFFFFF"/>
                          </a:solidFill>
                          <a:latin typeface="Calibri"/>
                        </a:rPr>
                        <a:t>Track02</a:t>
                      </a:r>
                    </a:p>
                  </a:txBody>
                  <a:tcPr marL="54864" marR="54864" marT="27432" marB="27432">
                    <a:solidFill>
                      <a:srgbClr val="137C8B"/>
                    </a:solidFill>
                  </a:tcPr>
                </a:tc>
                <a:tc>
                  <a:txBody>
                    <a:bodyPr/>
                    <a:lstStyle/>
                    <a:p>
                      <a:r>
                        <a:rPr sz="1200" b="1">
                          <a:solidFill>
                            <a:srgbClr val="FFFFFF"/>
                          </a:solidFill>
                          <a:latin typeface="Calibri"/>
                        </a:rPr>
                        <a:t>Track03</a:t>
                      </a:r>
                    </a:p>
                  </a:txBody>
                  <a:tcPr marL="54864" marR="54864" marT="27432" marB="27432">
                    <a:solidFill>
                      <a:srgbClr val="137C8B"/>
                    </a:solidFill>
                  </a:tcPr>
                </a:tc>
              </a:tr>
              <a:tr h="329184">
                <a:tc>
                  <a:txBody>
                    <a:bodyPr/>
                    <a:lstStyle/>
                    <a:p>
                      <a:r>
                        <a:rPr sz="1200" b="0">
                          <a:solidFill>
                            <a:srgbClr val="1E2A32"/>
                          </a:solidFill>
                          <a:latin typeface="Calibri"/>
                        </a:rPr>
                        <a:t>Số frame</a:t>
                      </a:r>
                    </a:p>
                  </a:txBody>
                  <a:tcPr marL="54864" marR="54864" marT="27432" marB="27432">
                    <a:solidFill>
                      <a:srgbClr val="F3F6F8"/>
                    </a:solidFill>
                  </a:tcPr>
                </a:tc>
                <a:tc>
                  <a:txBody>
                    <a:bodyPr/>
                    <a:lstStyle/>
                    <a:p>
                      <a:r>
                        <a:rPr sz="1200" b="0">
                          <a:solidFill>
                            <a:srgbClr val="1E2A32"/>
                          </a:solidFill>
                          <a:latin typeface="Calibri"/>
                        </a:rPr>
                        <a:t>3011</a:t>
                      </a:r>
                    </a:p>
                  </a:txBody>
                  <a:tcPr marL="54864" marR="54864" marT="27432" marB="27432">
                    <a:solidFill>
                      <a:srgbClr val="F3F6F8"/>
                    </a:solidFill>
                  </a:tcPr>
                </a:tc>
                <a:tc>
                  <a:txBody>
                    <a:bodyPr/>
                    <a:lstStyle/>
                    <a:p>
                      <a:r>
                        <a:rPr sz="1200" b="0">
                          <a:solidFill>
                            <a:srgbClr val="1E2A32"/>
                          </a:solidFill>
                          <a:latin typeface="Calibri"/>
                        </a:rPr>
                        <a:t>3299</a:t>
                      </a:r>
                    </a:p>
                  </a:txBody>
                  <a:tcPr marL="54864" marR="54864" marT="27432" marB="27432">
                    <a:solidFill>
                      <a:srgbClr val="F3F6F8"/>
                    </a:solidFill>
                  </a:tcPr>
                </a:tc>
                <a:tc>
                  <a:txBody>
                    <a:bodyPr/>
                    <a:lstStyle/>
                    <a:p>
                      <a:r>
                        <a:rPr sz="1200" b="0">
                          <a:solidFill>
                            <a:srgbClr val="1E2A32"/>
                          </a:solidFill>
                          <a:latin typeface="Calibri"/>
                        </a:rPr>
                        <a:t>3142</a:t>
                      </a:r>
                    </a:p>
                  </a:txBody>
                  <a:tcPr marL="54864" marR="54864" marT="27432" marB="27432">
                    <a:solidFill>
                      <a:srgbClr val="F3F6F8"/>
                    </a:solidFill>
                  </a:tcPr>
                </a:tc>
              </a:tr>
              <a:tr h="329184">
                <a:tc>
                  <a:txBody>
                    <a:bodyPr/>
                    <a:lstStyle/>
                    <a:p>
                      <a:r>
                        <a:rPr sz="1200" b="0">
                          <a:solidFill>
                            <a:srgbClr val="1E2A32"/>
                          </a:solidFill>
                          <a:latin typeface="Calibri"/>
                        </a:rPr>
                        <a:t>GNSS</a:t>
                      </a:r>
                    </a:p>
                  </a:txBody>
                  <a:tcPr marL="54864" marR="54864" marT="27432" marB="27432">
                    <a:solidFill>
                      <a:srgbClr val="FFFFFF"/>
                    </a:solidFill>
                  </a:tcPr>
                </a:tc>
                <a:tc>
                  <a:txBody>
                    <a:bodyPr/>
                    <a:lstStyle/>
                    <a:p>
                      <a:r>
                        <a:rPr sz="1200" b="0">
                          <a:solidFill>
                            <a:srgbClr val="1E2A32"/>
                          </a:solidFill>
                          <a:latin typeface="Calibri"/>
                        </a:rPr>
                        <a:t>có, giật 0.142 m</a:t>
                      </a:r>
                    </a:p>
                  </a:txBody>
                  <a:tcPr marL="54864" marR="54864" marT="27432" marB="27432">
                    <a:solidFill>
                      <a:srgbClr val="FFFFFF"/>
                    </a:solidFill>
                  </a:tcPr>
                </a:tc>
                <a:tc>
                  <a:txBody>
                    <a:bodyPr/>
                    <a:lstStyle/>
                    <a:p>
                      <a:r>
                        <a:rPr sz="1200" b="0">
                          <a:solidFill>
                            <a:srgbClr val="1E2A32"/>
                          </a:solidFill>
                          <a:latin typeface="Calibri"/>
                        </a:rPr>
                        <a:t>có, mượt 0.052 m</a:t>
                      </a:r>
                    </a:p>
                  </a:txBody>
                  <a:tcPr marL="54864" marR="54864" marT="27432" marB="27432">
                    <a:solidFill>
                      <a:srgbClr val="FFFFFF"/>
                    </a:solidFill>
                  </a:tcPr>
                </a:tc>
                <a:tc>
                  <a:txBody>
                    <a:bodyPr/>
                    <a:lstStyle/>
                    <a:p>
                      <a:r>
                        <a:rPr sz="1200" b="1">
                          <a:solidFill>
                            <a:srgbClr val="1E2A32"/>
                          </a:solidFill>
                          <a:latin typeface="Calibri"/>
                        </a:rPr>
                        <a:t>không có</a:t>
                      </a:r>
                    </a:p>
                  </a:txBody>
                  <a:tcPr marL="54864" marR="54864" marT="27432" marB="27432">
                    <a:solidFill>
                      <a:srgbClr val="FFFFFF"/>
                    </a:solidFill>
                  </a:tcPr>
                </a:tc>
              </a:tr>
              <a:tr h="329184">
                <a:tc>
                  <a:txBody>
                    <a:bodyPr/>
                    <a:lstStyle/>
                    <a:p>
                      <a:r>
                        <a:rPr sz="1200" b="0">
                          <a:solidFill>
                            <a:srgbClr val="1E2A32"/>
                          </a:solidFill>
                          <a:latin typeface="Calibri"/>
                        </a:rPr>
                        <a:t>Chấm theo</a:t>
                      </a:r>
                    </a:p>
                  </a:txBody>
                  <a:tcPr marL="54864" marR="54864" marT="27432" marB="27432">
                    <a:solidFill>
                      <a:srgbClr val="F3F6F8"/>
                    </a:solidFill>
                  </a:tcPr>
                </a:tc>
                <a:tc>
                  <a:txBody>
                    <a:bodyPr/>
                    <a:lstStyle/>
                    <a:p>
                      <a:r>
                        <a:rPr sz="1200" b="0">
                          <a:solidFill>
                            <a:srgbClr val="1E2A32"/>
                          </a:solidFill>
                          <a:latin typeface="Calibri"/>
                        </a:rPr>
                        <a:t>public toàn track</a:t>
                      </a:r>
                    </a:p>
                  </a:txBody>
                  <a:tcPr marL="54864" marR="54864" marT="27432" marB="27432">
                    <a:solidFill>
                      <a:srgbClr val="F3F6F8"/>
                    </a:solidFill>
                  </a:tcPr>
                </a:tc>
                <a:tc>
                  <a:txBody>
                    <a:bodyPr/>
                    <a:lstStyle/>
                    <a:p>
                      <a:r>
                        <a:rPr sz="1200" b="0">
                          <a:solidFill>
                            <a:srgbClr val="1E2A32"/>
                          </a:solidFill>
                          <a:latin typeface="Calibri"/>
                        </a:rPr>
                        <a:t>public toàn track</a:t>
                      </a:r>
                    </a:p>
                  </a:txBody>
                  <a:tcPr marL="54864" marR="54864" marT="27432" marB="27432">
                    <a:solidFill>
                      <a:srgbClr val="F3F6F8"/>
                    </a:solidFill>
                  </a:tcPr>
                </a:tc>
                <a:tc>
                  <a:txBody>
                    <a:bodyPr/>
                    <a:lstStyle/>
                    <a:p>
                      <a:r>
                        <a:rPr sz="1200" b="1">
                          <a:solidFill>
                            <a:srgbClr val="1E2A32"/>
                          </a:solidFill>
                          <a:latin typeface="Calibri"/>
                        </a:rPr>
                        <a:t>private ≈ 87 %</a:t>
                      </a:r>
                    </a:p>
                  </a:txBody>
                  <a:tcPr marL="54864" marR="54864" marT="27432" marB="27432">
                    <a:solidFill>
                      <a:srgbClr val="F3F6F8"/>
                    </a:solidFill>
                  </a:tcPr>
                </a:tc>
              </a:tr>
              <a:tr h="329184">
                <a:tc>
                  <a:txBody>
                    <a:bodyPr/>
                    <a:lstStyle/>
                    <a:p>
                      <a:r>
                        <a:rPr sz="1200" b="0">
                          <a:solidFill>
                            <a:srgbClr val="1E2A32"/>
                          </a:solidFill>
                          <a:latin typeface="Calibri"/>
                        </a:rPr>
                        <a:t>Đặc biệt</a:t>
                      </a:r>
                    </a:p>
                  </a:txBody>
                  <a:tcPr marL="54864" marR="54864" marT="27432" marB="27432">
                    <a:solidFill>
                      <a:srgbClr val="FFFFFF"/>
                    </a:solidFill>
                  </a:tcPr>
                </a:tc>
                <a:tc>
                  <a:txBody>
                    <a:bodyPr/>
                    <a:lstStyle/>
                    <a:p>
                      <a:r>
                        <a:rPr sz="1200" b="0">
                          <a:solidFill>
                            <a:srgbClr val="1E2A32"/>
                          </a:solidFill>
                          <a:latin typeface="Calibri"/>
                        </a:rPr>
                        <a:t>nhà / cây che 74 % đường, 11 bước nhảy GNSS</a:t>
                      </a:r>
                    </a:p>
                  </a:txBody>
                  <a:tcPr marL="54864" marR="54864" marT="27432" marB="27432">
                    <a:solidFill>
                      <a:srgbClr val="FFFFFF"/>
                    </a:solidFill>
                  </a:tcPr>
                </a:tc>
                <a:tc>
                  <a:txBody>
                    <a:bodyPr/>
                    <a:lstStyle/>
                    <a:p>
                      <a:r>
                        <a:rPr sz="1200" b="0">
                          <a:solidFill>
                            <a:srgbClr val="1E2A32"/>
                          </a:solidFill>
                          <a:latin typeface="Calibri"/>
                        </a:rPr>
                        <a:t>đứng yên 13 s đầu, init lệch 14.85°</a:t>
                      </a:r>
                    </a:p>
                  </a:txBody>
                  <a:tcPr marL="54864" marR="54864" marT="27432" marB="27432">
                    <a:solidFill>
                      <a:srgbClr val="FFFFFF"/>
                    </a:solidFill>
                  </a:tcPr>
                </a:tc>
                <a:tc>
                  <a:txBody>
                    <a:bodyPr/>
                    <a:lstStyle/>
                    <a:p>
                      <a:r>
                        <a:rPr sz="1200" b="0">
                          <a:solidFill>
                            <a:srgbClr val="1E2A32"/>
                          </a:solidFill>
                          <a:latin typeface="Calibri"/>
                        </a:rPr>
                        <a:t>đèn đỏ 43 s = 44 % private, rẽ trái 88°</a:t>
                      </a:r>
                    </a:p>
                  </a:txBody>
                  <a:tcPr marL="54864" marR="54864" marT="27432" marB="27432">
                    <a:solidFill>
                      <a:srgbClr val="FFFFFF"/>
                    </a:solidFill>
                  </a:tcPr>
                </a:tc>
              </a:tr>
              <a:tr h="329184">
                <a:tc>
                  <a:txBody>
                    <a:bodyPr/>
                    <a:lstStyle/>
                    <a:p>
                      <a:r>
                        <a:rPr sz="1200" b="0">
                          <a:solidFill>
                            <a:srgbClr val="1E2A32"/>
                          </a:solidFill>
                          <a:latin typeface="Calibri"/>
                        </a:rPr>
                        <a:t>Baseline TA</a:t>
                      </a:r>
                    </a:p>
                  </a:txBody>
                  <a:tcPr marL="54864" marR="54864" marT="27432" marB="27432">
                    <a:solidFill>
                      <a:srgbClr val="F3F6F8"/>
                    </a:solidFill>
                  </a:tcPr>
                </a:tc>
                <a:tc>
                  <a:txBody>
                    <a:bodyPr/>
                    <a:lstStyle/>
                    <a:p>
                      <a:r>
                        <a:rPr sz="1200" b="0">
                          <a:solidFill>
                            <a:srgbClr val="1E2A32"/>
                          </a:solidFill>
                          <a:latin typeface="Calibri"/>
                        </a:rPr>
                        <a:t>1.79075</a:t>
                      </a:r>
                    </a:p>
                  </a:txBody>
                  <a:tcPr marL="54864" marR="54864" marT="27432" marB="27432">
                    <a:solidFill>
                      <a:srgbClr val="F3F6F8"/>
                    </a:solidFill>
                  </a:tcPr>
                </a:tc>
                <a:tc>
                  <a:txBody>
                    <a:bodyPr/>
                    <a:lstStyle/>
                    <a:p>
                      <a:r>
                        <a:rPr sz="1200" b="0">
                          <a:solidFill>
                            <a:srgbClr val="1E2A32"/>
                          </a:solidFill>
                          <a:latin typeface="Calibri"/>
                        </a:rPr>
                        <a:t>1.92587</a:t>
                      </a:r>
                    </a:p>
                  </a:txBody>
                  <a:tcPr marL="54864" marR="54864" marT="27432" marB="27432">
                    <a:solidFill>
                      <a:srgbClr val="F3F6F8"/>
                    </a:solidFill>
                  </a:tcPr>
                </a:tc>
                <a:tc>
                  <a:txBody>
                    <a:bodyPr/>
                    <a:lstStyle/>
                    <a:p>
                      <a:r>
                        <a:rPr sz="1200" b="0">
                          <a:solidFill>
                            <a:srgbClr val="1E2A32"/>
                          </a:solidFill>
                          <a:latin typeface="Calibri"/>
                        </a:rPr>
                        <a:t>private ≤ 1.40</a:t>
                      </a:r>
                    </a:p>
                  </a:txBody>
                  <a:tcPr marL="54864" marR="54864" marT="27432" marB="27432">
                    <a:solidFill>
                      <a:srgbClr val="F3F6F8"/>
                    </a:solidFill>
                  </a:tcPr>
                </a:tc>
              </a:tr>
            </a:tbl>
          </a:graphicData>
        </a:graphic>
      </p:graphicFrame>
      <p:pic>
        <p:nvPicPr>
          <p:cNvPr id="7" name="Picture 6" descr="t3_segments.png"/>
          <p:cNvPicPr>
            <a:picLocks noChangeAspect="1"/>
          </p:cNvPicPr>
          <p:nvPr/>
        </p:nvPicPr>
        <p:blipFill>
          <a:blip r:embed="rId3"/>
          <a:stretch>
            <a:fillRect/>
          </a:stretch>
        </p:blipFill>
        <p:spPr>
          <a:xfrm>
            <a:off x="2022583" y="3657600"/>
            <a:ext cx="8116353" cy="2697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1 – Mở đầu · slide 1.5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Những gì làm bài này khó</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a:t>
            </a:r>
          </a:p>
        </p:txBody>
      </p:sp>
      <p:sp>
        <p:nvSpPr>
          <p:cNvPr id="6" name="TextBox 5"/>
          <p:cNvSpPr txBox="1"/>
          <p:nvPr/>
        </p:nvSpPr>
        <p:spPr>
          <a:xfrm>
            <a:off x="502920" y="1325880"/>
            <a:ext cx="4114800" cy="4937760"/>
          </a:xfrm>
          <a:prstGeom prst="rect">
            <a:avLst/>
          </a:prstGeom>
          <a:noFill/>
        </p:spPr>
        <p:txBody>
          <a:bodyPr wrap="square" anchor="t" lIns="0" rIns="0" tIns="0" bIns="0">
            <a:spAutoFit/>
          </a:bodyPr>
          <a:lstStyle/>
          <a:p>
            <a:pPr algn="l">
              <a:spcAft>
                <a:spcPts val="800"/>
              </a:spcAft>
            </a:pPr>
            <a:r>
              <a:rPr sz="1400" b="1">
                <a:solidFill>
                  <a:srgbClr val="137C8B"/>
                </a:solidFill>
                <a:latin typeface="Calibri"/>
              </a:rPr>
              <a:t>• </a:t>
            </a:r>
            <a:r>
              <a:rPr sz="1400" b="1">
                <a:solidFill>
                  <a:srgbClr val="14242E"/>
                </a:solidFill>
                <a:latin typeface="Calibri"/>
              </a:rPr>
              <a:t>Sai tỉ lệ trong code mẫu</a:t>
            </a:r>
            <a:r>
              <a:rPr sz="1400" b="0">
                <a:solidFill>
                  <a:srgbClr val="1E2A32"/>
                </a:solidFill>
                <a:latin typeface="Calibri"/>
              </a:rPr>
              <a:t> (×3, đúng ≈ 9) → NDT trôi 91 m / 110 m</a:t>
            </a:r>
          </a:p>
          <a:p>
            <a:pPr algn="l">
              <a:spcAft>
                <a:spcPts val="800"/>
              </a:spcAft>
            </a:pPr>
            <a:r>
              <a:rPr sz="1400" b="1">
                <a:solidFill>
                  <a:srgbClr val="137C8B"/>
                </a:solidFill>
                <a:latin typeface="Calibri"/>
              </a:rPr>
              <a:t>• </a:t>
            </a:r>
            <a:r>
              <a:rPr sz="1400" b="1">
                <a:solidFill>
                  <a:srgbClr val="14242E"/>
                </a:solidFill>
                <a:latin typeface="Calibri"/>
              </a:rPr>
              <a:t>Point cloud AI bị méo:</a:t>
            </a:r>
            <a:r>
              <a:rPr sz="1400" b="0">
                <a:solidFill>
                  <a:srgbClr val="1E2A32"/>
                </a:solidFill>
                <a:latin typeface="Calibri"/>
              </a:rPr>
              <a:t> trên point cloud hoàn hảo GICP chỉ sai 5–8 mm; trên point cloud thật sai ~0.8 m mỗi frame → lỗi nằm ở dữ liệu, không ở thuật toán khớp (hình)</a:t>
            </a:r>
          </a:p>
          <a:p>
            <a:pPr algn="l">
              <a:spcAft>
                <a:spcPts val="800"/>
              </a:spcAft>
            </a:pPr>
            <a:r>
              <a:rPr sz="1400" b="1">
                <a:solidFill>
                  <a:srgbClr val="137C8B"/>
                </a:solidFill>
                <a:latin typeface="Calibri"/>
              </a:rPr>
              <a:t>• </a:t>
            </a:r>
            <a:r>
              <a:rPr sz="1400" b="1">
                <a:solidFill>
                  <a:srgbClr val="14242E"/>
                </a:solidFill>
                <a:latin typeface="Calibri"/>
              </a:rPr>
              <a:t>Khởi đầu có nhiễu:</a:t>
            </a:r>
            <a:r>
              <a:rPr sz="1400" b="0">
                <a:solidFill>
                  <a:srgbClr val="1E2A32"/>
                </a:solidFill>
                <a:latin typeface="Calibri"/>
              </a:rPr>
              <a:t> init lệch 2° (T1), 14.85° (T2), roll/pitch ~15° (T3)</a:t>
            </a:r>
          </a:p>
          <a:p>
            <a:pPr algn="l">
              <a:spcAft>
                <a:spcPts val="800"/>
              </a:spcAft>
            </a:pPr>
            <a:r>
              <a:rPr sz="1400" b="1">
                <a:solidFill>
                  <a:srgbClr val="137C8B"/>
                </a:solidFill>
                <a:latin typeface="Calibri"/>
              </a:rPr>
              <a:t>• </a:t>
            </a:r>
            <a:r>
              <a:rPr sz="1400" b="1">
                <a:solidFill>
                  <a:srgbClr val="14242E"/>
                </a:solidFill>
                <a:latin typeface="Calibri"/>
              </a:rPr>
              <a:t>Yaw GNSS</a:t>
            </a:r>
            <a:r>
              <a:rPr sz="1400" b="0">
                <a:solidFill>
                  <a:srgbClr val="1E2A32"/>
                </a:solidFill>
                <a:latin typeface="Calibri"/>
              </a:rPr>
              <a:t> tính từ vị trí: trễ 1.1–1.4 s, đứng im khi xe dừng</a:t>
            </a:r>
          </a:p>
          <a:p>
            <a:pPr algn="l">
              <a:spcAft>
                <a:spcPts val="800"/>
              </a:spcAft>
            </a:pPr>
            <a:r>
              <a:rPr sz="1400" b="1">
                <a:solidFill>
                  <a:srgbClr val="137C8B"/>
                </a:solidFill>
                <a:latin typeface="Calibri"/>
              </a:rPr>
              <a:t>• </a:t>
            </a:r>
            <a:r>
              <a:rPr sz="1400" b="1">
                <a:solidFill>
                  <a:srgbClr val="14242E"/>
                </a:solidFill>
                <a:latin typeface="Calibri"/>
              </a:rPr>
              <a:t>Track03 không GNSS:</a:t>
            </a:r>
            <a:r>
              <a:rPr sz="1400" b="0">
                <a:solidFill>
                  <a:srgbClr val="1E2A32"/>
                </a:solidFill>
                <a:latin typeface="Calibri"/>
              </a:rPr>
              <a:t> odometry từ point cloud chỉ bằng 0.12–1.16 lần quãng đường thật</a:t>
            </a:r>
          </a:p>
          <a:p>
            <a:pPr algn="l">
              <a:spcAft>
                <a:spcPts val="800"/>
              </a:spcAft>
            </a:pPr>
            <a:r>
              <a:rPr sz="1400" b="1">
                <a:solidFill>
                  <a:srgbClr val="137C8B"/>
                </a:solidFill>
                <a:latin typeface="Calibri"/>
              </a:rPr>
              <a:t>• </a:t>
            </a:r>
            <a:r>
              <a:rPr sz="1400" b="0">
                <a:solidFill>
                  <a:srgbClr val="1E2A32"/>
                </a:solidFill>
                <a:latin typeface="Calibri"/>
              </a:rPr>
              <a:t>Vật thể động: không đo riêng [CẦN ĐIỀN nếu muốn nêu]</a:t>
            </a:r>
          </a:p>
        </p:txBody>
      </p:sp>
      <p:pic>
        <p:nvPicPr>
          <p:cNvPr id="7" name="Picture 6" descr="x16_synthetic_gicp.png"/>
          <p:cNvPicPr>
            <a:picLocks noChangeAspect="1"/>
          </p:cNvPicPr>
          <p:nvPr/>
        </p:nvPicPr>
        <p:blipFill>
          <a:blip r:embed="rId3"/>
          <a:stretch>
            <a:fillRect/>
          </a:stretch>
        </p:blipFill>
        <p:spPr>
          <a:xfrm>
            <a:off x="4800600" y="2368188"/>
            <a:ext cx="6979615" cy="294458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Toàn bộ pipeline</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a:t>
            </a:r>
          </a:p>
        </p:txBody>
      </p:sp>
      <p:sp>
        <p:nvSpPr>
          <p:cNvPr id="6" name="Rounded Rectangle 5"/>
          <p:cNvSpPr/>
          <p:nvPr/>
        </p:nvSpPr>
        <p:spPr>
          <a:xfrm>
            <a:off x="502920" y="1417320"/>
            <a:ext cx="11155680" cy="2103120"/>
          </a:xfrm>
          <a:prstGeom prst="roundRect">
            <a:avLst>
              <a:gd name="adj" fmla="val 6000"/>
            </a:avLst>
          </a:prstGeom>
          <a:solidFill>
            <a:srgbClr val="D8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737360" cy="1828800"/>
          </a:xfrm>
          <a:prstGeom prst="rect">
            <a:avLst/>
          </a:prstGeom>
          <a:noFill/>
        </p:spPr>
        <p:txBody>
          <a:bodyPr wrap="square" anchor="ctr" lIns="0" rIns="0" tIns="0" bIns="0">
            <a:spAutoFit/>
          </a:bodyPr>
          <a:lstStyle/>
          <a:p>
            <a:pPr algn="l">
              <a:spcAft>
                <a:spcPts val="600"/>
              </a:spcAft>
            </a:pPr>
            <a:r>
              <a:rPr sz="1500" b="1">
                <a:solidFill>
                  <a:srgbClr val="14242E"/>
                </a:solidFill>
                <a:latin typeface="Calibri"/>
              </a:rPr>
              <a:t>Track01 / 02
(có GNSS)</a:t>
            </a:r>
          </a:p>
        </p:txBody>
      </p:sp>
      <p:sp>
        <p:nvSpPr>
          <p:cNvPr id="8" name="Rounded Rectangle 7"/>
          <p:cNvSpPr/>
          <p:nvPr/>
        </p:nvSpPr>
        <p:spPr>
          <a:xfrm>
            <a:off x="2606040"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GNSS 4 Hz</a:t>
            </a:r>
          </a:p>
        </p:txBody>
      </p:sp>
      <p:sp>
        <p:nvSpPr>
          <p:cNvPr id="9" name="Rounded Rectangle 8"/>
          <p:cNvSpPr/>
          <p:nvPr/>
        </p:nvSpPr>
        <p:spPr>
          <a:xfrm>
            <a:off x="4137660"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Kalman CTRV + RTS
(nhiễu theo maximum likelihood)</a:t>
            </a:r>
          </a:p>
        </p:txBody>
      </p:sp>
      <p:cxnSp>
        <p:nvCxnSpPr>
          <p:cNvPr id="10" name="Connector 9"/>
          <p:cNvCxnSpPr/>
          <p:nvPr/>
        </p:nvCxnSpPr>
        <p:spPr>
          <a:xfrm>
            <a:off x="3835908" y="246888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669279"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3cameras_ply: tỉ lệ = 1.646 m / độ cao mặt đường, tầm ≤ 20 m</a:t>
            </a:r>
          </a:p>
        </p:txBody>
      </p:sp>
      <p:cxnSp>
        <p:nvCxnSpPr>
          <p:cNvPr id="12" name="Connector 11"/>
          <p:cNvCxnSpPr/>
          <p:nvPr/>
        </p:nvCxnSpPr>
        <p:spPr>
          <a:xfrm>
            <a:off x="5367527" y="2468880"/>
            <a:ext cx="283465"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200900"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GICP với bản đồ 0.3 m
2 lượt, trừ lệch TB</a:t>
            </a:r>
          </a:p>
        </p:txBody>
      </p:sp>
      <p:cxnSp>
        <p:nvCxnSpPr>
          <p:cNvPr id="14" name="Connector 13"/>
          <p:cNvCxnSpPr/>
          <p:nvPr/>
        </p:nvCxnSpPr>
        <p:spPr>
          <a:xfrm>
            <a:off x="6899148" y="246888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32519"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CSM bản đồ + yaw = gyro + bản đồ</a:t>
            </a:r>
          </a:p>
        </p:txBody>
      </p:sp>
      <p:cxnSp>
        <p:nvCxnSpPr>
          <p:cNvPr id="16" name="Connector 15"/>
          <p:cNvCxnSpPr/>
          <p:nvPr/>
        </p:nvCxnSpPr>
        <p:spPr>
          <a:xfrm>
            <a:off x="8430767" y="2468880"/>
            <a:ext cx="283465"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264140" y="1737360"/>
            <a:ext cx="1211580" cy="1463040"/>
          </a:xfrm>
          <a:prstGeom prst="roundRect">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result_1 / result_2</a:t>
            </a:r>
          </a:p>
        </p:txBody>
      </p:sp>
      <p:cxnSp>
        <p:nvCxnSpPr>
          <p:cNvPr id="18" name="Connector 17"/>
          <p:cNvCxnSpPr/>
          <p:nvPr/>
        </p:nvCxnSpPr>
        <p:spPr>
          <a:xfrm>
            <a:off x="9962388" y="246888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20" y="3749039"/>
            <a:ext cx="11155680" cy="2103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86200"/>
            <a:ext cx="1737360" cy="1828800"/>
          </a:xfrm>
          <a:prstGeom prst="rect">
            <a:avLst/>
          </a:prstGeom>
          <a:noFill/>
        </p:spPr>
        <p:txBody>
          <a:bodyPr wrap="square" anchor="ctr" lIns="0" rIns="0" tIns="0" bIns="0">
            <a:spAutoFit/>
          </a:bodyPr>
          <a:lstStyle/>
          <a:p>
            <a:pPr algn="l">
              <a:spcAft>
                <a:spcPts val="600"/>
              </a:spcAft>
            </a:pPr>
            <a:r>
              <a:rPr sz="1500" b="1">
                <a:solidFill>
                  <a:srgbClr val="14242E"/>
                </a:solidFill>
                <a:latin typeface="Calibri"/>
              </a:rPr>
              <a:t>Track03
(không GNSS,
nhân quả)</a:t>
            </a:r>
          </a:p>
        </p:txBody>
      </p:sp>
      <p:sp>
        <p:nvSpPr>
          <p:cNvPr id="21" name="Rounded Rectangle 20"/>
          <p:cNvSpPr/>
          <p:nvPr/>
        </p:nvSpPr>
        <p:spPr>
          <a:xfrm>
            <a:off x="2606040"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raw_ply + IMU</a:t>
            </a:r>
          </a:p>
        </p:txBody>
      </p:sp>
      <p:sp>
        <p:nvSpPr>
          <p:cNvPr id="22" name="Rounded Rectangle 21"/>
          <p:cNvSpPr/>
          <p:nvPr/>
        </p:nvSpPr>
        <p:spPr>
          <a:xfrm>
            <a:off x="4137660"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Bộ bám: MHT, lọc tốc độ IMU, gyro theo trọng lực, ZUPT</a:t>
            </a:r>
          </a:p>
        </p:txBody>
      </p:sp>
      <p:cxnSp>
        <p:nvCxnSpPr>
          <p:cNvPr id="23" name="Connector 22"/>
          <p:cNvCxnSpPr/>
          <p:nvPr/>
        </p:nvCxnSpPr>
        <p:spPr>
          <a:xfrm>
            <a:off x="3835908" y="480060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69279"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CSM ±15 m rồi GICP</a:t>
            </a:r>
          </a:p>
        </p:txBody>
      </p:sp>
      <p:cxnSp>
        <p:nvCxnSpPr>
          <p:cNvPr id="25" name="Connector 24"/>
          <p:cNvCxnSpPr/>
          <p:nvPr/>
        </p:nvCxnSpPr>
        <p:spPr>
          <a:xfrm>
            <a:off x="5367527" y="4800600"/>
            <a:ext cx="283465"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200900"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Ảnh h265: chiếu mặt đường (IPM), tách vạch sơn</a:t>
            </a:r>
          </a:p>
        </p:txBody>
      </p:sp>
      <p:cxnSp>
        <p:nvCxnSpPr>
          <p:cNvPr id="27" name="Connector 26"/>
          <p:cNvCxnSpPr/>
          <p:nvPr/>
        </p:nvCxnSpPr>
        <p:spPr>
          <a:xfrm>
            <a:off x="6899148" y="480060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732519"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NCC với vạch sơn trong cường độ LiDAR</a:t>
            </a:r>
          </a:p>
        </p:txBody>
      </p:sp>
      <p:cxnSp>
        <p:nvCxnSpPr>
          <p:cNvPr id="29" name="Connector 28"/>
          <p:cNvCxnSpPr/>
          <p:nvPr/>
        </p:nvCxnSpPr>
        <p:spPr>
          <a:xfrm>
            <a:off x="8430767" y="4800600"/>
            <a:ext cx="283465"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0264140" y="4069079"/>
            <a:ext cx="1211580" cy="1463040"/>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150">
                <a:solidFill>
                  <a:srgbClr val="FFFFFF"/>
                </a:solidFill>
                <a:latin typeface="Calibri"/>
              </a:rPr>
              <a:t>Bộ lọc + chuyển động IMU → t3_Q4</a:t>
            </a:r>
          </a:p>
        </p:txBody>
      </p:sp>
      <p:cxnSp>
        <p:nvCxnSpPr>
          <p:cNvPr id="31" name="Connector 30"/>
          <p:cNvCxnSpPr/>
          <p:nvPr/>
        </p:nvCxnSpPr>
        <p:spPr>
          <a:xfrm>
            <a:off x="9962388" y="4800600"/>
            <a:ext cx="283464" cy="0"/>
          </a:xfrm>
          <a:prstGeom prst="line">
            <a:avLst/>
          </a:prstGeom>
          <a:ln w="25400">
            <a:solidFill>
              <a:srgbClr val="14242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Code mẫu so với phần nhóm tự làm</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7</a:t>
            </a:r>
          </a:p>
        </p:txBody>
      </p:sp>
      <p:sp>
        <p:nvSpPr>
          <p:cNvPr id="6" name="Rounded Rectangle 5"/>
          <p:cNvSpPr/>
          <p:nvPr/>
        </p:nvSpPr>
        <p:spPr>
          <a:xfrm>
            <a:off x="502920" y="1325880"/>
            <a:ext cx="5394960" cy="498348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63039"/>
            <a:ext cx="4937760" cy="365760"/>
          </a:xfrm>
          <a:prstGeom prst="rect">
            <a:avLst/>
          </a:prstGeom>
          <a:noFill/>
        </p:spPr>
        <p:txBody>
          <a:bodyPr wrap="square" anchor="t" lIns="0" rIns="0" tIns="0" bIns="0">
            <a:spAutoFit/>
          </a:bodyPr>
          <a:lstStyle/>
          <a:p>
            <a:pPr algn="l">
              <a:spcAft>
                <a:spcPts val="600"/>
              </a:spcAft>
            </a:pPr>
            <a:r>
              <a:rPr sz="1600" b="1">
                <a:solidFill>
                  <a:srgbClr val="5F6F7A"/>
                </a:solidFill>
                <a:latin typeface="Calibri"/>
              </a:rPr>
              <a:t>Code mẫu (localization.cpp, map_modified.cpp)</a:t>
            </a:r>
          </a:p>
        </p:txBody>
      </p:sp>
      <p:sp>
        <p:nvSpPr>
          <p:cNvPr id="8" name="TextBox 7"/>
          <p:cNvSpPr txBox="1"/>
          <p:nvPr/>
        </p:nvSpPr>
        <p:spPr>
          <a:xfrm>
            <a:off x="731520" y="1965960"/>
            <a:ext cx="4937760" cy="420624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0">
                <a:solidFill>
                  <a:srgbClr val="1E2A32"/>
                </a:solidFill>
                <a:latin typeface="Calibri"/>
              </a:rPr>
              <a:t>NDT của PCL, ply_scale 3</a:t>
            </a:r>
          </a:p>
          <a:p>
            <a:pPr algn="l">
              <a:spcAft>
                <a:spcPts val="800"/>
              </a:spcAft>
            </a:pPr>
            <a:r>
              <a:rPr sz="1500" b="1">
                <a:solidFill>
                  <a:srgbClr val="137C8B"/>
                </a:solidFill>
                <a:latin typeface="Calibri"/>
              </a:rPr>
              <a:t>• </a:t>
            </a:r>
            <a:r>
              <a:rPr sz="1500" b="0">
                <a:solidFill>
                  <a:srgbClr val="1E2A32"/>
                </a:solidFill>
                <a:latin typeface="Calibri"/>
              </a:rPr>
              <a:t>voxel đầu vào 0.3 m, bản đồ 1 m, vùng bản đồ ±100 m</a:t>
            </a:r>
          </a:p>
          <a:p>
            <a:pPr algn="l">
              <a:spcAft>
                <a:spcPts val="800"/>
              </a:spcAft>
            </a:pPr>
            <a:r>
              <a:rPr sz="1500" b="1">
                <a:solidFill>
                  <a:srgbClr val="137C8B"/>
                </a:solidFill>
                <a:latin typeface="Calibri"/>
              </a:rPr>
              <a:t>• </a:t>
            </a:r>
            <a:r>
              <a:rPr sz="1500" b="0">
                <a:solidFill>
                  <a:srgbClr val="1E2A32"/>
                </a:solidFill>
                <a:latin typeface="Calibri"/>
              </a:rPr>
              <a:t>NDT: ô 8 m, bước 0.8, ε 0.05, 30 vòng lặp</a:t>
            </a:r>
          </a:p>
          <a:p>
            <a:pPr algn="l">
              <a:spcAft>
                <a:spcPts val="800"/>
              </a:spcAft>
            </a:pPr>
            <a:r>
              <a:rPr sz="1500" b="1">
                <a:solidFill>
                  <a:srgbClr val="137C8B"/>
                </a:solidFill>
                <a:latin typeface="Calibri"/>
              </a:rPr>
              <a:t>• </a:t>
            </a:r>
            <a:r>
              <a:rPr sz="1500" b="0">
                <a:solidFill>
                  <a:srgbClr val="1E2A32"/>
                </a:solidFill>
                <a:latin typeface="Calibri"/>
              </a:rPr>
              <a:t>frame sau bắt đầu từ pose frame trước; frame đầu từ init_guess</a:t>
            </a:r>
          </a:p>
          <a:p>
            <a:pPr algn="l">
              <a:spcAft>
                <a:spcPts val="800"/>
              </a:spcAft>
            </a:pPr>
            <a:r>
              <a:rPr sz="1500" b="1">
                <a:solidFill>
                  <a:srgbClr val="137C8B"/>
                </a:solidFill>
                <a:latin typeface="Calibri"/>
              </a:rPr>
              <a:t>• </a:t>
            </a:r>
            <a:r>
              <a:rPr sz="1500" b="0">
                <a:solidFill>
                  <a:srgbClr val="1E2A32"/>
                </a:solidFill>
                <a:latin typeface="Calibri"/>
              </a:rPr>
              <a:t>kết quả chạy mặc định: trôi, nộp được 602.39 điểm</a:t>
            </a:r>
          </a:p>
        </p:txBody>
      </p:sp>
      <p:sp>
        <p:nvSpPr>
          <p:cNvPr id="9" name="Rounded Rectangle 8"/>
          <p:cNvSpPr/>
          <p:nvPr/>
        </p:nvSpPr>
        <p:spPr>
          <a:xfrm>
            <a:off x="6263640" y="1325880"/>
            <a:ext cx="5394960" cy="4983480"/>
          </a:xfrm>
          <a:prstGeom prst="roundRect">
            <a:avLst>
              <a:gd name="adj" fmla="val 6000"/>
            </a:avLst>
          </a:prstGeom>
          <a:solidFill>
            <a:srgbClr val="D8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463039"/>
            <a:ext cx="4937760" cy="365760"/>
          </a:xfrm>
          <a:prstGeom prst="rect">
            <a:avLst/>
          </a:prstGeom>
          <a:noFill/>
        </p:spPr>
        <p:txBody>
          <a:bodyPr wrap="square" anchor="t" lIns="0" rIns="0" tIns="0" bIns="0">
            <a:spAutoFit/>
          </a:bodyPr>
          <a:lstStyle/>
          <a:p>
            <a:pPr algn="l">
              <a:spcAft>
                <a:spcPts val="600"/>
              </a:spcAft>
            </a:pPr>
            <a:r>
              <a:rPr sz="1600" b="1">
                <a:solidFill>
                  <a:srgbClr val="137C8B"/>
                </a:solidFill>
                <a:latin typeface="Calibri"/>
              </a:rPr>
              <a:t>Nhóm tự làm</a:t>
            </a:r>
          </a:p>
        </p:txBody>
      </p:sp>
      <p:sp>
        <p:nvSpPr>
          <p:cNvPr id="11" name="TextBox 10"/>
          <p:cNvSpPr txBox="1"/>
          <p:nvPr/>
        </p:nvSpPr>
        <p:spPr>
          <a:xfrm>
            <a:off x="6492240" y="1965960"/>
            <a:ext cx="4937760" cy="4206240"/>
          </a:xfrm>
          <a:prstGeom prst="rect">
            <a:avLst/>
          </a:prstGeom>
          <a:noFill/>
        </p:spPr>
        <p:txBody>
          <a:bodyPr wrap="square" anchor="t" lIns="0" rIns="0" tIns="0" bIns="0">
            <a:spAutoFit/>
          </a:bodyPr>
          <a:lstStyle/>
          <a:p>
            <a:pPr algn="l">
              <a:spcAft>
                <a:spcPts val="800"/>
              </a:spcAft>
            </a:pPr>
            <a:r>
              <a:rPr sz="1400" b="1">
                <a:solidFill>
                  <a:srgbClr val="137C8B"/>
                </a:solidFill>
                <a:latin typeface="Calibri"/>
              </a:rPr>
              <a:t>• </a:t>
            </a:r>
            <a:r>
              <a:rPr sz="1400" b="1">
                <a:solidFill>
                  <a:srgbClr val="14242E"/>
                </a:solidFill>
                <a:latin typeface="Calibri"/>
              </a:rPr>
              <a:t>C++</a:t>
            </a:r>
            <a:r>
              <a:rPr sz="1400" b="0">
                <a:solidFill>
                  <a:srgbClr val="1E2A32"/>
                </a:solidFill>
                <a:latin typeface="Calibri"/>
              </a:rPr>
              <a:t> (~130 dòng): prior từng frame, loại kết quả nhảy xa, chạy cách frame, 10 đoạn song song, file debug</a:t>
            </a:r>
          </a:p>
          <a:p>
            <a:pPr algn="l">
              <a:spcAft>
                <a:spcPts val="800"/>
              </a:spcAft>
            </a:pPr>
            <a:r>
              <a:rPr sz="1400" b="1">
                <a:solidFill>
                  <a:srgbClr val="137C8B"/>
                </a:solidFill>
                <a:latin typeface="Calibri"/>
              </a:rPr>
              <a:t>• </a:t>
            </a:r>
            <a:r>
              <a:rPr sz="1400" b="1">
                <a:solidFill>
                  <a:srgbClr val="14242E"/>
                </a:solidFill>
                <a:latin typeface="Calibri"/>
              </a:rPr>
              <a:t>59 công cụ Python</a:t>
            </a:r>
            <a:r>
              <a:rPr sz="1400" b="0">
                <a:solidFill>
                  <a:srgbClr val="1E2A32"/>
                </a:solidFill>
                <a:latin typeface="Calibri"/>
              </a:rPr>
              <a:t> (~6 600 dòng): tỉ lệ theo mặt đường, Kalman/RTS, GICP, lọc yaw, CSM + yaw bản đồ</a:t>
            </a:r>
          </a:p>
          <a:p>
            <a:pPr algn="l">
              <a:spcAft>
                <a:spcPts val="800"/>
              </a:spcAft>
            </a:pPr>
            <a:r>
              <a:rPr sz="1400" b="1">
                <a:solidFill>
                  <a:srgbClr val="137C8B"/>
                </a:solidFill>
                <a:latin typeface="Calibri"/>
              </a:rPr>
              <a:t>• </a:t>
            </a:r>
            <a:r>
              <a:rPr sz="1400" b="1">
                <a:solidFill>
                  <a:srgbClr val="14242E"/>
                </a:solidFill>
                <a:latin typeface="Calibri"/>
              </a:rPr>
              <a:t>Bộ bám không GNSS</a:t>
            </a:r>
            <a:r>
              <a:rPr sz="1400" b="0">
                <a:solidFill>
                  <a:srgbClr val="1E2A32"/>
                </a:solidFill>
                <a:latin typeface="Calibri"/>
              </a:rPr>
              <a:t> cho Track03 (MHT, lọc tốc độ IMU, ZUPT, CSM)</a:t>
            </a:r>
          </a:p>
          <a:p>
            <a:pPr algn="l">
              <a:spcAft>
                <a:spcPts val="800"/>
              </a:spcAft>
            </a:pPr>
            <a:r>
              <a:rPr sz="1400" b="1">
                <a:solidFill>
                  <a:srgbClr val="137C8B"/>
                </a:solidFill>
                <a:latin typeface="Calibri"/>
              </a:rPr>
              <a:t>• </a:t>
            </a:r>
            <a:r>
              <a:rPr sz="1400" b="1">
                <a:solidFill>
                  <a:srgbClr val="14242E"/>
                </a:solidFill>
                <a:latin typeface="Calibri"/>
              </a:rPr>
              <a:t>Khớp vạch sơn từ camera</a:t>
            </a:r>
            <a:r>
              <a:rPr sz="1400" b="0">
                <a:solidFill>
                  <a:srgbClr val="1E2A32"/>
                </a:solidFill>
                <a:latin typeface="Calibri"/>
              </a:rPr>
              <a:t> (giải mã h265, IPM, NCC qua FFT, bộ lọc + IMU) – đưa Track03 từ 0.80 xuống 0.28</a:t>
            </a:r>
          </a:p>
          <a:p>
            <a:pPr algn="l">
              <a:spcAft>
                <a:spcPts val="800"/>
              </a:spcAft>
            </a:pPr>
            <a:r>
              <a:rPr sz="1400" b="1">
                <a:solidFill>
                  <a:srgbClr val="137C8B"/>
                </a:solidFill>
                <a:latin typeface="Calibri"/>
              </a:rPr>
              <a:t>• </a:t>
            </a:r>
            <a:r>
              <a:rPr sz="1400" b="0">
                <a:solidFill>
                  <a:srgbClr val="1E2A32"/>
                </a:solidFill>
                <a:latin typeface="Calibri"/>
              </a:rPr>
              <a:t>Công cụ kiểm tra không cần đáp án, bot Kaggle, mọi file nộp tạo lại được từng byte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Bản đồ: cỡ voxel, vùng cắt và các bản đồ phụ</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8</a:t>
            </a:r>
          </a:p>
        </p:txBody>
      </p:sp>
      <p:sp>
        <p:nvSpPr>
          <p:cNvPr id="6" name="TextBox 5"/>
          <p:cNvSpPr txBox="1"/>
          <p:nvPr/>
        </p:nvSpPr>
        <p:spPr>
          <a:xfrm>
            <a:off x="502920" y="1325880"/>
            <a:ext cx="11155680" cy="123444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0">
                <a:solidFill>
                  <a:srgbClr val="1E2A32"/>
                </a:solidFill>
                <a:latin typeface="Calibri"/>
              </a:rPr>
              <a:t>Code mẫu giảm mẫu 1 m (59.5 triệu → 0.5 triệu điểm); pipeline của nhóm dùng </a:t>
            </a:r>
            <a:r>
              <a:rPr sz="1600" b="1">
                <a:solidFill>
                  <a:srgbClr val="14242E"/>
                </a:solidFill>
                <a:latin typeface="Calibri"/>
              </a:rPr>
              <a:t>0.3 m</a:t>
            </a:r>
            <a:r>
              <a:rPr sz="1600" b="0">
                <a:solidFill>
                  <a:srgbClr val="1E2A32"/>
                </a:solidFill>
                <a:latin typeface="Calibri"/>
              </a:rPr>
              <a:t> cho GICP – thử 0.2 / 0.3 / 0.5 m: nhiễu chỉ đổi ≤ 0.04 m, 0.2 m chậm gấp 3</a:t>
            </a:r>
          </a:p>
          <a:p>
            <a:pPr algn="l">
              <a:spcAft>
                <a:spcPts val="800"/>
              </a:spcAft>
            </a:pPr>
            <a:r>
              <a:rPr sz="1600" b="1">
                <a:solidFill>
                  <a:srgbClr val="137C8B"/>
                </a:solidFill>
                <a:latin typeface="Calibri"/>
              </a:rPr>
              <a:t>• </a:t>
            </a:r>
            <a:r>
              <a:rPr sz="1600" b="0">
                <a:solidFill>
                  <a:srgbClr val="1E2A32"/>
                </a:solidFill>
                <a:latin typeface="Calibri"/>
              </a:rPr>
              <a:t>Thứ quan trọng hơn là </a:t>
            </a:r>
            <a:r>
              <a:rPr sz="1600" b="1">
                <a:solidFill>
                  <a:srgbClr val="14242E"/>
                </a:solidFill>
                <a:latin typeface="Calibri"/>
              </a:rPr>
              <a:t>tầm point cloud ≤ 20 m</a:t>
            </a:r>
            <a:r>
              <a:rPr sz="1600" b="0">
                <a:solidFill>
                  <a:srgbClr val="1E2A32"/>
                </a:solidFill>
                <a:latin typeface="Calibri"/>
              </a:rPr>
              <a:t>. Bản đồ phụ: trường xác suất (vật cao 0.4–3 m) cho CSM; raster vạch sơn (cường độ LiDAR, white top-hat 0.7 m)</a:t>
            </a:r>
          </a:p>
        </p:txBody>
      </p:sp>
      <p:pic>
        <p:nvPicPr>
          <p:cNvPr id="7" name="Picture 6" descr="x13_map_voxel.png"/>
          <p:cNvPicPr>
            <a:picLocks noChangeAspect="1"/>
          </p:cNvPicPr>
          <p:nvPr/>
        </p:nvPicPr>
        <p:blipFill>
          <a:blip r:embed="rId3"/>
          <a:stretch>
            <a:fillRect/>
          </a:stretch>
        </p:blipFill>
        <p:spPr>
          <a:xfrm>
            <a:off x="502920" y="2697606"/>
            <a:ext cx="11155679" cy="356590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Xử lý point cloud từ ảnh: tỉ lệ, tầm, bộ lọc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9</a:t>
            </a:r>
          </a:p>
        </p:txBody>
      </p:sp>
      <p:sp>
        <p:nvSpPr>
          <p:cNvPr id="6" name="TextBox 5"/>
          <p:cNvSpPr txBox="1"/>
          <p:nvPr/>
        </p:nvSpPr>
        <p:spPr>
          <a:xfrm>
            <a:off x="502920" y="1325880"/>
            <a:ext cx="11155680" cy="132588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1">
                <a:solidFill>
                  <a:srgbClr val="14242E"/>
                </a:solidFill>
                <a:latin typeface="Calibri"/>
              </a:rPr>
              <a:t>Tỉ lệ mỗi frame</a:t>
            </a:r>
            <a:r>
              <a:rPr sz="1500" b="0">
                <a:solidFill>
                  <a:srgbClr val="1E2A32"/>
                </a:solidFill>
                <a:latin typeface="Calibri"/>
              </a:rPr>
              <a:t> = 1.646 m / độ cao mặt đường (trung vị 57 frame ~2 s; Track03 chỉ dùng frame đã qua). </a:t>
            </a:r>
            <a:r>
              <a:rPr sz="1500" b="1">
                <a:solidFill>
                  <a:srgbClr val="14242E"/>
                </a:solidFill>
                <a:latin typeface="Calibri"/>
              </a:rPr>
              <a:t>Tầm ≤ 20 m:</a:t>
            </a:r>
            <a:r>
              <a:rPr sz="1500" b="0">
                <a:solidFill>
                  <a:srgbClr val="1E2A32"/>
                </a:solidFill>
                <a:latin typeface="Calibri"/>
              </a:rPr>
              <a:t> Track01 0.80 → 0.63</a:t>
            </a:r>
          </a:p>
          <a:p>
            <a:pPr algn="l">
              <a:spcAft>
                <a:spcPts val="800"/>
              </a:spcAft>
            </a:pPr>
            <a:r>
              <a:rPr sz="1500" b="1">
                <a:solidFill>
                  <a:srgbClr val="137C8B"/>
                </a:solidFill>
                <a:latin typeface="Calibri"/>
              </a:rPr>
              <a:t>• </a:t>
            </a:r>
            <a:r>
              <a:rPr sz="1500" b="0">
                <a:solidFill>
                  <a:srgbClr val="1E2A32"/>
                </a:solidFill>
                <a:latin typeface="Calibri"/>
              </a:rPr>
              <a:t>Mặt nạ capo: point cloud 3 camera chỉ 0.5–2 % điểm trong vùng capo → không cần cho GICP, </a:t>
            </a:r>
            <a:r>
              <a:rPr sz="1500" b="1">
                <a:solidFill>
                  <a:srgbClr val="14242E"/>
                </a:solidFill>
                <a:latin typeface="Calibri"/>
              </a:rPr>
              <a:t>có dùng</a:t>
            </a:r>
            <a:r>
              <a:rPr sz="1500" b="0">
                <a:solidFill>
                  <a:srgbClr val="1E2A32"/>
                </a:solidFill>
                <a:latin typeface="Calibri"/>
              </a:rPr>
              <a:t> khi chiếu ảnh. Lọc điểm lạc: kém đi (0.714 → 0.764 m). Bỏ mặt đường: GICP chỉ hội tụ 30 %</a:t>
            </a:r>
          </a:p>
        </p:txBody>
      </p:sp>
      <p:pic>
        <p:nvPicPr>
          <p:cNvPr id="7" name="Picture 6" descr="x15_scale_x3.png"/>
          <p:cNvPicPr>
            <a:picLocks noChangeAspect="1"/>
          </p:cNvPicPr>
          <p:nvPr/>
        </p:nvPicPr>
        <p:blipFill>
          <a:blip r:embed="rId3"/>
          <a:stretch>
            <a:fillRect/>
          </a:stretch>
        </p:blipFill>
        <p:spPr>
          <a:xfrm>
            <a:off x="2216813" y="2697479"/>
            <a:ext cx="7727893" cy="3657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Khớp quét: NDT → GICP, thô rồi tinh</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10</a:t>
            </a:r>
          </a:p>
        </p:txBody>
      </p:sp>
      <p:sp>
        <p:nvSpPr>
          <p:cNvPr id="6" name="TextBox 5"/>
          <p:cNvSpPr txBox="1"/>
          <p:nvPr/>
        </p:nvSpPr>
        <p:spPr>
          <a:xfrm>
            <a:off x="502920" y="1325880"/>
            <a:ext cx="11155680" cy="132588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1">
                <a:solidFill>
                  <a:srgbClr val="14242E"/>
                </a:solidFill>
                <a:latin typeface="Calibri"/>
              </a:rPr>
              <a:t>NDT</a:t>
            </a:r>
            <a:r>
              <a:rPr sz="1500" b="0">
                <a:solidFill>
                  <a:srgbClr val="1E2A32"/>
                </a:solidFill>
                <a:latin typeface="Calibri"/>
              </a:rPr>
              <a:t> sau khi sửa tỉ lệ và ô 4 m: ổn định nhưng kém GNSS. </a:t>
            </a:r>
            <a:r>
              <a:rPr sz="1500" b="1">
                <a:solidFill>
                  <a:srgbClr val="14242E"/>
                </a:solidFill>
                <a:latin typeface="Calibri"/>
              </a:rPr>
              <a:t>GICP</a:t>
            </a:r>
            <a:r>
              <a:rPr sz="1500" b="0">
                <a:solidFill>
                  <a:srgbClr val="1E2A32"/>
                </a:solidFill>
                <a:latin typeface="Calibri"/>
              </a:rPr>
              <a:t> (small_gicp): nhanh hơn ~200 lần, chính xác hơn (0.803 so với 0.836 m); chỉ </a:t>
            </a:r>
            <a:r>
              <a:rPr sz="1500" b="1">
                <a:solidFill>
                  <a:srgbClr val="14242E"/>
                </a:solidFill>
                <a:latin typeface="Calibri"/>
              </a:rPr>
              <a:t>2 lượt</a:t>
            </a:r>
            <a:r>
              <a:rPr sz="1500" b="0">
                <a:solidFill>
                  <a:srgbClr val="1E2A32"/>
                </a:solidFill>
                <a:latin typeface="Calibri"/>
              </a:rPr>
              <a:t> và </a:t>
            </a:r>
            <a:r>
              <a:rPr sz="1500" b="1">
                <a:solidFill>
                  <a:srgbClr val="14242E"/>
                </a:solidFill>
                <a:latin typeface="Calibri"/>
              </a:rPr>
              <a:t>trừ lệch trung bình</a:t>
            </a:r>
          </a:p>
          <a:p>
            <a:pPr algn="l">
              <a:spcAft>
                <a:spcPts val="800"/>
              </a:spcAft>
            </a:pPr>
            <a:r>
              <a:rPr sz="1500" b="1">
                <a:solidFill>
                  <a:srgbClr val="137C8B"/>
                </a:solidFill>
                <a:latin typeface="Calibri"/>
              </a:rPr>
              <a:t>• </a:t>
            </a:r>
            <a:r>
              <a:rPr sz="1500" b="0">
                <a:solidFill>
                  <a:srgbClr val="1E2A32"/>
                </a:solidFill>
                <a:latin typeface="Calibri"/>
              </a:rPr>
              <a:t>Hình: cùng một frame Track01, màu = khoảng cách từ điểm point cloud ảnh tới bản đồ. Track03 khớp thô bằng </a:t>
            </a:r>
            <a:r>
              <a:rPr sz="1500" b="1">
                <a:solidFill>
                  <a:srgbClr val="14242E"/>
                </a:solidFill>
                <a:latin typeface="Calibri"/>
              </a:rPr>
              <a:t>CSM ±15 m</a:t>
            </a:r>
            <a:r>
              <a:rPr sz="1500" b="0">
                <a:solidFill>
                  <a:srgbClr val="1E2A32"/>
                </a:solidFill>
                <a:latin typeface="Calibri"/>
              </a:rPr>
              <a:t> rồi mới GICP; tầng cuối là </a:t>
            </a:r>
            <a:r>
              <a:rPr sz="1500" b="1">
                <a:solidFill>
                  <a:srgbClr val="14242E"/>
                </a:solidFill>
                <a:latin typeface="Calibri"/>
              </a:rPr>
              <a:t>khớp vạch sơn</a:t>
            </a:r>
          </a:p>
        </p:txBody>
      </p:sp>
      <p:pic>
        <p:nvPicPr>
          <p:cNvPr id="7" name="Picture 6" descr="x03_t1_gicp.png"/>
          <p:cNvPicPr>
            <a:picLocks noChangeAspect="1"/>
          </p:cNvPicPr>
          <p:nvPr/>
        </p:nvPicPr>
        <p:blipFill>
          <a:blip r:embed="rId3"/>
          <a:stretch>
            <a:fillRect/>
          </a:stretch>
        </p:blipFill>
        <p:spPr>
          <a:xfrm>
            <a:off x="2068923" y="2697480"/>
            <a:ext cx="8023673" cy="365759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2 – Pipeline · slide 2.6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Cập nhật trạng thái: bộ lọc, IMU, khi khớp thất bại</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11</a:t>
            </a:r>
          </a:p>
        </p:txBody>
      </p:sp>
      <p:sp>
        <p:nvSpPr>
          <p:cNvPr id="6" name="TextBox 5"/>
          <p:cNvSpPr txBox="1"/>
          <p:nvPr/>
        </p:nvSpPr>
        <p:spPr>
          <a:xfrm>
            <a:off x="502920" y="1325880"/>
            <a:ext cx="11155680" cy="132588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1">
                <a:solidFill>
                  <a:srgbClr val="14242E"/>
                </a:solidFill>
                <a:latin typeface="Calibri"/>
              </a:rPr>
              <a:t>Track01/02:</a:t>
            </a:r>
            <a:r>
              <a:rPr sz="1500" b="0">
                <a:solidFill>
                  <a:srgbClr val="1E2A32"/>
                </a:solidFill>
                <a:latin typeface="Calibri"/>
              </a:rPr>
              <a:t> EKF + RTS (CTRV, nhiễu theo maximum likelihood) – </a:t>
            </a:r>
            <a:r>
              <a:rPr sz="1500" b="1">
                <a:solidFill>
                  <a:srgbClr val="14242E"/>
                </a:solidFill>
                <a:latin typeface="Calibri"/>
              </a:rPr>
              <a:t>có làm mượt ngược, không nhân quả</a:t>
            </a:r>
            <a:r>
              <a:rPr sz="1500" b="0">
                <a:solidFill>
                  <a:srgbClr val="1E2A32"/>
                </a:solidFill>
                <a:latin typeface="Calibri"/>
              </a:rPr>
              <a:t>. </a:t>
            </a:r>
            <a:r>
              <a:rPr sz="1500" b="1">
                <a:solidFill>
                  <a:srgbClr val="14242E"/>
                </a:solidFill>
                <a:latin typeface="Calibri"/>
              </a:rPr>
              <a:t>Track03 (nhân quả):</a:t>
            </a:r>
            <a:r>
              <a:rPr sz="1500" b="0">
                <a:solidFill>
                  <a:srgbClr val="1E2A32"/>
                </a:solidFill>
                <a:latin typeface="Calibri"/>
              </a:rPr>
              <a:t> Kalman vị trí, cổng 3σ; lọc tốc độ IMU; ZUPT; gyro chiếu theo trọng lực</a:t>
            </a:r>
          </a:p>
          <a:p>
            <a:pPr algn="l">
              <a:spcAft>
                <a:spcPts val="800"/>
              </a:spcAft>
            </a:pPr>
            <a:r>
              <a:rPr sz="1500" b="1">
                <a:solidFill>
                  <a:srgbClr val="137C8B"/>
                </a:solidFill>
                <a:latin typeface="Calibri"/>
              </a:rPr>
              <a:t>• </a:t>
            </a:r>
            <a:r>
              <a:rPr sz="1500" b="0">
                <a:solidFill>
                  <a:srgbClr val="1E2A32"/>
                </a:solidFill>
                <a:latin typeface="Calibri"/>
              </a:rPr>
              <a:t>Khớp bị loại → chỉ dự đoán; đứng yên → không cập nhật GICP; khởi đầu: nhiều giả thuyết yaw, mỗi frame xuất giả thuyết tốt nhất tại frame đó</a:t>
            </a:r>
          </a:p>
        </p:txBody>
      </p:sp>
      <p:pic>
        <p:nvPicPr>
          <p:cNvPr id="7" name="Picture 6" descr="x12_t3_mht.png"/>
          <p:cNvPicPr>
            <a:picLocks noChangeAspect="1"/>
          </p:cNvPicPr>
          <p:nvPr/>
        </p:nvPicPr>
        <p:blipFill>
          <a:blip r:embed="rId3"/>
          <a:stretch>
            <a:fillRect/>
          </a:stretch>
        </p:blipFill>
        <p:spPr>
          <a:xfrm>
            <a:off x="947828" y="2697480"/>
            <a:ext cx="4596583" cy="3703320"/>
          </a:xfrm>
          <a:prstGeom prst="rect">
            <a:avLst/>
          </a:prstGeom>
        </p:spPr>
      </p:pic>
      <p:pic>
        <p:nvPicPr>
          <p:cNvPr id="8" name="Picture 7" descr="x09_t3_zupt.png"/>
          <p:cNvPicPr>
            <a:picLocks noChangeAspect="1"/>
          </p:cNvPicPr>
          <p:nvPr/>
        </p:nvPicPr>
        <p:blipFill>
          <a:blip r:embed="rId4"/>
          <a:stretch>
            <a:fillRect/>
          </a:stretch>
        </p:blipFill>
        <p:spPr>
          <a:xfrm>
            <a:off x="6172200" y="3161774"/>
            <a:ext cx="5486400" cy="277473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3 – Chiến thuật thi đấu · slide 3.1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Cách làm: từ baseline, mỗi lần đổi một thứ</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12</a:t>
            </a:r>
          </a:p>
        </p:txBody>
      </p:sp>
      <p:sp>
        <p:nvSpPr>
          <p:cNvPr id="6" name="Oval 5"/>
          <p:cNvSpPr/>
          <p:nvPr/>
        </p:nvSpPr>
        <p:spPr>
          <a:xfrm>
            <a:off x="640080" y="1691640"/>
            <a:ext cx="1828800" cy="182880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Giả thuyết
ghi trước</a:t>
            </a:r>
          </a:p>
        </p:txBody>
      </p:sp>
      <p:sp>
        <p:nvSpPr>
          <p:cNvPr id="7" name="TextBox 6"/>
          <p:cNvSpPr txBox="1"/>
          <p:nvPr/>
        </p:nvSpPr>
        <p:spPr>
          <a:xfrm>
            <a:off x="2487168" y="2377439"/>
            <a:ext cx="411480" cy="457200"/>
          </a:xfrm>
          <a:prstGeom prst="rect">
            <a:avLst/>
          </a:prstGeom>
          <a:noFill/>
        </p:spPr>
        <p:txBody>
          <a:bodyPr wrap="square" anchor="t" lIns="0" rIns="0" tIns="0" bIns="0">
            <a:spAutoFit/>
          </a:bodyPr>
          <a:lstStyle/>
          <a:p>
            <a:pPr algn="l">
              <a:spcAft>
                <a:spcPts val="600"/>
              </a:spcAft>
            </a:pPr>
            <a:r>
              <a:rPr sz="2800" b="1">
                <a:solidFill>
                  <a:srgbClr val="E89B2B"/>
                </a:solidFill>
                <a:latin typeface="Calibri"/>
              </a:rPr>
              <a:t>→</a:t>
            </a:r>
          </a:p>
        </p:txBody>
      </p:sp>
      <p:sp>
        <p:nvSpPr>
          <p:cNvPr id="8" name="Oval 7"/>
          <p:cNvSpPr/>
          <p:nvPr/>
        </p:nvSpPr>
        <p:spPr>
          <a:xfrm>
            <a:off x="2926080" y="1691640"/>
            <a:ext cx="1828800" cy="1828800"/>
          </a:xfrm>
          <a:prstGeom prst="ellipse">
            <a:avLst/>
          </a:prstGeom>
          <a:solidFill>
            <a:srgbClr val="1424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Đổi đúng
1 tham số</a:t>
            </a:r>
          </a:p>
        </p:txBody>
      </p:sp>
      <p:sp>
        <p:nvSpPr>
          <p:cNvPr id="9" name="TextBox 8"/>
          <p:cNvSpPr txBox="1"/>
          <p:nvPr/>
        </p:nvSpPr>
        <p:spPr>
          <a:xfrm>
            <a:off x="4773168" y="2377439"/>
            <a:ext cx="411480" cy="457200"/>
          </a:xfrm>
          <a:prstGeom prst="rect">
            <a:avLst/>
          </a:prstGeom>
          <a:noFill/>
        </p:spPr>
        <p:txBody>
          <a:bodyPr wrap="square" anchor="t" lIns="0" rIns="0" tIns="0" bIns="0">
            <a:spAutoFit/>
          </a:bodyPr>
          <a:lstStyle/>
          <a:p>
            <a:pPr algn="l">
              <a:spcAft>
                <a:spcPts val="600"/>
              </a:spcAft>
            </a:pPr>
            <a:r>
              <a:rPr sz="2800" b="1">
                <a:solidFill>
                  <a:srgbClr val="E89B2B"/>
                </a:solidFill>
                <a:latin typeface="Calibri"/>
              </a:rPr>
              <a:t>→</a:t>
            </a:r>
          </a:p>
        </p:txBody>
      </p:sp>
      <p:sp>
        <p:nvSpPr>
          <p:cNvPr id="10" name="Oval 9"/>
          <p:cNvSpPr/>
          <p:nvPr/>
        </p:nvSpPr>
        <p:spPr>
          <a:xfrm>
            <a:off x="5212080" y="1691640"/>
            <a:ext cx="1828800" cy="182880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Kiểm tra offline
(bản đồ, IMU, Track01/02)</a:t>
            </a:r>
          </a:p>
        </p:txBody>
      </p:sp>
      <p:sp>
        <p:nvSpPr>
          <p:cNvPr id="11" name="TextBox 10"/>
          <p:cNvSpPr txBox="1"/>
          <p:nvPr/>
        </p:nvSpPr>
        <p:spPr>
          <a:xfrm>
            <a:off x="7059168" y="2377439"/>
            <a:ext cx="411480" cy="457200"/>
          </a:xfrm>
          <a:prstGeom prst="rect">
            <a:avLst/>
          </a:prstGeom>
          <a:noFill/>
        </p:spPr>
        <p:txBody>
          <a:bodyPr wrap="square" anchor="t" lIns="0" rIns="0" tIns="0" bIns="0">
            <a:spAutoFit/>
          </a:bodyPr>
          <a:lstStyle/>
          <a:p>
            <a:pPr algn="l">
              <a:spcAft>
                <a:spcPts val="600"/>
              </a:spcAft>
            </a:pPr>
            <a:r>
              <a:rPr sz="2800" b="1">
                <a:solidFill>
                  <a:srgbClr val="E89B2B"/>
                </a:solidFill>
                <a:latin typeface="Calibri"/>
              </a:rPr>
              <a:t>→</a:t>
            </a:r>
          </a:p>
        </p:txBody>
      </p:sp>
      <p:sp>
        <p:nvSpPr>
          <p:cNvPr id="12" name="Oval 11"/>
          <p:cNvSpPr/>
          <p:nvPr/>
        </p:nvSpPr>
        <p:spPr>
          <a:xfrm>
            <a:off x="7498079" y="1691640"/>
            <a:ext cx="1828800" cy="1828800"/>
          </a:xfrm>
          <a:prstGeom prst="ellipse">
            <a:avLst/>
          </a:prstGeom>
          <a:solidFill>
            <a:srgbClr val="1424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Nộp Kaggle
(≤ 3 file, được duyệt)</a:t>
            </a:r>
          </a:p>
        </p:txBody>
      </p:sp>
      <p:sp>
        <p:nvSpPr>
          <p:cNvPr id="13" name="TextBox 12"/>
          <p:cNvSpPr txBox="1"/>
          <p:nvPr/>
        </p:nvSpPr>
        <p:spPr>
          <a:xfrm>
            <a:off x="9345167" y="2377439"/>
            <a:ext cx="411480" cy="457200"/>
          </a:xfrm>
          <a:prstGeom prst="rect">
            <a:avLst/>
          </a:prstGeom>
          <a:noFill/>
        </p:spPr>
        <p:txBody>
          <a:bodyPr wrap="square" anchor="t" lIns="0" rIns="0" tIns="0" bIns="0">
            <a:spAutoFit/>
          </a:bodyPr>
          <a:lstStyle/>
          <a:p>
            <a:pPr algn="l">
              <a:spcAft>
                <a:spcPts val="600"/>
              </a:spcAft>
            </a:pPr>
            <a:r>
              <a:rPr sz="2800" b="1">
                <a:solidFill>
                  <a:srgbClr val="E89B2B"/>
                </a:solidFill>
                <a:latin typeface="Calibri"/>
              </a:rPr>
              <a:t>→</a:t>
            </a:r>
          </a:p>
        </p:txBody>
      </p:sp>
      <p:sp>
        <p:nvSpPr>
          <p:cNvPr id="14" name="Oval 13"/>
          <p:cNvSpPr/>
          <p:nvPr/>
        </p:nvSpPr>
        <p:spPr>
          <a:xfrm>
            <a:off x="9784080" y="1691640"/>
            <a:ext cx="1828800" cy="1828800"/>
          </a:xfrm>
          <a:prstGeom prst="ellipse">
            <a:avLst/>
          </a:prstGeom>
          <a:solidFill>
            <a:srgbClr val="137C8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Ghi nhật ký
+ kết luận</a:t>
            </a:r>
          </a:p>
        </p:txBody>
      </p:sp>
      <p:sp>
        <p:nvSpPr>
          <p:cNvPr id="15" name="TextBox 14"/>
          <p:cNvSpPr txBox="1"/>
          <p:nvPr/>
        </p:nvSpPr>
        <p:spPr>
          <a:xfrm>
            <a:off x="548640" y="3886200"/>
            <a:ext cx="11064240" cy="2560320"/>
          </a:xfrm>
          <a:prstGeom prst="rect">
            <a:avLst/>
          </a:prstGeom>
          <a:noFill/>
        </p:spPr>
        <p:txBody>
          <a:bodyPr wrap="square" anchor="t" lIns="0" rIns="0" tIns="0" bIns="0">
            <a:spAutoFit/>
          </a:bodyPr>
          <a:lstStyle/>
          <a:p>
            <a:pPr algn="l">
              <a:spcAft>
                <a:spcPts val="800"/>
              </a:spcAft>
            </a:pPr>
            <a:r>
              <a:rPr sz="1500" b="1">
                <a:solidFill>
                  <a:srgbClr val="137C8B"/>
                </a:solidFill>
                <a:latin typeface="Calibri"/>
              </a:rPr>
              <a:t>• </a:t>
            </a:r>
            <a:r>
              <a:rPr sz="1500" b="0">
                <a:solidFill>
                  <a:srgbClr val="1E2A32"/>
                </a:solidFill>
                <a:latin typeface="Calibri"/>
              </a:rPr>
              <a:t>Ngày đầu: chạy code mẫu → trôi, nộp được </a:t>
            </a:r>
            <a:r>
              <a:rPr sz="1500" b="1">
                <a:solidFill>
                  <a:srgbClr val="14242E"/>
                </a:solidFill>
                <a:latin typeface="Calibri"/>
              </a:rPr>
              <a:t>602.39</a:t>
            </a:r>
            <a:r>
              <a:rPr sz="1500" b="0">
                <a:solidFill>
                  <a:srgbClr val="1E2A32"/>
                </a:solidFill>
                <a:latin typeface="Calibri"/>
              </a:rPr>
              <a:t>; nộp thử GNSS → </a:t>
            </a:r>
            <a:r>
              <a:rPr sz="1500" b="1">
                <a:solidFill>
                  <a:srgbClr val="14242E"/>
                </a:solidFill>
                <a:latin typeface="Calibri"/>
              </a:rPr>
              <a:t>1.31 / 0.57</a:t>
            </a:r>
            <a:r>
              <a:rPr sz="1500" b="0">
                <a:solidFill>
                  <a:srgbClr val="1E2A32"/>
                </a:solidFill>
                <a:latin typeface="Calibri"/>
              </a:rPr>
              <a:t> → GNSS làm nền cho Track01/02</a:t>
            </a:r>
          </a:p>
          <a:p>
            <a:pPr algn="l">
              <a:spcAft>
                <a:spcPts val="800"/>
              </a:spcAft>
            </a:pPr>
            <a:r>
              <a:rPr sz="1500" b="1">
                <a:solidFill>
                  <a:srgbClr val="137C8B"/>
                </a:solidFill>
                <a:latin typeface="Calibri"/>
              </a:rPr>
              <a:t>• </a:t>
            </a:r>
            <a:r>
              <a:rPr sz="1500" b="0">
                <a:solidFill>
                  <a:srgbClr val="1E2A32"/>
                </a:solidFill>
                <a:latin typeface="Calibri"/>
              </a:rPr>
              <a:t>Không có đáp án → thước đo offline: độ khớp bản đồ (Spearman với Kaggle +0.92 / +0.67), tích phân IMU, chạy thuật toán Track03 trên Track01/02 như không có GNSS, so camera trước với camera bên</a:t>
            </a:r>
          </a:p>
          <a:p>
            <a:pPr algn="l">
              <a:spcAft>
                <a:spcPts val="800"/>
              </a:spcAft>
            </a:pPr>
            <a:r>
              <a:rPr sz="1500" b="1">
                <a:solidFill>
                  <a:srgbClr val="137C8B"/>
                </a:solidFill>
                <a:latin typeface="Calibri"/>
              </a:rPr>
              <a:t>• </a:t>
            </a:r>
            <a:r>
              <a:rPr sz="1500" b="0">
                <a:solidFill>
                  <a:srgbClr val="1E2A32"/>
                </a:solidFill>
                <a:latin typeface="Calibri"/>
              </a:rPr>
              <a:t>Bảng điểm chỉ dùng như phép đo ở Track01/02 (TA cho phép) – không bao giờ ở Track03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3 – Chiến thuật thi đấu · slide 3.2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Công cụ: bot Kaggle, Claude Code, quản lý phiên bản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13</a:t>
            </a:r>
          </a:p>
        </p:txBody>
      </p:sp>
      <p:sp>
        <p:nvSpPr>
          <p:cNvPr id="6" name="TextBox 5"/>
          <p:cNvSpPr txBox="1"/>
          <p:nvPr/>
        </p:nvSpPr>
        <p:spPr>
          <a:xfrm>
            <a:off x="502920" y="1325880"/>
            <a:ext cx="11155680" cy="278892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1">
                <a:solidFill>
                  <a:srgbClr val="14242E"/>
                </a:solidFill>
                <a:latin typeface="Calibri"/>
              </a:rPr>
              <a:t>Bot Kaggle</a:t>
            </a:r>
            <a:r>
              <a:rPr sz="1600" b="0">
                <a:solidFill>
                  <a:srgbClr val="1E2A32"/>
                </a:solidFill>
                <a:latin typeface="Calibri"/>
              </a:rPr>
              <a:t> (mochihat/kaggle-sdc-bot, chỉ thư viện chuẩn): status, check (số dòng, yaw radian, khoảng cách tới quỹ đạo tham chiếu → bắt nộp nhầm track), submit, run (cron 30 phút, ≤ 3 file/lần, 15/ngày)</a:t>
            </a:r>
          </a:p>
          <a:p>
            <a:pPr algn="l">
              <a:spcAft>
                <a:spcPts val="800"/>
              </a:spcAft>
            </a:pPr>
            <a:r>
              <a:rPr sz="1600" b="1">
                <a:solidFill>
                  <a:srgbClr val="137C8B"/>
                </a:solidFill>
                <a:latin typeface="Calibri"/>
              </a:rPr>
              <a:t>• </a:t>
            </a:r>
            <a:r>
              <a:rPr sz="1600" b="1">
                <a:solidFill>
                  <a:srgbClr val="14242E"/>
                </a:solidFill>
                <a:latin typeface="Calibri"/>
              </a:rPr>
              <a:t>Claude Code:</a:t>
            </a:r>
            <a:r>
              <a:rPr sz="1600" b="0">
                <a:solidFill>
                  <a:srgbClr val="1E2A32"/>
                </a:solidFill>
                <a:latin typeface="Calibri"/>
              </a:rPr>
              <a:t> brief đánh số nhiệm vụ (T0–T13), CLAUDE.md để bàn giao giữa các phiên, nhật ký 13 file, commit sau mỗi nhiệm vụ; AI không bao giờ nộp khi chưa có "cho phép nộp"</a:t>
            </a:r>
          </a:p>
          <a:p>
            <a:pPr algn="l">
              <a:spcAft>
                <a:spcPts val="800"/>
              </a:spcAft>
            </a:pPr>
            <a:r>
              <a:rPr sz="1600" b="1">
                <a:solidFill>
                  <a:srgbClr val="137C8B"/>
                </a:solidFill>
                <a:latin typeface="Calibri"/>
              </a:rPr>
              <a:t>• </a:t>
            </a:r>
            <a:r>
              <a:rPr sz="1600" b="1">
                <a:solidFill>
                  <a:srgbClr val="14242E"/>
                </a:solidFill>
                <a:latin typeface="Calibri"/>
              </a:rPr>
              <a:t>Git:</a:t>
            </a:r>
            <a:r>
              <a:rPr sz="1600" b="0">
                <a:solidFill>
                  <a:srgbClr val="1E2A32"/>
                </a:solidFill>
                <a:latin typeface="Calibri"/>
              </a:rPr>
              <a:t> 97+ commit, commit đầu = code mẫu nguyên gốc; mọi file đã nộp được lưu và tạo lại được từng byte</a:t>
            </a:r>
          </a:p>
        </p:txBody>
      </p:sp>
      <p:sp>
        <p:nvSpPr>
          <p:cNvPr id="7" name="Rounded Rectangle 6"/>
          <p:cNvSpPr/>
          <p:nvPr/>
        </p:nvSpPr>
        <p:spPr>
          <a:xfrm>
            <a:off x="502920" y="4297680"/>
            <a:ext cx="11155680" cy="2057400"/>
          </a:xfrm>
          <a:prstGeom prst="roundRect">
            <a:avLst>
              <a:gd name="adj" fmla="val 6000"/>
            </a:avLst>
          </a:prstGeom>
          <a:solidFill>
            <a:srgbClr val="22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434840"/>
            <a:ext cx="10789919" cy="1783080"/>
          </a:xfrm>
          <a:prstGeom prst="rect">
            <a:avLst/>
          </a:prstGeom>
          <a:noFill/>
        </p:spPr>
        <p:txBody>
          <a:bodyPr wrap="square" anchor="t" lIns="0" rIns="0" tIns="0" bIns="0">
            <a:spAutoFit/>
          </a:bodyPr>
          <a:lstStyle/>
          <a:p>
            <a:pPr algn="l">
              <a:spcAft>
                <a:spcPts val="200"/>
              </a:spcAft>
            </a:pPr>
            <a:r>
              <a:rPr sz="1200" b="0">
                <a:solidFill>
                  <a:srgbClr val="E6EDF0"/>
                </a:solidFill>
                <a:latin typeface="Consolas"/>
              </a:rPr>
              <a:t>$ python3 bot.py status</a:t>
            </a:r>
          </a:p>
          <a:p>
            <a:pPr algn="l">
              <a:spcAft>
                <a:spcPts val="200"/>
              </a:spcAft>
            </a:pPr>
            <a:r>
              <a:rPr sz="1200" b="0">
                <a:solidFill>
                  <a:srgbClr val="E6EDF0"/>
                </a:solidFill>
                <a:latin typeface="Consolas"/>
              </a:rPr>
              <a:t>== Track3 (sdc-2026-localization-track-03)</a:t>
            </a:r>
          </a:p>
          <a:p>
            <a:pPr algn="l">
              <a:spcAft>
                <a:spcPts val="200"/>
              </a:spcAft>
            </a:pPr>
            <a:r>
              <a:rPr sz="1200" b="0">
                <a:solidFill>
                  <a:srgbClr val="E6EDF0"/>
                </a:solidFill>
                <a:latin typeface="Consolas"/>
              </a:rPr>
              <a:t>   1. team 12   0.24000</a:t>
            </a:r>
          </a:p>
          <a:p>
            <a:pPr algn="l">
              <a:spcAft>
                <a:spcPts val="200"/>
              </a:spcAft>
            </a:pPr>
            <a:r>
              <a:rPr sz="1200" b="0">
                <a:solidFill>
                  <a:srgbClr val="E6EDF0"/>
                </a:solidFill>
                <a:latin typeface="Consolas"/>
              </a:rPr>
              <a:t>   2. team 11   0.28000   &lt;== us</a:t>
            </a:r>
          </a:p>
          <a:p>
            <a:pPr algn="l">
              <a:spcAft>
                <a:spcPts val="200"/>
              </a:spcAft>
            </a:pPr>
            <a:r>
              <a:rPr sz="1200" b="0">
                <a:solidFill>
                  <a:srgbClr val="E6EDF0"/>
                </a:solidFill>
                <a:latin typeface="Consolas"/>
              </a:rPr>
              <a:t>   3. team 3    0.49000</a:t>
            </a:r>
          </a:p>
          <a:p>
            <a:pPr algn="l">
              <a:spcAft>
                <a:spcPts val="200"/>
              </a:spcAft>
            </a:pPr>
            <a:r>
              <a:rPr sz="1200" b="0">
                <a:solidFill>
                  <a:srgbClr val="E6EDF0"/>
                </a:solidFill>
                <a:latin typeface="Consolas"/>
              </a:rPr>
              <a:t>$ python3 bot.py check 2 gnss_1.csv      →  (False, '3011 rows, expected 3299')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3 – Chiến thuật thi đấu · slide 3.3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Track01/02: điểm tốt nhất theo thời gian, theo nguồn gốc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14</a:t>
            </a:r>
          </a:p>
        </p:txBody>
      </p:sp>
      <p:pic>
        <p:nvPicPr>
          <p:cNvPr id="6" name="Picture 5" descr="timeline_t1t2.png"/>
          <p:cNvPicPr>
            <a:picLocks noChangeAspect="1"/>
          </p:cNvPicPr>
          <p:nvPr/>
        </p:nvPicPr>
        <p:blipFill>
          <a:blip r:embed="rId3"/>
          <a:stretch>
            <a:fillRect/>
          </a:stretch>
        </p:blipFill>
        <p:spPr>
          <a:xfrm>
            <a:off x="502920" y="1518605"/>
            <a:ext cx="11155680" cy="4277989"/>
          </a:xfrm>
          <a:prstGeom prst="rect">
            <a:avLst/>
          </a:prstGeom>
        </p:spPr>
      </p:pic>
      <p:sp>
        <p:nvSpPr>
          <p:cNvPr id="7" name="TextBox 6"/>
          <p:cNvSpPr txBox="1"/>
          <p:nvPr/>
        </p:nvSpPr>
        <p:spPr>
          <a:xfrm>
            <a:off x="502920" y="6035040"/>
            <a:ext cx="11155680" cy="365760"/>
          </a:xfrm>
          <a:prstGeom prst="rect">
            <a:avLst/>
          </a:prstGeom>
          <a:noFill/>
        </p:spPr>
        <p:txBody>
          <a:bodyPr wrap="square" anchor="t" lIns="0" rIns="0" tIns="0" bIns="0">
            <a:spAutoFit/>
          </a:bodyPr>
          <a:lstStyle/>
          <a:p>
            <a:pPr algn="l">
              <a:spcAft>
                <a:spcPts val="600"/>
              </a:spcAft>
            </a:pPr>
            <a:r>
              <a:rPr sz="1300" b="0">
                <a:solidFill>
                  <a:srgbClr val="1E2A32"/>
                </a:solidFill>
                <a:latin typeface="Calibri"/>
              </a:rPr>
              <a:t>Pipeline thuần: </a:t>
            </a:r>
            <a:r>
              <a:rPr sz="1300" b="1">
                <a:solidFill>
                  <a:srgbClr val="14242E"/>
                </a:solidFill>
                <a:latin typeface="Calibri"/>
              </a:rPr>
              <a:t>0.51 / 0.24</a:t>
            </a:r>
            <a:r>
              <a:rPr sz="1300" b="0">
                <a:solidFill>
                  <a:srgbClr val="1E2A32"/>
                </a:solidFill>
                <a:latin typeface="Calibri"/>
              </a:rPr>
              <a:t>. Có dò bảng điểm: </a:t>
            </a:r>
            <a:r>
              <a:rPr sz="1300" b="1">
                <a:solidFill>
                  <a:srgbClr val="14242E"/>
                </a:solidFill>
                <a:latin typeface="Calibri"/>
              </a:rPr>
              <a:t>0.36 / 0.11</a:t>
            </a:r>
            <a:r>
              <a:rPr sz="1300" b="0">
                <a:solidFill>
                  <a:srgbClr val="1E2A32"/>
                </a:solidFill>
                <a:latin typeface="Calibri"/>
              </a:rPr>
              <a:t> (hạng 1 cả hai). Bậc ở 22/10 = dựng lại pipeline sạch sau khi TA trả lời.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3 – Chiến thuật thi đấu · slide 3.4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58 điểm public, chỉ output của pipeline (không dò)</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15</a:t>
            </a:r>
          </a:p>
        </p:txBody>
      </p:sp>
      <p:pic>
        <p:nvPicPr>
          <p:cNvPr id="6" name="Picture 5" descr="timeline_t3.png"/>
          <p:cNvPicPr>
            <a:picLocks noChangeAspect="1"/>
          </p:cNvPicPr>
          <p:nvPr/>
        </p:nvPicPr>
        <p:blipFill>
          <a:blip r:embed="rId3"/>
          <a:stretch>
            <a:fillRect/>
          </a:stretch>
        </p:blipFill>
        <p:spPr>
          <a:xfrm>
            <a:off x="557948" y="1325880"/>
            <a:ext cx="11045622" cy="4663440"/>
          </a:xfrm>
          <a:prstGeom prst="rect">
            <a:avLst/>
          </a:prstGeom>
        </p:spPr>
      </p:pic>
      <p:sp>
        <p:nvSpPr>
          <p:cNvPr id="7" name="TextBox 6"/>
          <p:cNvSpPr txBox="1"/>
          <p:nvPr/>
        </p:nvSpPr>
        <p:spPr>
          <a:xfrm>
            <a:off x="502920" y="6035040"/>
            <a:ext cx="11155680" cy="365760"/>
          </a:xfrm>
          <a:prstGeom prst="rect">
            <a:avLst/>
          </a:prstGeom>
          <a:noFill/>
        </p:spPr>
        <p:txBody>
          <a:bodyPr wrap="square" anchor="t" lIns="0" rIns="0" tIns="0" bIns="0">
            <a:spAutoFit/>
          </a:bodyPr>
          <a:lstStyle/>
          <a:p>
            <a:pPr algn="l">
              <a:spcAft>
                <a:spcPts val="600"/>
              </a:spcAft>
            </a:pPr>
            <a:r>
              <a:rPr sz="1300" b="0">
                <a:solidFill>
                  <a:srgbClr val="1E2A32"/>
                </a:solidFill>
                <a:latin typeface="Calibri"/>
              </a:rPr>
              <a:t>16 lần đầu (cam) từ bộ bám bản đầu có phần khởi đầu chưa nhân quả – tự phát hiện và sửa ngày 23/10. Đường xanh chỉ tính các bản nhân quả.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Môi trường: code mẫu không build được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16</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Docker build lỗi, container không chạy.</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pandas&lt;2.1 không đặt trong nháy (shell hiểu &lt; là chuyển hướng); đường dẫn mẫu /{USER-PATH}/; khối GPU khi máy chưa có nvidia toolkit.</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Đặt "pandas&lt;2.1" trong nháy, sửa đường dẫn, tắt khối GPU (NDT chạy CPU); lưu bản sửa trong docker/.</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build lỗi → build xong trong ~66 s, colcon build OK.</a:t>
            </a:r>
          </a:p>
        </p:txBody>
      </p:sp>
      <p:sp>
        <p:nvSpPr>
          <p:cNvPr id="18" name="Rounded Rectangle 17"/>
          <p:cNvSpPr/>
          <p:nvPr/>
        </p:nvSpPr>
        <p:spPr>
          <a:xfrm>
            <a:off x="502920" y="3703320"/>
            <a:ext cx="11155680" cy="1280160"/>
          </a:xfrm>
          <a:prstGeom prst="roundRect">
            <a:avLst>
              <a:gd name="adj" fmla="val 6000"/>
            </a:avLst>
          </a:prstGeom>
          <a:solidFill>
            <a:srgbClr val="22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40480"/>
            <a:ext cx="10789919" cy="1005839"/>
          </a:xfrm>
          <a:prstGeom prst="rect">
            <a:avLst/>
          </a:prstGeom>
          <a:noFill/>
        </p:spPr>
        <p:txBody>
          <a:bodyPr wrap="square" anchor="t" lIns="0" rIns="0" tIns="0" bIns="0">
            <a:spAutoFit/>
          </a:bodyPr>
          <a:lstStyle/>
          <a:p>
            <a:pPr algn="l">
              <a:spcAft>
                <a:spcPts val="200"/>
              </a:spcAft>
            </a:pPr>
            <a:r>
              <a:rPr sz="1100" b="0">
                <a:solidFill>
                  <a:srgbClr val="E6EDF0"/>
                </a:solidFill>
                <a:latin typeface="Consolas"/>
              </a:rPr>
              <a:t>- RUN pip install pandas&lt;2.1</a:t>
            </a:r>
          </a:p>
          <a:p>
            <a:pPr algn="l">
              <a:spcAft>
                <a:spcPts val="200"/>
              </a:spcAft>
            </a:pPr>
            <a:r>
              <a:rPr sz="1100" b="0">
                <a:solidFill>
                  <a:srgbClr val="E6EDF0"/>
                </a:solidFill>
                <a:latin typeface="Consolas"/>
              </a:rPr>
              <a:t>+ RUN pip install "pandas&lt;2.1"</a:t>
            </a:r>
          </a:p>
          <a:p>
            <a:pPr algn="l">
              <a:spcAft>
                <a:spcPts val="200"/>
              </a:spcAft>
            </a:pPr>
            <a:r>
              <a:rPr sz="1100" b="0">
                <a:solidFill>
                  <a:srgbClr val="E6EDF0"/>
                </a:solidFill>
                <a:latin typeface="Consolas"/>
              </a:rPr>
              <a:t>- /{USER-PATH}/SDC-midterm01</a:t>
            </a:r>
          </a:p>
          <a:p>
            <a:pPr algn="l">
              <a:spcAft>
                <a:spcPts val="200"/>
              </a:spcAft>
            </a:pPr>
            <a:r>
              <a:rPr sz="1100" b="0">
                <a:solidFill>
                  <a:srgbClr val="E6EDF0"/>
                </a:solidFill>
                <a:latin typeface="Consolas"/>
              </a:rPr>
              <a:t>+ /home/thuhang/SDC-midterm01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Tải dữ liệu bị chặn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17</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"download all" báo 404; tải từng file qua API dừng ở ~3 GB với lỗi 429 Too Many Requests.</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Cuộc thi quá lớn (Track01: 15 066 file, 25.4 GB), API giới hạn tốc độ.</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Tải zip trên trình duyệt, so số file / dung lượng / CRC của 13 205 file; Track03 lấy từ link Google Drive trong PDF luật.</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mất thời gian, không ảnh hưởng điểm.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Code mẫu trôi 91–110 m vì sai tỉ lệ point cloud</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18</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Lệch &gt; 5 m từ frame 17 (T1) / frame 0 (T2); tới 91.2 m và 110.0 m; cả quỹ đạo nộp được 602.39.</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ply_scale = 3, trong khi mặt đường chỉ 0.18 đơn vị dưới camera (camera cao ~1.6 m) → tỉ lệ ≈ 9. Ở ×3 cả cảnh co lại, NDT bám vào cấu trúc gần nhất và cộng dồn.</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Tỉ lệ ×9, sau đó tỉ lệ từng frame = 1.646 m / độ cao mặt đường.</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độ sửa NDT: 4.32 m, yaw ±47° (×3) → 0.70 m, yaw ±2° (×9).</a:t>
            </a:r>
          </a:p>
        </p:txBody>
      </p:sp>
      <p:pic>
        <p:nvPicPr>
          <p:cNvPr id="18" name="Picture 17" descr="x15_scale_x3.png"/>
          <p:cNvPicPr>
            <a:picLocks noChangeAspect="1"/>
          </p:cNvPicPr>
          <p:nvPr/>
        </p:nvPicPr>
        <p:blipFill>
          <a:blip r:embed="rId3"/>
          <a:stretch>
            <a:fillRect/>
          </a:stretch>
        </p:blipFill>
        <p:spPr>
          <a:xfrm>
            <a:off x="2535588" y="3044952"/>
            <a:ext cx="7090342" cy="33558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Lần kiểm tra tỉ lệ đầu tiên chỉ ra tỉ lệ sai</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19</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Thước đo khoảng cách trung bình point cloud – bản đồ nhỏ nhất ở tỉ lệ 1 (lần đầu) / 3.</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Thước đo thiên vị: point cloud càng nhỏ càng dồn sát mặt đường nên luôn "gần" bản đồ.</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Xem độ lệch yaw tốt nhất có nhất quán không: ở ×3, 4/8 frame phải quay 24–30°; ở ×9, 7/8 frame ≤ 6°.</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kết luận sai (×1) → đúng (×9, trục FLU), NDT xác nhận.</a:t>
            </a:r>
          </a:p>
        </p:txBody>
      </p:sp>
      <p:pic>
        <p:nvPicPr>
          <p:cNvPr id="18" name="Picture 17" descr="x02_t1_clouds.png"/>
          <p:cNvPicPr>
            <a:picLocks noChangeAspect="1"/>
          </p:cNvPicPr>
          <p:nvPr/>
        </p:nvPicPr>
        <p:blipFill>
          <a:blip r:embed="rId3"/>
          <a:stretch>
            <a:fillRect/>
          </a:stretch>
        </p:blipFill>
        <p:spPr>
          <a:xfrm>
            <a:off x="1553165" y="3044952"/>
            <a:ext cx="9055189" cy="335584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Ô NDT quá thô</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20</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Ở ×9 với ô 8 m: độ sửa trung vị 1.55 m, chỉ 35 % ≤ 1 m, yaw ±9.3° (T2).</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Point cloud ×9 chỉ phủ ~27 m; ô 8 m quá thô.</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ndt_resolution 4.</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1.55 m → 0.23 m, 92 % ≤ 1 m, yaw ±2.1°; ×10 kém hơn ×9.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NDT ổn định vẫn làm điểm xấu đi</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21</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Cộng độ sửa NDT vào GNSS: T2 0.47281 → 0.53520, T1 1.25338 → 1.27855.</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0.2–0.5 m mà NDT "sửa" chính là sai số của NDT trên point cloud LoGeR.</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Không ghép NDT raw_ply; thử point cloud 3 camera ở ×0.8: lần đầu sửa được lỗi vị trí GNSS.</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1.21861 → 1.15042 (Track01, chỉ đổi vị trí).</a:t>
            </a:r>
          </a:p>
        </p:txBody>
      </p:sp>
      <p:pic>
        <p:nvPicPr>
          <p:cNvPr id="18" name="Picture 17" descr="t1_position_ablation.png"/>
          <p:cNvPicPr>
            <a:picLocks noChangeAspect="1"/>
          </p:cNvPicPr>
          <p:nvPr/>
        </p:nvPicPr>
        <p:blipFill>
          <a:blip r:embed="rId3"/>
          <a:stretch>
            <a:fillRect/>
          </a:stretch>
        </p:blipFill>
        <p:spPr>
          <a:xfrm>
            <a:off x="2743106" y="3044952"/>
            <a:ext cx="6675307" cy="335584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NDT chỉ dùng ảnh trôi dần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22</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Từ init_guess, 150 frame: T1 sai 1.5 → 9.1 m; T2 3.6 → 8.9 m, yaw lệch +29…+40°.</a:t>
            </a:r>
          </a:p>
        </p:txBody>
      </p:sp>
      <p:sp>
        <p:nvSpPr>
          <p:cNvPr id="9" name="Rounded Rectangle 8"/>
          <p:cNvSpPr/>
          <p:nvPr/>
        </p:nvSpPr>
        <p:spPr>
          <a:xfrm>
            <a:off x="502920" y="214884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Không có mô hình chuyển động; hướng ban đầu Track02 lệch ~15°.</a:t>
            </a:r>
          </a:p>
        </p:txBody>
      </p:sp>
      <p:sp>
        <p:nvSpPr>
          <p:cNvPr id="12" name="Rounded Rectangle 11"/>
          <p:cNvSpPr/>
          <p:nvPr/>
        </p:nvSpPr>
        <p:spPr>
          <a:xfrm>
            <a:off x="502920" y="29718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266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2461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Thành thiết kế của Track03: dự đoán bằng odometry + IMU, nhiều giả thuyết yaw lúc đầu.</a:t>
            </a:r>
          </a:p>
        </p:txBody>
      </p:sp>
      <p:sp>
        <p:nvSpPr>
          <p:cNvPr id="15" name="Rounded Rectangle 14"/>
          <p:cNvSpPr/>
          <p:nvPr/>
        </p:nvSpPr>
        <p:spPr>
          <a:xfrm>
            <a:off x="502920" y="379476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496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06908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trôi 9 m / 150 frame → bộ bám Track03 nhận 96–99 % frame.</a:t>
            </a:r>
          </a:p>
        </p:txBody>
      </p:sp>
      <p:pic>
        <p:nvPicPr>
          <p:cNvPr id="18" name="Picture 17" descr="x12_t3_mht.png"/>
          <p:cNvPicPr>
            <a:picLocks noChangeAspect="1"/>
          </p:cNvPicPr>
          <p:nvPr/>
        </p:nvPicPr>
        <p:blipFill>
          <a:blip r:embed="rId3"/>
          <a:stretch>
            <a:fillRect/>
          </a:stretch>
        </p:blipFill>
        <p:spPr>
          <a:xfrm>
            <a:off x="5171529" y="1325880"/>
            <a:ext cx="6299021" cy="5074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4.8</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Nộp nhầm track</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23</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"Submission has 3011 rows but 3299 were expected" – mất 1 lượt.</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Nộp tay, không kiểm tra.</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bot.py check: số dòng, header, idx, giá trị hữu hạn, yaw radian, khoảng cách tới quỹ đạo tham chiếu ≤ 20 m.</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1 lượt mất → không còn nộp nhầm.</a:t>
            </a:r>
          </a:p>
        </p:txBody>
      </p:sp>
      <p:sp>
        <p:nvSpPr>
          <p:cNvPr id="18" name="Rounded Rectangle 17"/>
          <p:cNvSpPr/>
          <p:nvPr/>
        </p:nvSpPr>
        <p:spPr>
          <a:xfrm>
            <a:off x="502920" y="3703320"/>
            <a:ext cx="11155680" cy="1280160"/>
          </a:xfrm>
          <a:prstGeom prst="roundRect">
            <a:avLst>
              <a:gd name="adj" fmla="val 6000"/>
            </a:avLst>
          </a:prstGeom>
          <a:solidFill>
            <a:srgbClr val="22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40480"/>
            <a:ext cx="10789919" cy="1005839"/>
          </a:xfrm>
          <a:prstGeom prst="rect">
            <a:avLst/>
          </a:prstGeom>
          <a:noFill/>
        </p:spPr>
        <p:txBody>
          <a:bodyPr wrap="square" anchor="t" lIns="0" rIns="0" tIns="0" bIns="0">
            <a:spAutoFit/>
          </a:bodyPr>
          <a:lstStyle/>
          <a:p>
            <a:pPr algn="l">
              <a:spcAft>
                <a:spcPts val="200"/>
              </a:spcAft>
            </a:pPr>
            <a:r>
              <a:rPr sz="1100" b="0">
                <a:solidFill>
                  <a:srgbClr val="E6EDF0"/>
                </a:solidFill>
                <a:latin typeface="Consolas"/>
              </a:rPr>
              <a:t>$ python3 bot.py check 2 gnss_1.csv</a:t>
            </a:r>
          </a:p>
          <a:p>
            <a:pPr algn="l">
              <a:spcAft>
                <a:spcPts val="200"/>
              </a:spcAft>
            </a:pPr>
            <a:r>
              <a:rPr sz="1100" b="0">
                <a:solidFill>
                  <a:srgbClr val="E6EDF0"/>
                </a:solidFill>
                <a:latin typeface="Consolas"/>
              </a:rPr>
              <a:t>(False, '3011 rows, expected 3299')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4.9</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Yaw GNSS trễ và đứng im</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24</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Gyro khớp với yaw GNSS khi lệch −1.45 s; 13 s đầu Track02 yaw GNSS giữ −15.206°.</a:t>
            </a:r>
          </a:p>
        </p:txBody>
      </p:sp>
      <p:sp>
        <p:nvSpPr>
          <p:cNvPr id="9" name="Rounded Rectangle 8"/>
          <p:cNvSpPr/>
          <p:nvPr/>
        </p:nvSpPr>
        <p:spPr>
          <a:xfrm>
            <a:off x="502920" y="214884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Yaw GNSS = hướng dịch chuyển 1 s của vị trí GNSS, cập nhật ~1.25 s/lần kiểu bậc thang, đứng im khi xe dừng.</a:t>
            </a:r>
          </a:p>
        </p:txBody>
      </p:sp>
      <p:sp>
        <p:nvSpPr>
          <p:cNvPr id="12" name="Rounded Rectangle 11"/>
          <p:cNvSpPr/>
          <p:nvPr/>
        </p:nvSpPr>
        <p:spPr>
          <a:xfrm>
            <a:off x="502920" y="320040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552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47472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Dựng lại yaw lúc đứng yên bằng gyro (hướng lúc xe đạt 4 m/s, tích phân ngược, trừ bias): −19.78° thay vì −15.21°.</a:t>
            </a:r>
          </a:p>
        </p:txBody>
      </p:sp>
      <p:sp>
        <p:nvSpPr>
          <p:cNvPr id="15" name="Rounded Rectangle 14"/>
          <p:cNvSpPr/>
          <p:nvPr/>
        </p:nvSpPr>
        <p:spPr>
          <a:xfrm>
            <a:off x="502920" y="4251960"/>
            <a:ext cx="420624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3068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526280"/>
            <a:ext cx="3931920" cy="2286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T2 0.34530 → 0.33504.</a:t>
            </a:r>
          </a:p>
        </p:txBody>
      </p:sp>
      <p:pic>
        <p:nvPicPr>
          <p:cNvPr id="18" name="Picture 17" descr="x10_t2_gnss_yaw.png"/>
          <p:cNvPicPr>
            <a:picLocks noChangeAspect="1"/>
          </p:cNvPicPr>
          <p:nvPr/>
        </p:nvPicPr>
        <p:blipFill>
          <a:blip r:embed="rId3"/>
          <a:stretch>
            <a:fillRect/>
          </a:stretch>
        </p:blipFill>
        <p:spPr>
          <a:xfrm>
            <a:off x="6333607" y="1325880"/>
            <a:ext cx="3974865" cy="5074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4.10</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Bù độ trễ lại làm xấu đi: yaw đáp án là yaw thân xe</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25</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Dùng hướng chạy đúng giờ: T2 0.40778 → 0.45496, T1 1.25338 → 1.30875.</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Đáp án dùng yaw thân xe, không phải hướng chuyển động; hướng chạy từ GNSS giật thì nhiễu.</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Bộ lọc bù: gyro trục z cho phần nhanh + làm mượt (hướng chạy − yaw gyro) với hằng số τ cho phần chậm.</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T1 0.92775 → 0.78914 (yaw 1.559° → 0.865°), T2 0.29887 → 0.27654. τ, trục gyro chọn theo điểm.</a:t>
            </a:r>
          </a:p>
        </p:txBody>
      </p:sp>
      <p:pic>
        <p:nvPicPr>
          <p:cNvPr id="18" name="Picture 17" descr="yaw_tau.png"/>
          <p:cNvPicPr>
            <a:picLocks noChangeAspect="1"/>
          </p:cNvPicPr>
          <p:nvPr/>
        </p:nvPicPr>
        <p:blipFill>
          <a:blip r:embed="rId3"/>
          <a:stretch>
            <a:fillRect/>
          </a:stretch>
        </p:blipFill>
        <p:spPr>
          <a:xfrm>
            <a:off x="1968406" y="3044952"/>
            <a:ext cx="8224707" cy="335584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Lặp GICP nhiều lượt lại xấu đi</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26</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Lượt 2: 0.679 m; lượt 5: 0.801 m (lỗi vị trí Track01).</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Point cloud méo → cực tiểu của GICP lệch khỏi vị trí thật: mặt đường khớp (~0.2 m), nhà / cây không (0.4–1.3 m).</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Dừng ở 2 lượt (chọn sau khi thấy lượt 5 – tham số theo điểm).</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1 lượt 1.02813 → 2 lượt 0.99283; 5 lượt 1.11461.</a:t>
            </a:r>
          </a:p>
        </p:txBody>
      </p:sp>
      <p:pic>
        <p:nvPicPr>
          <p:cNvPr id="18" name="Picture 17" descr="t1_position_ablation.png"/>
          <p:cNvPicPr>
            <a:picLocks noChangeAspect="1"/>
          </p:cNvPicPr>
          <p:nvPr/>
        </p:nvPicPr>
        <p:blipFill>
          <a:blip r:embed="rId3"/>
          <a:stretch>
            <a:fillRect/>
          </a:stretch>
        </p:blipFill>
        <p:spPr>
          <a:xfrm>
            <a:off x="2743106" y="3044952"/>
            <a:ext cx="6675307" cy="335584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GICP lệch cố định</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27</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Độ sửa trung bình +0.17 m dọc, −0.14 m ngang; dò cho thấy GNSS không lệch ngang (+0.025 m), không lệch giờ (−3.6 ms).</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Lệch của phép khớp ảnh (gốc camera / tỉ lệ của point cloud MapAnything).</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--demean: GNSS giữ phần trung bình, GICP chỉ thêm phần dao động.</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0.99060 → 0.92775 (lỗi vị trí ~0.679 → ~0.616 m, dự đoán 0.62).</a:t>
            </a:r>
          </a:p>
        </p:txBody>
      </p:sp>
      <p:pic>
        <p:nvPicPr>
          <p:cNvPr id="18" name="Picture 17" descr="x03_t1_gicp.png"/>
          <p:cNvPicPr>
            <a:picLocks noChangeAspect="1"/>
          </p:cNvPicPr>
          <p:nvPr/>
        </p:nvPicPr>
        <p:blipFill>
          <a:blip r:embed="rId3"/>
          <a:stretch>
            <a:fillRect/>
          </a:stretch>
        </p:blipFill>
        <p:spPr>
          <a:xfrm>
            <a:off x="2399899" y="3044952"/>
            <a:ext cx="7361720" cy="335584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Yaw của GICP và khớp quét ở Track02 không dùng được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28</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Thêm yaw GICP: yaw 1.570° → ~1.627°. Track02: GNSS 0.2267 m → ICP 0.444, GICP 0.414, NDT 0.270 m.</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Yaw từng frame của point cloud ảnh sai 2.7–2.9°; GNSS Track02 (~0.2 m) chính xác hơn phép khớp (~1 m có hệ thống).</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Không lấy yaw từ GICP; Track02 không dùng khớp quét cho vị trí (chỉ CSM bản đồ trọng số thấp).</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Track02 có GICP 0.30 so với không 0.28.</a:t>
            </a:r>
          </a:p>
        </p:txBody>
      </p:sp>
      <p:pic>
        <p:nvPicPr>
          <p:cNvPr id="18" name="Picture 17" descr="x16_synthetic_gicp.png"/>
          <p:cNvPicPr>
            <a:picLocks noChangeAspect="1"/>
          </p:cNvPicPr>
          <p:nvPr/>
        </p:nvPicPr>
        <p:blipFill>
          <a:blip r:embed="rId3"/>
          <a:stretch>
            <a:fillRect/>
          </a:stretch>
        </p:blipFill>
        <p:spPr>
          <a:xfrm>
            <a:off x="2103536" y="3044952"/>
            <a:ext cx="7954447" cy="335584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Điểm ở xa mang phần lớn sai số</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29</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Tầm 40 m: nhiễu dọc / ngang 0.665 / 0.532 m, chỉ 53 % frame hợp lệ.</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Độ sâu từ ảnh sai tăng theo khoảng cách (thí nghiệm tổng hợp: 0.35–0.43 m).</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GICP --max-range 20.</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offline: 0.563 / 0.403 m, 58 % hợp lệ, nhanh 2.5×; Kaggle T1 0.80 → 0.63 (15 m: 0.63, 10 m: 0.67).</a:t>
            </a:r>
          </a:p>
        </p:txBody>
      </p:sp>
      <p:pic>
        <p:nvPicPr>
          <p:cNvPr id="18" name="Picture 17" descr="x14_t4_sweep.png"/>
          <p:cNvPicPr>
            <a:picLocks noChangeAspect="1"/>
          </p:cNvPicPr>
          <p:nvPr/>
        </p:nvPicPr>
        <p:blipFill>
          <a:blip r:embed="rId3"/>
          <a:stretch>
            <a:fillRect/>
          </a:stretch>
        </p:blipFill>
        <p:spPr>
          <a:xfrm>
            <a:off x="1550365" y="3044952"/>
            <a:ext cx="9060789" cy="3355847"/>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TA trả lời: kết quả dò không phải bài chấm</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30</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File tốt nhất là tổ hợp / dò bảng điểm (T1 0.46, T2 0.19).</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TA (20/10): nộp nhiễu loạn có hệ thống để suy ra lỗi ẩn = leaderboard fitting, không làm cơ sở bài chấm.</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Dừng dò; phân loại lại mọi file (pipeline / lai / dò); dựng lại pipeline sạch bằng một lệnh, trùng từng byte.</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file sạch 0.80 / 0.28 (22/10). (23/10 TA cho dò ở Track01/02 – slide 5.2.)</a:t>
            </a:r>
          </a:p>
        </p:txBody>
      </p:sp>
      <p:pic>
        <p:nvPicPr>
          <p:cNvPr id="18" name="Picture 17" descr="timeline_t1t2.png"/>
          <p:cNvPicPr>
            <a:picLocks noChangeAspect="1"/>
          </p:cNvPicPr>
          <p:nvPr/>
        </p:nvPicPr>
        <p:blipFill>
          <a:blip r:embed="rId3"/>
          <a:stretch>
            <a:fillRect/>
          </a:stretch>
        </p:blipFill>
        <p:spPr>
          <a:xfrm>
            <a:off x="1705250" y="3044952"/>
            <a:ext cx="8751019" cy="3355847"/>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File "lai": phụ thuộc ngầm vào phần chọn theo điểm</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31</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cfz1_tau7 (0.78914) khởi tạo GICP từ yaw tổ hợp; z / roll / pitch lấy từ lượt NDT cũ chạy trên prior tổ hợp.</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File dựng chồng lên file khác.</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Dựng lại sạch; z / roll / pitch từ mặt đường bản đồ + 3 hằng số hiệu chuẩn (độ cao camera, pitch lắp +2.47° / +2.30°, roll).</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vị trí đổi 0.060 m RMS; điểm 0.80 → 0.81 (ngang).</a:t>
            </a:r>
          </a:p>
        </p:txBody>
      </p:sp>
      <p:pic>
        <p:nvPicPr>
          <p:cNvPr id="18" name="Picture 17" descr="timeline_t1t2.png"/>
          <p:cNvPicPr>
            <a:picLocks noChangeAspect="1"/>
          </p:cNvPicPr>
          <p:nvPr/>
        </p:nvPicPr>
        <p:blipFill>
          <a:blip r:embed="rId3"/>
          <a:stretch>
            <a:fillRect/>
          </a:stretch>
        </p:blipFill>
        <p:spPr>
          <a:xfrm>
            <a:off x="1705250" y="3044952"/>
            <a:ext cx="8751019" cy="335584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GICP Track02 đọc nhầm độ cao của Track01</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32</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Lượt GICP Track02 đầu tiên hỏng.</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--pose-source c3s10 (Track01) thay vì c3s10T2 → độ cao khởi đầu 109.9 m trên bản đồ ~17.4 m.</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Kiểm tra đầu vào trong gicp_refine.py: số dòng prior, nguồn pose, độ cao khởi đầu lệch &gt; 20 m thì dừng.</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chạy sai mà không biết → báo lỗi ngay.</a:t>
            </a:r>
          </a:p>
        </p:txBody>
      </p:sp>
      <p:sp>
        <p:nvSpPr>
          <p:cNvPr id="18" name="Rounded Rectangle 17"/>
          <p:cNvSpPr/>
          <p:nvPr/>
        </p:nvSpPr>
        <p:spPr>
          <a:xfrm>
            <a:off x="502920" y="3703320"/>
            <a:ext cx="11155680" cy="1280160"/>
          </a:xfrm>
          <a:prstGeom prst="roundRect">
            <a:avLst>
              <a:gd name="adj" fmla="val 6000"/>
            </a:avLst>
          </a:prstGeom>
          <a:solidFill>
            <a:srgbClr val="22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40480"/>
            <a:ext cx="10789919" cy="1005839"/>
          </a:xfrm>
          <a:prstGeom prst="rect">
            <a:avLst/>
          </a:prstGeom>
          <a:noFill/>
        </p:spPr>
        <p:txBody>
          <a:bodyPr wrap="square" anchor="t" lIns="0" rIns="0" tIns="0" bIns="0">
            <a:spAutoFit/>
          </a:bodyPr>
          <a:lstStyle/>
          <a:p>
            <a:pPr algn="l">
              <a:spcAft>
                <a:spcPts val="200"/>
              </a:spcAft>
            </a:pPr>
            <a:r>
              <a:rPr sz="1100" b="0">
                <a:solidFill>
                  <a:srgbClr val="E6EDF0"/>
                </a:solidFill>
                <a:latin typeface="Consolas"/>
              </a:rPr>
              <a:t>start height z = 109.9 m but the map around</a:t>
            </a:r>
          </a:p>
          <a:p>
            <a:pPr algn="l">
              <a:spcAft>
                <a:spcPts val="200"/>
              </a:spcAft>
            </a:pPr>
            <a:r>
              <a:rPr sz="1100" b="0">
                <a:solidFill>
                  <a:srgbClr val="E6EDF0"/>
                </a:solidFill>
                <a:latin typeface="Consolas"/>
              </a:rPr>
              <a:t>the first pose is at ~17.4 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4.18</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Bộ ghép "thông minh" hơn không giúp: lỗi là có hệ thống</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33</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Bình phương tối thiểu theo Hessian GICP: 0.84 / 0.87 so với 0.80 (T1); T2 0.30 so với 0.28.</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Hessian đúng xu hướng trung bình nhưng không dự báo nhiễu từng frame (Spearman ≈ 0); nhiễu đo được đẳng hướng 0.505 / 0.494 m; phần còn lại là lệch chậm có hệ thống.</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Giữ bộ ghép đơn giản; sửa đầu vào (tầm 20 m). Kalman bền vững (Huber) chỉ đổi 1.9 cm → không dùng.</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giữ 0.80, rồi tầm 20 m → 0.63.</a:t>
            </a:r>
          </a:p>
        </p:txBody>
      </p:sp>
      <p:pic>
        <p:nvPicPr>
          <p:cNvPr id="18" name="Picture 17" descr="x16_synthetic_gicp.png"/>
          <p:cNvPicPr>
            <a:picLocks noChangeAspect="1"/>
          </p:cNvPicPr>
          <p:nvPr/>
        </p:nvPicPr>
        <p:blipFill>
          <a:blip r:embed="rId3"/>
          <a:stretch>
            <a:fillRect/>
          </a:stretch>
        </p:blipFill>
        <p:spPr>
          <a:xfrm>
            <a:off x="2103536" y="3044952"/>
            <a:ext cx="7954447" cy="335584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4.19</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Tổ hợp dò bảng điểm bị suy biến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34</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Trọng số −9.2…+7.5, có lúc 10¹⁴; lb_t1_r3 dự đoán 0.33, thật 0.42.</a:t>
            </a:r>
          </a:p>
        </p:txBody>
      </p:sp>
      <p:sp>
        <p:nvSpPr>
          <p:cNvPr id="9" name="Rounded Rectangle 8"/>
          <p:cNvSpPr/>
          <p:nvPr/>
        </p:nvSpPr>
        <p:spPr>
          <a:xfrm>
            <a:off x="502920" y="214884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Các hướng gần trùng nhau + điểm bị cắt còn 2 chữ số (±0.005).</a:t>
            </a:r>
          </a:p>
        </p:txBody>
      </p:sp>
      <p:sp>
        <p:nvSpPr>
          <p:cNvPr id="12" name="Rounded Rectangle 11"/>
          <p:cNvSpPr/>
          <p:nvPr/>
        </p:nvSpPr>
        <p:spPr>
          <a:xfrm>
            <a:off x="502920" y="29718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266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2461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Chính quy hoá ridge, bỏ nghiệm |a| &gt; 20, chọn λ bằng Monte Carlo có nhiễu cắt số.</a:t>
            </a:r>
          </a:p>
        </p:txBody>
      </p:sp>
      <p:sp>
        <p:nvSpPr>
          <p:cNvPr id="15" name="Rounded Rectangle 14"/>
          <p:cNvSpPr/>
          <p:nvPr/>
        </p:nvSpPr>
        <p:spPr>
          <a:xfrm>
            <a:off x="502920" y="379476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496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06908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0.42 → 0.40 → 0.36 (hạng 1). Đây là kỹ thuật dò, trọng số không có ý nghĩa vật lý.</a:t>
            </a:r>
          </a:p>
        </p:txBody>
      </p:sp>
      <p:pic>
        <p:nvPicPr>
          <p:cNvPr id="18" name="Picture 17" descr="x11_probe_parabola.png"/>
          <p:cNvPicPr>
            <a:picLocks noChangeAspect="1"/>
          </p:cNvPicPr>
          <p:nvPr/>
        </p:nvPicPr>
        <p:blipFill>
          <a:blip r:embed="rId3"/>
          <a:stretch>
            <a:fillRect/>
          </a:stretch>
        </p:blipFill>
        <p:spPr>
          <a:xfrm>
            <a:off x="4937760" y="1817074"/>
            <a:ext cx="6766560" cy="4092531"/>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4.20</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bộ bám đầu tiên không nhân quả</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35</a:t>
            </a:r>
          </a:p>
        </p:txBody>
      </p:sp>
      <p:sp>
        <p:nvSpPr>
          <p:cNvPr id="6" name="Rounded Rectangle 5"/>
          <p:cNvSpPr/>
          <p:nvPr/>
        </p:nvSpPr>
        <p:spPr>
          <a:xfrm>
            <a:off x="502920" y="1325880"/>
            <a:ext cx="420624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2286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Bản N được 0.77 nhưng 80 frame đầu "đẹp quá".</a:t>
            </a:r>
          </a:p>
        </p:txBody>
      </p:sp>
      <p:sp>
        <p:nvSpPr>
          <p:cNvPr id="9" name="Rounded Rectangle 8"/>
          <p:cNvSpPr/>
          <p:nvPr/>
        </p:nvSpPr>
        <p:spPr>
          <a:xfrm>
            <a:off x="502920" y="192024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Khởi đầu nhiều giả thuyết: chọn giả thuyết thắng ở frame ~60–80 rồi ghi lại quỹ đạo quá khứ của nó → dùng thông tin tương lai.</a:t>
            </a:r>
          </a:p>
        </p:txBody>
      </p:sp>
      <p:sp>
        <p:nvSpPr>
          <p:cNvPr id="12" name="Rounded Rectangle 11"/>
          <p:cNvSpPr/>
          <p:nvPr/>
        </p:nvSpPr>
        <p:spPr>
          <a:xfrm>
            <a:off x="502920" y="29718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266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2461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Mỗi frame chỉ xuất giả thuyết tốt nhất tại chính frame đó.</a:t>
            </a:r>
          </a:p>
        </p:txBody>
      </p:sp>
      <p:sp>
        <p:nvSpPr>
          <p:cNvPr id="15" name="Rounded Rectangle 14"/>
          <p:cNvSpPr/>
          <p:nvPr/>
        </p:nvSpPr>
        <p:spPr>
          <a:xfrm>
            <a:off x="502920" y="379476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496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06908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0.77 (không hợp lệ) → 0.96 (A2h, nhân quả). Phải chọn tay file nhân quả làm bài chấm.</a:t>
            </a:r>
          </a:p>
        </p:txBody>
      </p:sp>
      <p:pic>
        <p:nvPicPr>
          <p:cNvPr id="18" name="Picture 17" descr="x12_t3_mht.png"/>
          <p:cNvPicPr>
            <a:picLocks noChangeAspect="1"/>
          </p:cNvPicPr>
          <p:nvPr/>
        </p:nvPicPr>
        <p:blipFill>
          <a:blip r:embed="rId3"/>
          <a:stretch>
            <a:fillRect/>
          </a:stretch>
        </p:blipFill>
        <p:spPr>
          <a:xfrm>
            <a:off x="5171529" y="1325880"/>
            <a:ext cx="6299021" cy="507492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mỗi khúc cua mất 14 % góc quay</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36</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Khúc cua 90° chỉ thành 77°; sau cua yaw lệch −12°, quỹ đạo chạy cách đường 20 m.</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Tích phân gyro dừng ở mẫu IMU cuối trước frame (IMU 100 Hz, camera ~28 Hz), bỏ mất đoạn tới thời điểm frame → 86 %.</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Tích phân tới đúng thời điểm frame.</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nằm trong A2h; ảnh hưởng chủ yếu ở phần private.</a:t>
            </a:r>
          </a:p>
        </p:txBody>
      </p:sp>
      <p:pic>
        <p:nvPicPr>
          <p:cNvPr id="18" name="Picture 17" descr="t3_drift_N_vs_A2h.png"/>
          <p:cNvPicPr>
            <a:picLocks noChangeAspect="1"/>
          </p:cNvPicPr>
          <p:nvPr/>
        </p:nvPicPr>
        <p:blipFill>
          <a:blip r:embed="rId3"/>
          <a:stretch>
            <a:fillRect/>
          </a:stretch>
        </p:blipFill>
        <p:spPr>
          <a:xfrm>
            <a:off x="2374248" y="3044952"/>
            <a:ext cx="7413022" cy="335584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trôi 29 m dọc đường trước đèn đỏ</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37</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Đồ thị độ khớp dọc đường: −1 m (frame 300) → −13.5 → −21 → −29 m; tích phân gia tốc kế: 75 ± 8 m, bộ bám 96 m.</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Odometry từ point cloud LoGeR thất thường (0.12–1.16 × quãng đường thật); GICP chỉ nhìn 1–2 m.</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ZUPT + bias gyro online + </a:t>
            </a:r>
            <a:r>
              <a:rPr sz="1250" b="1">
                <a:solidFill>
                  <a:srgbClr val="14242E"/>
                </a:solidFill>
                <a:latin typeface="Calibri"/>
              </a:rPr>
              <a:t>khớp lưới CSM</a:t>
            </a:r>
            <a:r>
              <a:rPr sz="1250" b="0">
                <a:solidFill>
                  <a:srgbClr val="1E2A32"/>
                </a:solidFill>
                <a:latin typeface="Calibri"/>
              </a:rPr>
              <a:t> trên trường xác suất (dọc ±15 m × ngang ±2 m), rồi GICP.</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GICP được chấp nhận 69 % → 98 %; quãng đường 600 → dừng: 72 m (IMU 75 ± 8).</a:t>
            </a:r>
          </a:p>
        </p:txBody>
      </p:sp>
      <p:pic>
        <p:nvPicPr>
          <p:cNvPr id="18" name="Picture 17" descr="x04_t3_csm.png"/>
          <p:cNvPicPr>
            <a:picLocks noChangeAspect="1"/>
          </p:cNvPicPr>
          <p:nvPr/>
        </p:nvPicPr>
        <p:blipFill>
          <a:blip r:embed="rId3"/>
          <a:stretch>
            <a:fillRect/>
          </a:stretch>
        </p:blipFill>
        <p:spPr>
          <a:xfrm>
            <a:off x="2272828" y="3044952"/>
            <a:ext cx="7615862" cy="335584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GICP trượt dọc đường</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38</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Đổi một tham số nhỏ là lạc ở frame ~470–1000 (lệch 22–30 m, chỉ 40 % chấp nhận).</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Mỗi frame GICP hội tụ trước dự đoán ~1.1 m mà vẫn qua cổng → 11 m sau 12 frame.</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Nhiễu đo bất đẳng hướng: GICP chỉ được tin 0.7 m theo ngang, 2 m theo dọc (CSM lo phương dọc).</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mọi biến thể bám 96–99 % và khớp nhau ±0.5 m.</a:t>
            </a:r>
          </a:p>
        </p:txBody>
      </p:sp>
      <p:pic>
        <p:nvPicPr>
          <p:cNvPr id="18" name="Picture 17" descr="t3_drift_N_vs_A2h.png"/>
          <p:cNvPicPr>
            <a:picLocks noChangeAspect="1"/>
          </p:cNvPicPr>
          <p:nvPr/>
        </p:nvPicPr>
        <p:blipFill>
          <a:blip r:embed="rId3"/>
          <a:stretch>
            <a:fillRect/>
          </a:stretch>
        </p:blipFill>
        <p:spPr>
          <a:xfrm>
            <a:off x="2374248" y="3044952"/>
            <a:ext cx="7413022" cy="335584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tay đòn camera sửa quá tay</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39</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Tay đòn CSM −1.0 m (hiệu chuẩn trên Track01/02): public 0.96 → 1.05.</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Point cloud LoGeR dài hơn thật 10 % ở Track01/02 nhưng chỉ 5 % ở Track03 → −1.0 m chủ yếu là hệ quả của sai tỉ lệ.</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Đặt tay đòn theo sai tỉ lệ đo trên chính Track03: ≈ −0.7 m.</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1.05 → 0.84 (L2b).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IMU lắp nghiêng 6°</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40</a:t>
            </a:r>
          </a:p>
        </p:txBody>
      </p:sp>
      <p:sp>
        <p:nvSpPr>
          <p:cNvPr id="6" name="Rounded Rectangle 5"/>
          <p:cNvSpPr/>
          <p:nvPr/>
        </p:nvSpPr>
        <p:spPr>
          <a:xfrm>
            <a:off x="502920" y="132588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10881359"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Yaw sai qua khúc cua; ước lượng trọng lực nhân quả lệch 8° ở giây đầu (W3h 0.89 so với L2b 0.84).</a:t>
            </a:r>
          </a:p>
        </p:txBody>
      </p:sp>
      <p:sp>
        <p:nvSpPr>
          <p:cNvPr id="9" name="Rounded Rectangle 8"/>
          <p:cNvSpPr/>
          <p:nvPr/>
        </p:nvSpPr>
        <p:spPr>
          <a:xfrm>
            <a:off x="502920" y="192024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75104"/>
            <a:ext cx="10881359"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19456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Trục z của gyro chỉ thấy cos 6° của góc quay quanh phương thẳng đứng và trộn bias trục x/y; xe vừa tăng tốc vừa rẽ ngay từ frame 0.</a:t>
            </a:r>
          </a:p>
        </p:txBody>
      </p:sp>
      <p:sp>
        <p:nvSpPr>
          <p:cNvPr id="12" name="Rounded Rectangle 11"/>
          <p:cNvSpPr/>
          <p:nvPr/>
        </p:nvSpPr>
        <p:spPr>
          <a:xfrm>
            <a:off x="502920" y="251460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9464"/>
            <a:ext cx="10881359"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788920"/>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Tốc độ quay = gyro · hướng trọng lực cố định (hiệu chuẩn lúc đứng yên) + τ yaw 30 s.</a:t>
            </a:r>
          </a:p>
        </p:txBody>
      </p:sp>
      <p:sp>
        <p:nvSpPr>
          <p:cNvPr id="15" name="Rounded Rectangle 14"/>
          <p:cNvSpPr/>
          <p:nvPr/>
        </p:nvSpPr>
        <p:spPr>
          <a:xfrm>
            <a:off x="502920" y="3108960"/>
            <a:ext cx="1115568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63824"/>
            <a:ext cx="10881359"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3383279"/>
            <a:ext cx="10881359" cy="228600"/>
          </a:xfrm>
          <a:prstGeom prst="rect">
            <a:avLst/>
          </a:prstGeom>
          <a:noFill/>
        </p:spPr>
        <p:txBody>
          <a:bodyPr wrap="square" anchor="t" lIns="0" rIns="0" tIns="0" bIns="0">
            <a:spAutoFit/>
          </a:bodyPr>
          <a:lstStyle/>
          <a:p>
            <a:pPr algn="l">
              <a:spcAft>
                <a:spcPts val="600"/>
              </a:spcAft>
            </a:pPr>
            <a:r>
              <a:rPr sz="1500" b="0">
                <a:solidFill>
                  <a:srgbClr val="1E2A32"/>
                </a:solidFill>
                <a:latin typeface="Calibri"/>
              </a:rPr>
              <a:t>0.89 → 0.80 (X3f); kiểm tra qua khúc cua 88°: lệch bản đồ +1.43° → −0.02°.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GICP kéo vị trí khi xe đứng yên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41</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Track02: 230 frame đứng yên kéo lệch −1.0 m dọc / +1.9 m ngang; Track03: lùi 0.3–0.5 m, yaw trôi tới −2.4°.</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Các frame của cùng một khung cảnh có chung một sai số – cập nhật hàng trăm lần một phép đo sai.</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Không cập nhật vị trí / yaw bằng GICP khi ZUPT báo đứng yên.</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yaw giữ −0.9° suốt 45 s dừng; Track02 lúc đứng 1.95 → 1.56 m.</a:t>
            </a:r>
          </a:p>
        </p:txBody>
      </p:sp>
      <p:pic>
        <p:nvPicPr>
          <p:cNvPr id="18" name="Picture 17" descr="t3_segments.png"/>
          <p:cNvPicPr>
            <a:picLocks noChangeAspect="1"/>
          </p:cNvPicPr>
          <p:nvPr/>
        </p:nvPicPr>
        <p:blipFill>
          <a:blip r:embed="rId3"/>
          <a:stretch>
            <a:fillRect/>
          </a:stretch>
        </p:blipFill>
        <p:spPr>
          <a:xfrm>
            <a:off x="1032112" y="3044952"/>
            <a:ext cx="10097294" cy="335584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chậm 4 m khi xe chạy lại (hai lỗi của bộ lọc tốc độ)</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42</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Sau 43 s đèn đỏ, vị trí dọc chậm 3–4 m tới khi CSM bắt kịp ở frame 2306–2318.</a:t>
            </a:r>
          </a:p>
        </p:txBody>
      </p:sp>
      <p:sp>
        <p:nvSpPr>
          <p:cNvPr id="9" name="Rounded Rectangle 8"/>
          <p:cNvSpPr/>
          <p:nvPr/>
        </p:nvSpPr>
        <p:spPr>
          <a:xfrm>
            <a:off x="502920" y="214884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(1) Số đọc odometry hỏng trông "chính xác" (nhiễu tỉ lệ với số đọc) kéo tốc độ về 0; (2) ZUPT tưởng tăng tốc đều (~1.2 m/s²) là đứng yên (hình trên).</a:t>
            </a:r>
          </a:p>
        </p:txBody>
      </p:sp>
      <p:sp>
        <p:nvSpPr>
          <p:cNvPr id="12" name="Rounded Rectangle 11"/>
          <p:cNvSpPr/>
          <p:nvPr/>
        </p:nvSpPr>
        <p:spPr>
          <a:xfrm>
            <a:off x="502920" y="32004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552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4747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--speed-odo-low 0.5 và --zupt-ax 0.3 (đứng yên còn cần gia tốc tiến TB nhỏ).</a:t>
            </a:r>
          </a:p>
        </p:txBody>
      </p:sp>
      <p:sp>
        <p:nvSpPr>
          <p:cNvPr id="15" name="Rounded Rectangle 14"/>
          <p:cNvSpPr/>
          <p:nvPr/>
        </p:nvSpPr>
        <p:spPr>
          <a:xfrm>
            <a:off x="502920" y="402336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782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29768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sai số dọc 2.46 → 0.72 m; ước tính private −0.13…−0.21; public giữ 0.80.</a:t>
            </a:r>
          </a:p>
        </p:txBody>
      </p:sp>
      <p:pic>
        <p:nvPicPr>
          <p:cNvPr id="18" name="Picture 17" descr="x09_t3_zupt.png"/>
          <p:cNvPicPr>
            <a:picLocks noChangeAspect="1"/>
          </p:cNvPicPr>
          <p:nvPr/>
        </p:nvPicPr>
        <p:blipFill>
          <a:blip r:embed="rId3"/>
          <a:stretch>
            <a:fillRect/>
          </a:stretch>
        </p:blipFill>
        <p:spPr>
          <a:xfrm>
            <a:off x="5862135" y="1325880"/>
            <a:ext cx="4917809" cy="2487168"/>
          </a:xfrm>
          <a:prstGeom prst="rect">
            <a:avLst/>
          </a:prstGeom>
        </p:spPr>
      </p:pic>
      <p:pic>
        <p:nvPicPr>
          <p:cNvPr id="19" name="Picture 18" descr="t3_restart_fix.png"/>
          <p:cNvPicPr>
            <a:picLocks noChangeAspect="1"/>
          </p:cNvPicPr>
          <p:nvPr/>
        </p:nvPicPr>
        <p:blipFill>
          <a:blip r:embed="rId4"/>
          <a:stretch>
            <a:fillRect/>
          </a:stretch>
        </p:blipFill>
        <p:spPr>
          <a:xfrm>
            <a:off x="5019713" y="3913632"/>
            <a:ext cx="6602653" cy="248716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4.28</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200" b="1">
                <a:solidFill>
                  <a:srgbClr val="14242E"/>
                </a:solidFill>
                <a:latin typeface="Cambria"/>
              </a:rPr>
              <a:t>Track03: point cloud LoGeR chỉ cho độ chính xác ~1 m → dùng vạch sơn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43</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Dù chỉnh nhiễu thế nào, sai số khi bám vẫn 0.90–1.06 m; public kẹt ở 0.80.</a:t>
            </a:r>
          </a:p>
        </p:txBody>
      </p:sp>
      <p:sp>
        <p:nvSpPr>
          <p:cNvPr id="9" name="Rounded Rectangle 8"/>
          <p:cNvSpPr/>
          <p:nvPr/>
        </p:nvSpPr>
        <p:spPr>
          <a:xfrm>
            <a:off x="502920" y="214884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Độ sâu LoGeR sai theo khoảng cách; hiệu chuẩn chỉ tới ±0.3 m; Track03 không có point cloud 3 camera.</a:t>
            </a:r>
          </a:p>
        </p:txBody>
      </p:sp>
      <p:sp>
        <p:nvSpPr>
          <p:cNvPr id="12" name="Rounded Rectangle 11"/>
          <p:cNvSpPr/>
          <p:nvPr/>
        </p:nvSpPr>
        <p:spPr>
          <a:xfrm>
            <a:off x="502920" y="297180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266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24612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Mốc mới chính xác cỡ cm: </a:t>
            </a:r>
            <a:r>
              <a:rPr sz="1250" b="1">
                <a:solidFill>
                  <a:srgbClr val="14242E"/>
                </a:solidFill>
                <a:latin typeface="Calibri"/>
              </a:rPr>
              <a:t>vạch sơn</a:t>
            </a:r>
            <a:r>
              <a:rPr sz="1250" b="0">
                <a:solidFill>
                  <a:srgbClr val="1E2A32"/>
                </a:solidFill>
                <a:latin typeface="Calibri"/>
              </a:rPr>
              <a:t> trong cường độ LiDAR, camera nhìn thấy (video h265 trong bag). Hình dưới: cách chiếu mặt đường vào ảnh.</a:t>
            </a:r>
          </a:p>
        </p:txBody>
      </p:sp>
      <p:sp>
        <p:nvSpPr>
          <p:cNvPr id="15" name="Rounded Rectangle 14"/>
          <p:cNvSpPr/>
          <p:nvPr/>
        </p:nvSpPr>
        <p:spPr>
          <a:xfrm>
            <a:off x="502920" y="4023360"/>
            <a:ext cx="420624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782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297680"/>
            <a:ext cx="3931920" cy="2286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0.80 → 0.49 (PA2, camera trước).</a:t>
            </a:r>
          </a:p>
        </p:txBody>
      </p:sp>
      <p:pic>
        <p:nvPicPr>
          <p:cNvPr id="18" name="Picture 17" descr="paint_matching_vi.png"/>
          <p:cNvPicPr>
            <a:picLocks noChangeAspect="1"/>
          </p:cNvPicPr>
          <p:nvPr/>
        </p:nvPicPr>
        <p:blipFill>
          <a:blip r:embed="rId3"/>
          <a:stretch>
            <a:fillRect/>
          </a:stretch>
        </p:blipFill>
        <p:spPr>
          <a:xfrm>
            <a:off x="6801104" y="1325880"/>
            <a:ext cx="3039872" cy="2487168"/>
          </a:xfrm>
          <a:prstGeom prst="rect">
            <a:avLst/>
          </a:prstGeom>
        </p:spPr>
      </p:pic>
      <p:pic>
        <p:nvPicPr>
          <p:cNvPr id="19" name="Picture 18" descr="x05_t3_ipm_390.png"/>
          <p:cNvPicPr>
            <a:picLocks noChangeAspect="1"/>
          </p:cNvPicPr>
          <p:nvPr/>
        </p:nvPicPr>
        <p:blipFill>
          <a:blip r:embed="rId4"/>
          <a:stretch>
            <a:fillRect/>
          </a:stretch>
        </p:blipFill>
        <p:spPr>
          <a:xfrm>
            <a:off x="4937760" y="4009921"/>
            <a:ext cx="6766560" cy="229458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4.29</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Bộ lọc vạch sơn khoá sai khi xe đứng yên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44</a:t>
            </a:r>
          </a:p>
        </p:txBody>
      </p:sp>
      <p:sp>
        <p:nvSpPr>
          <p:cNvPr id="6" name="Rounded Rectangle 5"/>
          <p:cNvSpPr/>
          <p:nvPr/>
        </p:nvSpPr>
        <p:spPr>
          <a:xfrm>
            <a:off x="502920" y="132588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Thử trên Track01/02 với sai số biết trước: bản lọc đầu khoá sai khi xe dừng.</a:t>
            </a:r>
          </a:p>
        </p:txBody>
      </p:sp>
      <p:sp>
        <p:nvSpPr>
          <p:cNvPr id="9" name="Rounded Rectangle 8"/>
          <p:cNvSpPr/>
          <p:nvPr/>
        </p:nvSpPr>
        <p:spPr>
          <a:xfrm>
            <a:off x="502920" y="214884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037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42316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Khi dừng, cùng một ảnh được đo hàng trăm lần – thực chất là một phép đo.</a:t>
            </a:r>
          </a:p>
        </p:txBody>
      </p:sp>
      <p:sp>
        <p:nvSpPr>
          <p:cNvPr id="12" name="Rounded Rectangle 11"/>
          <p:cNvSpPr/>
          <p:nvPr/>
        </p:nvSpPr>
        <p:spPr>
          <a:xfrm>
            <a:off x="502920" y="29718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266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2461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Trọng số κ × min(1, quãng đường / 0.3 m) + sàn độ lệch chuẩn 0.3 m dọc / 0.15 m ngang.</a:t>
            </a:r>
          </a:p>
        </p:txBody>
      </p:sp>
      <p:sp>
        <p:nvSpPr>
          <p:cNvPr id="15" name="Rounded Rectangle 14"/>
          <p:cNvSpPr/>
          <p:nvPr/>
        </p:nvSpPr>
        <p:spPr>
          <a:xfrm>
            <a:off x="502920" y="379476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496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06908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Track01/02 (chạy như không GNSS): 1.17 → 1.01 m, 1.32 → 1.16 m.</a:t>
            </a:r>
          </a:p>
        </p:txBody>
      </p:sp>
      <p:pic>
        <p:nvPicPr>
          <p:cNvPr id="18" name="Picture 17" descr="x06_t3_paint_steps_1100.png"/>
          <p:cNvPicPr>
            <a:picLocks noChangeAspect="1"/>
          </p:cNvPicPr>
          <p:nvPr/>
        </p:nvPicPr>
        <p:blipFill>
          <a:blip r:embed="rId3"/>
          <a:stretch>
            <a:fillRect/>
          </a:stretch>
        </p:blipFill>
        <p:spPr>
          <a:xfrm>
            <a:off x="4937760" y="1701926"/>
            <a:ext cx="6766560" cy="4322827"/>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4.30</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Vạch sơn: tham số nào quan trọng (mỗi file đổi một thứ)</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45</a:t>
            </a:r>
          </a:p>
        </p:txBody>
      </p:sp>
      <p:graphicFrame>
        <p:nvGraphicFramePr>
          <p:cNvPr id="6" name="Table 5"/>
          <p:cNvGraphicFramePr>
            <a:graphicFrameLocks noGrp="1"/>
          </p:cNvGraphicFramePr>
          <p:nvPr/>
        </p:nvGraphicFramePr>
        <p:xfrm>
          <a:off x="502920" y="1325880"/>
          <a:ext cx="5120640" cy="2304288"/>
        </p:xfrm>
        <a:graphic>
          <a:graphicData uri="http://schemas.openxmlformats.org/drawingml/2006/table">
            <a:tbl>
              <a:tblPr firstRow="1" bandRow="1">
                <a:tableStyleId>{5C22544A-7EE6-4342-B048-85BDC9FD1C3A}</a:tableStyleId>
              </a:tblPr>
              <a:tblGrid>
                <a:gridCol w="3017520"/>
                <a:gridCol w="2103120"/>
              </a:tblGrid>
              <a:tr h="329184">
                <a:tc>
                  <a:txBody>
                    <a:bodyPr/>
                    <a:lstStyle/>
                    <a:p>
                      <a:r>
                        <a:rPr sz="1300" b="1">
                          <a:solidFill>
                            <a:srgbClr val="FFFFFF"/>
                          </a:solidFill>
                          <a:latin typeface="Calibri"/>
                        </a:rPr>
                        <a:t>Thay đổi</a:t>
                      </a:r>
                    </a:p>
                  </a:txBody>
                  <a:tcPr marL="54864" marR="54864" marT="27432" marB="27432">
                    <a:solidFill>
                      <a:srgbClr val="137C8B"/>
                    </a:solidFill>
                  </a:tcPr>
                </a:tc>
                <a:tc>
                  <a:txBody>
                    <a:bodyPr/>
                    <a:lstStyle/>
                    <a:p>
                      <a:r>
                        <a:rPr sz="1300" b="1">
                          <a:solidFill>
                            <a:srgbClr val="FFFFFF"/>
                          </a:solidFill>
                          <a:latin typeface="Calibri"/>
                        </a:rPr>
                        <a:t>Public</a:t>
                      </a:r>
                    </a:p>
                  </a:txBody>
                  <a:tcPr marL="54864" marR="54864" marT="27432" marB="27432">
                    <a:solidFill>
                      <a:srgbClr val="137C8B"/>
                    </a:solidFill>
                  </a:tcPr>
                </a:tc>
              </a:tr>
              <a:tr h="329184">
                <a:tc>
                  <a:txBody>
                    <a:bodyPr/>
                    <a:lstStyle/>
                    <a:p>
                      <a:r>
                        <a:rPr sz="1300" b="0">
                          <a:solidFill>
                            <a:srgbClr val="1E2A32"/>
                          </a:solidFill>
                          <a:latin typeface="Calibri"/>
                        </a:rPr>
                        <a:t>tay đòn ngang −0.25 / −0.10 / 0</a:t>
                      </a:r>
                    </a:p>
                  </a:txBody>
                  <a:tcPr marL="54864" marR="54864" marT="27432" marB="27432">
                    <a:solidFill>
                      <a:srgbClr val="F3F6F8"/>
                    </a:solidFill>
                  </a:tcPr>
                </a:tc>
                <a:tc>
                  <a:txBody>
                    <a:bodyPr/>
                    <a:lstStyle/>
                    <a:p>
                      <a:r>
                        <a:rPr sz="1300" b="0">
                          <a:solidFill>
                            <a:srgbClr val="1E2A32"/>
                          </a:solidFill>
                          <a:latin typeface="Calibri"/>
                        </a:rPr>
                        <a:t>0.56 / 0.49 / 0.47</a:t>
                      </a:r>
                    </a:p>
                  </a:txBody>
                  <a:tcPr marL="54864" marR="54864" marT="27432" marB="27432">
                    <a:solidFill>
                      <a:srgbClr val="F3F6F8"/>
                    </a:solidFill>
                  </a:tcPr>
                </a:tc>
              </a:tr>
              <a:tr h="329184">
                <a:tc>
                  <a:txBody>
                    <a:bodyPr/>
                    <a:lstStyle/>
                    <a:p>
                      <a:r>
                        <a:rPr sz="1300" b="0">
                          <a:solidFill>
                            <a:srgbClr val="1E2A32"/>
                          </a:solidFill>
                          <a:latin typeface="Calibri"/>
                        </a:rPr>
                        <a:t>tay đòn dọc +0.15 / −0.15</a:t>
                      </a:r>
                    </a:p>
                  </a:txBody>
                  <a:tcPr marL="54864" marR="54864" marT="27432" marB="27432">
                    <a:solidFill>
                      <a:srgbClr val="FFFFFF"/>
                    </a:solidFill>
                  </a:tcPr>
                </a:tc>
                <a:tc>
                  <a:txBody>
                    <a:bodyPr/>
                    <a:lstStyle/>
                    <a:p>
                      <a:r>
                        <a:rPr sz="1300" b="0">
                          <a:solidFill>
                            <a:srgbClr val="1E2A32"/>
                          </a:solidFill>
                          <a:latin typeface="Calibri"/>
                        </a:rPr>
                        <a:t>0.44 / 0.55</a:t>
                      </a:r>
                    </a:p>
                  </a:txBody>
                  <a:tcPr marL="54864" marR="54864" marT="27432" marB="27432">
                    <a:solidFill>
                      <a:srgbClr val="FFFFFF"/>
                    </a:solidFill>
                  </a:tcPr>
                </a:tc>
              </a:tr>
              <a:tr h="329184">
                <a:tc>
                  <a:txBody>
                    <a:bodyPr/>
                    <a:lstStyle/>
                    <a:p>
                      <a:r>
                        <a:rPr sz="1300" b="0">
                          <a:solidFill>
                            <a:srgbClr val="1E2A32"/>
                          </a:solidFill>
                          <a:latin typeface="Calibri"/>
                        </a:rPr>
                        <a:t>κ 20 / 40 / 80 / 160</a:t>
                      </a:r>
                    </a:p>
                  </a:txBody>
                  <a:tcPr marL="54864" marR="54864" marT="27432" marB="27432">
                    <a:solidFill>
                      <a:srgbClr val="F3F6F8"/>
                    </a:solidFill>
                  </a:tcPr>
                </a:tc>
                <a:tc>
                  <a:txBody>
                    <a:bodyPr/>
                    <a:lstStyle/>
                    <a:p>
                      <a:r>
                        <a:rPr sz="1300" b="0">
                          <a:solidFill>
                            <a:srgbClr val="1E2A32"/>
                          </a:solidFill>
                          <a:latin typeface="Calibri"/>
                        </a:rPr>
                        <a:t>0.44 / 0.39 / </a:t>
                      </a:r>
                      <a:r>
                        <a:rPr sz="1300" b="1">
                          <a:solidFill>
                            <a:srgbClr val="1E2A32"/>
                          </a:solidFill>
                          <a:latin typeface="Calibri"/>
                        </a:rPr>
                        <a:t>0.37</a:t>
                      </a:r>
                      <a:r>
                        <a:rPr sz="1300" b="0">
                          <a:solidFill>
                            <a:srgbClr val="1E2A32"/>
                          </a:solidFill>
                          <a:latin typeface="Calibri"/>
                        </a:rPr>
                        <a:t> / 0.38</a:t>
                      </a:r>
                    </a:p>
                  </a:txBody>
                  <a:tcPr marL="54864" marR="54864" marT="27432" marB="27432">
                    <a:solidFill>
                      <a:srgbClr val="F3F6F8"/>
                    </a:solidFill>
                  </a:tcPr>
                </a:tc>
              </a:tr>
              <a:tr h="329184">
                <a:tc>
                  <a:txBody>
                    <a:bodyPr/>
                    <a:lstStyle/>
                    <a:p>
                      <a:r>
                        <a:rPr sz="1300" b="0">
                          <a:solidFill>
                            <a:srgbClr val="1E2A32"/>
                          </a:solidFill>
                          <a:latin typeface="Calibri"/>
                        </a:rPr>
                        <a:t>yaw từ vạch sơn</a:t>
                      </a:r>
                    </a:p>
                  </a:txBody>
                  <a:tcPr marL="54864" marR="54864" marT="27432" marB="27432">
                    <a:solidFill>
                      <a:srgbClr val="FFFFFF"/>
                    </a:solidFill>
                  </a:tcPr>
                </a:tc>
                <a:tc>
                  <a:txBody>
                    <a:bodyPr/>
                    <a:lstStyle/>
                    <a:p>
                      <a:r>
                        <a:rPr sz="1300" b="0">
                          <a:solidFill>
                            <a:srgbClr val="1E2A32"/>
                          </a:solidFill>
                          <a:latin typeface="Calibri"/>
                        </a:rPr>
                        <a:t>0.54 (kém yaw bộ bám)</a:t>
                      </a:r>
                    </a:p>
                  </a:txBody>
                  <a:tcPr marL="54864" marR="54864" marT="27432" marB="27432">
                    <a:solidFill>
                      <a:srgbClr val="FFFFFF"/>
                    </a:solidFill>
                  </a:tcPr>
                </a:tc>
              </a:tr>
              <a:tr h="329184">
                <a:tc>
                  <a:txBody>
                    <a:bodyPr/>
                    <a:lstStyle/>
                    <a:p>
                      <a:r>
                        <a:rPr sz="1300" b="0">
                          <a:solidFill>
                            <a:srgbClr val="1E2A32"/>
                          </a:solidFill>
                          <a:latin typeface="Calibri"/>
                        </a:rPr>
                        <a:t>3 lượt đo</a:t>
                      </a:r>
                    </a:p>
                  </a:txBody>
                  <a:tcPr marL="54864" marR="54864" marT="27432" marB="27432">
                    <a:solidFill>
                      <a:srgbClr val="F3F6F8"/>
                    </a:solidFill>
                  </a:tcPr>
                </a:tc>
                <a:tc>
                  <a:txBody>
                    <a:bodyPr/>
                    <a:lstStyle/>
                    <a:p>
                      <a:r>
                        <a:rPr sz="1300" b="0">
                          <a:solidFill>
                            <a:srgbClr val="1E2A32"/>
                          </a:solidFill>
                          <a:latin typeface="Calibri"/>
                        </a:rPr>
                        <a:t>0.50 / 0.38 (không lợi)</a:t>
                      </a:r>
                    </a:p>
                  </a:txBody>
                  <a:tcPr marL="54864" marR="54864" marT="27432" marB="27432">
                    <a:solidFill>
                      <a:srgbClr val="F3F6F8"/>
                    </a:solidFill>
                  </a:tcPr>
                </a:tc>
              </a:tr>
              <a:tr h="329184">
                <a:tc>
                  <a:txBody>
                    <a:bodyPr/>
                    <a:lstStyle/>
                    <a:p>
                      <a:r>
                        <a:rPr sz="1300" b="0">
                          <a:solidFill>
                            <a:srgbClr val="1E2A32"/>
                          </a:solidFill>
                          <a:latin typeface="Calibri"/>
                        </a:rPr>
                        <a:t>tìm kiếm trực tuyến</a:t>
                      </a:r>
                    </a:p>
                  </a:txBody>
                  <a:tcPr marL="54864" marR="54864" marT="27432" marB="27432">
                    <a:solidFill>
                      <a:srgbClr val="FFFFFF"/>
                    </a:solidFill>
                  </a:tcPr>
                </a:tc>
                <a:tc>
                  <a:txBody>
                    <a:bodyPr/>
                    <a:lstStyle/>
                    <a:p>
                      <a:r>
                        <a:rPr sz="1300" b="0">
                          <a:solidFill>
                            <a:srgbClr val="1E2A32"/>
                          </a:solidFill>
                          <a:latin typeface="Calibri"/>
                        </a:rPr>
                        <a:t>lạc ở khúc cua</a:t>
                      </a:r>
                    </a:p>
                  </a:txBody>
                  <a:tcPr marL="54864" marR="54864" marT="27432" marB="27432">
                    <a:solidFill>
                      <a:srgbClr val="FFFFFF"/>
                    </a:solidFill>
                  </a:tcPr>
                </a:tc>
              </a:tr>
            </a:tbl>
          </a:graphicData>
        </a:graphic>
      </p:graphicFrame>
      <p:sp>
        <p:nvSpPr>
          <p:cNvPr id="7" name="TextBox 6"/>
          <p:cNvSpPr txBox="1"/>
          <p:nvPr/>
        </p:nvSpPr>
        <p:spPr>
          <a:xfrm>
            <a:off x="502920" y="4069080"/>
            <a:ext cx="5120640" cy="2286000"/>
          </a:xfrm>
          <a:prstGeom prst="rect">
            <a:avLst/>
          </a:prstGeom>
          <a:noFill/>
        </p:spPr>
        <p:txBody>
          <a:bodyPr wrap="square" anchor="t" lIns="0" rIns="0" tIns="0" bIns="0">
            <a:spAutoFit/>
          </a:bodyPr>
          <a:lstStyle/>
          <a:p>
            <a:pPr algn="l">
              <a:spcAft>
                <a:spcPts val="800"/>
              </a:spcAft>
            </a:pPr>
            <a:r>
              <a:rPr sz="1400" b="1">
                <a:solidFill>
                  <a:srgbClr val="137C8B"/>
                </a:solidFill>
                <a:latin typeface="Calibri"/>
              </a:rPr>
              <a:t>• </a:t>
            </a:r>
            <a:r>
              <a:rPr sz="1400" b="0">
                <a:solidFill>
                  <a:srgbClr val="1E2A32"/>
                </a:solidFill>
                <a:latin typeface="Calibri"/>
              </a:rPr>
              <a:t>Giữ: κ 80, tay đòn dọc +0.15, ngang 0, yaw của bộ bám, 1 lượt (PE3)</a:t>
            </a:r>
          </a:p>
          <a:p>
            <a:pPr algn="l">
              <a:spcAft>
                <a:spcPts val="800"/>
              </a:spcAft>
            </a:pPr>
            <a:r>
              <a:rPr sz="1400" b="1">
                <a:solidFill>
                  <a:srgbClr val="137C8B"/>
                </a:solidFill>
                <a:latin typeface="Calibri"/>
              </a:rPr>
              <a:t>• </a:t>
            </a:r>
            <a:r>
              <a:rPr sz="1400" b="0">
                <a:solidFill>
                  <a:srgbClr val="1E2A32"/>
                </a:solidFill>
                <a:latin typeface="Calibri"/>
              </a:rPr>
              <a:t>0.49 → </a:t>
            </a:r>
            <a:r>
              <a:rPr sz="1400" b="1">
                <a:solidFill>
                  <a:srgbClr val="14242E"/>
                </a:solidFill>
                <a:latin typeface="Calibri"/>
              </a:rPr>
              <a:t>0.37</a:t>
            </a:r>
            <a:r>
              <a:rPr sz="1400" b="0">
                <a:solidFill>
                  <a:srgbClr val="1E2A32"/>
                </a:solidFill>
                <a:latin typeface="Calibri"/>
              </a:rPr>
              <a:t> (hạng 2)</a:t>
            </a:r>
          </a:p>
          <a:p>
            <a:pPr algn="l">
              <a:spcAft>
                <a:spcPts val="800"/>
              </a:spcAft>
            </a:pPr>
            <a:r>
              <a:rPr sz="1400" b="1">
                <a:solidFill>
                  <a:srgbClr val="137C8B"/>
                </a:solidFill>
                <a:latin typeface="Calibri"/>
              </a:rPr>
              <a:t>• </a:t>
            </a:r>
            <a:r>
              <a:rPr sz="1400" b="0">
                <a:solidFill>
                  <a:srgbClr val="1E2A32"/>
                </a:solidFill>
                <a:latin typeface="Calibri"/>
              </a:rPr>
              <a:t>TA cho chỉnh tham số Track03 theo điểm public</a:t>
            </a:r>
          </a:p>
        </p:txBody>
      </p:sp>
      <p:pic>
        <p:nvPicPr>
          <p:cNvPr id="8" name="Picture 7" descr="x06_t3_paint_steps_390.png"/>
          <p:cNvPicPr>
            <a:picLocks noChangeAspect="1"/>
          </p:cNvPicPr>
          <p:nvPr/>
        </p:nvPicPr>
        <p:blipFill>
          <a:blip r:embed="rId3"/>
          <a:stretch>
            <a:fillRect/>
          </a:stretch>
        </p:blipFill>
        <p:spPr>
          <a:xfrm>
            <a:off x="5852160" y="1971149"/>
            <a:ext cx="5852160" cy="3738661"/>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Camera trước thấy ít mặt đường cạnh xe → thêm camera bên</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46</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Camera trước chỉ nhìn 5–18 m phía trước.</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Tầm nhìn của một camera.</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Camera trước-trái / trước-phải (thông số ngoại từ yaml) cho phần mặt đường cạnh xe (&lt; 5 m, |ngang| ≥ 1.5 m), khối NCC riêng, κ_side 40.</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0.37 → 0.33 (PF2); κ_side 80 → 0.47; 3 lượt với camera bên bị trôi (0.47).</a:t>
            </a:r>
          </a:p>
        </p:txBody>
      </p:sp>
      <p:pic>
        <p:nvPicPr>
          <p:cNvPr id="18" name="Picture 17" descr="x07_t3_side_cams.png"/>
          <p:cNvPicPr>
            <a:picLocks noChangeAspect="1"/>
          </p:cNvPicPr>
          <p:nvPr/>
        </p:nvPicPr>
        <p:blipFill>
          <a:blip r:embed="rId3"/>
          <a:stretch>
            <a:fillRect/>
          </a:stretch>
        </p:blipFill>
        <p:spPr>
          <a:xfrm>
            <a:off x="502920" y="3495648"/>
            <a:ext cx="11155679" cy="2454455"/>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Vị trí dọc rung theo bộ bám</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47</a:t>
            </a:r>
          </a:p>
        </p:txBody>
      </p:sp>
      <p:sp>
        <p:nvSpPr>
          <p:cNvPr id="6" name="Rounded Rectangle 5"/>
          <p:cNvSpPr/>
          <p:nvPr/>
        </p:nvSpPr>
        <p:spPr>
          <a:xfrm>
            <a:off x="502920" y="132588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80744"/>
            <a:ext cx="39319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60020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Tốc độ suy ra từ kết quả nhảy 0–29 m/s trong khi xe chạy đều ~9.5 m/s; rung dọc 0.51 m ở frame private 409–950.</a:t>
            </a:r>
          </a:p>
        </p:txBody>
      </p:sp>
      <p:sp>
        <p:nvSpPr>
          <p:cNvPr id="9" name="Rounded Rectangle 8"/>
          <p:cNvSpPr/>
          <p:nvPr/>
        </p:nvSpPr>
        <p:spPr>
          <a:xfrm>
            <a:off x="502920" y="2377440"/>
            <a:ext cx="4206240" cy="9601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32304"/>
            <a:ext cx="39319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40080" y="2651760"/>
            <a:ext cx="3931920" cy="6858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Vạch làn chốt </a:t>
            </a:r>
            <a:r>
              <a:rPr sz="1250" b="1">
                <a:solidFill>
                  <a:srgbClr val="14242E"/>
                </a:solidFill>
                <a:latin typeface="Calibri"/>
              </a:rPr>
              <a:t>ngang</a:t>
            </a:r>
            <a:r>
              <a:rPr sz="1250" b="0">
                <a:solidFill>
                  <a:srgbClr val="1E2A32"/>
                </a:solidFill>
                <a:latin typeface="Calibri"/>
              </a:rPr>
              <a:t> ở mọi frame; đường NCC </a:t>
            </a:r>
            <a:r>
              <a:rPr sz="1250" b="1">
                <a:solidFill>
                  <a:srgbClr val="14242E"/>
                </a:solidFill>
                <a:latin typeface="Calibri"/>
              </a:rPr>
              <a:t>dọc</a:t>
            </a:r>
            <a:r>
              <a:rPr sz="1250" b="0">
                <a:solidFill>
                  <a:srgbClr val="1E2A32"/>
                </a:solidFill>
                <a:latin typeface="Calibri"/>
              </a:rPr>
              <a:t> phẳng giữa các vạch cắt ngang (hình trên) → vị trí dọc theo bộ bám.</a:t>
            </a:r>
          </a:p>
        </p:txBody>
      </p:sp>
      <p:sp>
        <p:nvSpPr>
          <p:cNvPr id="12" name="Rounded Rectangle 11"/>
          <p:cNvSpPr/>
          <p:nvPr/>
        </p:nvSpPr>
        <p:spPr>
          <a:xfrm>
            <a:off x="502920" y="3429000"/>
            <a:ext cx="4206240" cy="7315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483864"/>
            <a:ext cx="39319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3703320"/>
            <a:ext cx="3931920" cy="4572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Giữa các vạch: pose đi theo tốc độ IMU × hệ số tỉ lệ tự học; chỉ khi ≥ 4 m/s và gần thẳng; κ_imu 10.</a:t>
            </a:r>
          </a:p>
        </p:txBody>
      </p:sp>
      <p:sp>
        <p:nvSpPr>
          <p:cNvPr id="15" name="Rounded Rectangle 14"/>
          <p:cNvSpPr/>
          <p:nvPr/>
        </p:nvSpPr>
        <p:spPr>
          <a:xfrm>
            <a:off x="502920" y="4251960"/>
            <a:ext cx="4206240" cy="50292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306824"/>
            <a:ext cx="39319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40080" y="4526280"/>
            <a:ext cx="3931920" cy="22860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0.33 → 0.28; rung dọc 0.51 → 0.24 m.</a:t>
            </a:r>
          </a:p>
        </p:txBody>
      </p:sp>
      <p:pic>
        <p:nvPicPr>
          <p:cNvPr id="18" name="Picture 17" descr="x08_t3_ncc_profiles.png"/>
          <p:cNvPicPr>
            <a:picLocks noChangeAspect="1"/>
          </p:cNvPicPr>
          <p:nvPr/>
        </p:nvPicPr>
        <p:blipFill>
          <a:blip r:embed="rId3"/>
          <a:stretch>
            <a:fillRect/>
          </a:stretch>
        </p:blipFill>
        <p:spPr>
          <a:xfrm>
            <a:off x="4937760" y="1731773"/>
            <a:ext cx="6766560" cy="1675380"/>
          </a:xfrm>
          <a:prstGeom prst="rect">
            <a:avLst/>
          </a:prstGeom>
        </p:spPr>
      </p:pic>
      <p:pic>
        <p:nvPicPr>
          <p:cNvPr id="19" name="Picture 18" descr="t3_speed_jitter.png"/>
          <p:cNvPicPr>
            <a:picLocks noChangeAspect="1"/>
          </p:cNvPicPr>
          <p:nvPr/>
        </p:nvPicPr>
        <p:blipFill>
          <a:blip r:embed="rId4"/>
          <a:stretch>
            <a:fillRect/>
          </a:stretch>
        </p:blipFill>
        <p:spPr>
          <a:xfrm>
            <a:off x="5696815" y="3913632"/>
            <a:ext cx="5248448" cy="248716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200" b="1">
                <a:solidFill>
                  <a:srgbClr val="14242E"/>
                </a:solidFill>
                <a:latin typeface="Cambria"/>
              </a:rPr>
              <a:t>Chuyển động IMU không có điều kiện lệch 1 m khi bò chậm / vào cua</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48</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Bản không điều kiện lệch ~1 m ở frame 2400–2480; kéo về bộ bám ở mọi frame đứng yên làm lệch (NCC 0.54 → 0.28).</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Tốc độ IMU kém tin khi chậm và khi cua (điểm tham chiếu trượt); một lực kéo áp hàng trăm lần lúc đứng.</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Chỉ dùng khi v ≥ 4 m/s và |ω| ≤ 3°/s; lực kéo nhân theo quãng đường.</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đứng yên và yaw trùng từng byte bản trước; Q1–Q3 (κ_imu 20/10/5) đều 0.28.</a:t>
            </a:r>
          </a:p>
        </p:txBody>
      </p:sp>
      <p:pic>
        <p:nvPicPr>
          <p:cNvPr id="18" name="Picture 17" descr="t3_speed_jitter.png"/>
          <p:cNvPicPr>
            <a:picLocks noChangeAspect="1"/>
          </p:cNvPicPr>
          <p:nvPr/>
        </p:nvPicPr>
        <p:blipFill>
          <a:blip r:embed="rId3"/>
          <a:stretch>
            <a:fillRect/>
          </a:stretch>
        </p:blipFill>
        <p:spPr>
          <a:xfrm>
            <a:off x="2539986" y="3044952"/>
            <a:ext cx="7081546" cy="335584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Cuối Track03: vị trí trượt lùi 1.57 m khi phanh</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49</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Frame 2850–3142 (~11 % private): PF2 / Q2 trượt từ +0.1 xuống −1.57 m so với bộ bám khi xe phanh 3 → 0 m/s.</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Đường NCC phẳng (không vạch chốt dọc), κ 80 cộng dồn một độ dốc nhỏ; camera trước và bên dốc ngược chiều; IMU × tỉ lệ đã học dự đoán −0.87 m.</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Giữ chế độ IMU khi giảm tốc tới 0.5 m/s nếu hệ số tỉ lệ đã học kỹ (sd ≤ 0.08) – tự tắt sau lần đứng 43 s.</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điểm dừng cuối −1.57 → −0.72 m; public 0.28 = 0.28 (Q4 = bài cuối).</a:t>
            </a:r>
          </a:p>
        </p:txBody>
      </p:sp>
      <p:pic>
        <p:nvPicPr>
          <p:cNvPr id="18" name="Picture 17" descr="t3_end_slide.png"/>
          <p:cNvPicPr>
            <a:picLocks noChangeAspect="1"/>
          </p:cNvPicPr>
          <p:nvPr/>
        </p:nvPicPr>
        <p:blipFill>
          <a:blip r:embed="rId3"/>
          <a:stretch>
            <a:fillRect/>
          </a:stretch>
        </p:blipFill>
        <p:spPr>
          <a:xfrm>
            <a:off x="2392986" y="3044952"/>
            <a:ext cx="7375547" cy="335584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Kaggle chỉ hiện 2 chữ số, cắt bớt</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50</a:t>
            </a:r>
          </a:p>
        </p:txBody>
      </p:sp>
      <p:sp>
        <p:nvSpPr>
          <p:cNvPr id="6" name="Rounded Rectangle 5"/>
          <p:cNvSpPr/>
          <p:nvPr/>
        </p:nvSpPr>
        <p:spPr>
          <a:xfrm>
            <a:off x="502920" y="1325880"/>
            <a:ext cx="5532120" cy="100584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73152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Từ 21/10: 0.55496 hiện 0.55; κ_imu 5/10/20 và các bản Q7/Q8 đều 0.28.</a:t>
            </a:r>
          </a:p>
        </p:txBody>
      </p:sp>
      <p:sp>
        <p:nvSpPr>
          <p:cNvPr id="9" name="Rounded Rectangle 8"/>
          <p:cNvSpPr/>
          <p:nvPr/>
        </p:nvSpPr>
        <p:spPr>
          <a:xfrm>
            <a:off x="6126480" y="1325880"/>
            <a:ext cx="5532120" cy="100584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73152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Ban tổ chức chống dò; độ phân giải ±0.005.</a:t>
            </a:r>
          </a:p>
        </p:txBody>
      </p:sp>
      <p:sp>
        <p:nvSpPr>
          <p:cNvPr id="12" name="Rounded Rectangle 11"/>
          <p:cNvSpPr/>
          <p:nvPr/>
        </p:nvSpPr>
        <p:spPr>
          <a:xfrm>
            <a:off x="502920" y="2404872"/>
            <a:ext cx="5532120" cy="100584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450591"/>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670048"/>
            <a:ext cx="5303520" cy="73152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Thước đo offline: độ khớp bản đồ (chỉ để loại cấu hình hỏng), tích phân IMU, chạy Track01/02 như không GNSS, camera bên làm phép thử độc lập (tương quan với public −0.77…−0.94).</a:t>
            </a:r>
          </a:p>
        </p:txBody>
      </p:sp>
      <p:sp>
        <p:nvSpPr>
          <p:cNvPr id="15" name="Rounded Rectangle 14"/>
          <p:cNvSpPr/>
          <p:nvPr/>
        </p:nvSpPr>
        <p:spPr>
          <a:xfrm>
            <a:off x="6126480" y="2404872"/>
            <a:ext cx="5532120" cy="1005840"/>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450591"/>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670048"/>
            <a:ext cx="5303520" cy="731520"/>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công cụ ra quyết định, không đổi điểm.</a:t>
            </a:r>
          </a:p>
        </p:txBody>
      </p:sp>
      <p:pic>
        <p:nvPicPr>
          <p:cNvPr id="18" name="Picture 17" descr="x08_t3_ncc_profiles.png"/>
          <p:cNvPicPr>
            <a:picLocks noChangeAspect="1"/>
          </p:cNvPicPr>
          <p:nvPr/>
        </p:nvPicPr>
        <p:blipFill>
          <a:blip r:embed="rId3"/>
          <a:stretch>
            <a:fillRect/>
          </a:stretch>
        </p:blipFill>
        <p:spPr>
          <a:xfrm>
            <a:off x="502920" y="3561275"/>
            <a:ext cx="11155680" cy="276211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Còn mở: đầu Track03</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51</a:t>
            </a:r>
          </a:p>
        </p:txBody>
      </p:sp>
      <p:sp>
        <p:nvSpPr>
          <p:cNvPr id="6" name="Rounded Rectangle 5"/>
          <p:cNvSpPr/>
          <p:nvPr/>
        </p:nvSpPr>
        <p:spPr>
          <a:xfrm>
            <a:off x="50292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5303520" cy="274320"/>
          </a:xfrm>
          <a:prstGeom prst="rect">
            <a:avLst/>
          </a:prstGeom>
          <a:noFill/>
        </p:spPr>
        <p:txBody>
          <a:bodyPr wrap="square" anchor="t" lIns="0" rIns="0" tIns="0" bIns="0">
            <a:spAutoFit/>
          </a:bodyPr>
          <a:lstStyle/>
          <a:p>
            <a:pPr algn="l">
              <a:spcAft>
                <a:spcPts val="600"/>
              </a:spcAft>
            </a:pPr>
            <a:r>
              <a:rPr sz="1100" b="1">
                <a:solidFill>
                  <a:srgbClr val="E89B2B"/>
                </a:solidFill>
                <a:latin typeface="Calibri"/>
              </a:rPr>
              <a:t>Triệu chứng</a:t>
            </a:r>
          </a:p>
        </p:txBody>
      </p:sp>
      <p:sp>
        <p:nvSpPr>
          <p:cNvPr id="8" name="TextBox 7"/>
          <p:cNvSpPr txBox="1"/>
          <p:nvPr/>
        </p:nvSpPr>
        <p:spPr>
          <a:xfrm>
            <a:off x="64008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Camera trước không có ảnh ở frame 0–13; xe đang cua nhẹ ~4°/s nên chế độ IMU chỉ bật từ frame 21; bước của bộ bám frame 1–9 nhảy 5–17 m/s.</a:t>
            </a:r>
          </a:p>
        </p:txBody>
      </p:sp>
      <p:sp>
        <p:nvSpPr>
          <p:cNvPr id="9" name="Rounded Rectangle 8"/>
          <p:cNvSpPr/>
          <p:nvPr/>
        </p:nvSpPr>
        <p:spPr>
          <a:xfrm>
            <a:off x="6126480" y="1325880"/>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63640" y="1371600"/>
            <a:ext cx="5303520" cy="274320"/>
          </a:xfrm>
          <a:prstGeom prst="rect">
            <a:avLst/>
          </a:prstGeom>
          <a:noFill/>
        </p:spPr>
        <p:txBody>
          <a:bodyPr wrap="square" anchor="t" lIns="0" rIns="0" tIns="0" bIns="0">
            <a:spAutoFit/>
          </a:bodyPr>
          <a:lstStyle/>
          <a:p>
            <a:pPr algn="l">
              <a:spcAft>
                <a:spcPts val="600"/>
              </a:spcAft>
            </a:pPr>
            <a:r>
              <a:rPr sz="1100" b="1">
                <a:solidFill>
                  <a:srgbClr val="5F6F7A"/>
                </a:solidFill>
                <a:latin typeface="Calibri"/>
              </a:rPr>
              <a:t>Nguyên nhân</a:t>
            </a:r>
          </a:p>
        </p:txBody>
      </p:sp>
      <p:sp>
        <p:nvSpPr>
          <p:cNvPr id="11" name="TextBox 10"/>
          <p:cNvSpPr txBox="1"/>
          <p:nvPr/>
        </p:nvSpPr>
        <p:spPr>
          <a:xfrm>
            <a:off x="6263640" y="1591056"/>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Luồng h265 bắt đầu giữa một nhóm ảnh nén (khung khoá đầu ở message 14); ngưỡng 3°/s.</a:t>
            </a:r>
          </a:p>
        </p:txBody>
      </p:sp>
      <p:sp>
        <p:nvSpPr>
          <p:cNvPr id="12" name="Rounded Rectangle 11"/>
          <p:cNvSpPr/>
          <p:nvPr/>
        </p:nvSpPr>
        <p:spPr>
          <a:xfrm>
            <a:off x="50292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31135"/>
            <a:ext cx="530352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Cách sửa</a:t>
            </a:r>
          </a:p>
        </p:txBody>
      </p:sp>
      <p:sp>
        <p:nvSpPr>
          <p:cNvPr id="14" name="TextBox 13"/>
          <p:cNvSpPr txBox="1"/>
          <p:nvPr/>
        </p:nvSpPr>
        <p:spPr>
          <a:xfrm>
            <a:off x="64008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Ứng viên (chưa nộp): --imu-wmax 5 (t3_R1) – frame 6–81 đi theo tốc độ IMU.</a:t>
            </a:r>
          </a:p>
        </p:txBody>
      </p:sp>
      <p:sp>
        <p:nvSpPr>
          <p:cNvPr id="15" name="Rounded Rectangle 14"/>
          <p:cNvSpPr/>
          <p:nvPr/>
        </p:nvSpPr>
        <p:spPr>
          <a:xfrm>
            <a:off x="6126480" y="2185415"/>
            <a:ext cx="5532120" cy="786384"/>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231135"/>
            <a:ext cx="5303520" cy="274320"/>
          </a:xfrm>
          <a:prstGeom prst="rect">
            <a:avLst/>
          </a:prstGeom>
          <a:noFill/>
        </p:spPr>
        <p:txBody>
          <a:bodyPr wrap="square" anchor="t" lIns="0" rIns="0" tIns="0" bIns="0">
            <a:spAutoFit/>
          </a:bodyPr>
          <a:lstStyle/>
          <a:p>
            <a:pPr algn="l">
              <a:spcAft>
                <a:spcPts val="600"/>
              </a:spcAft>
            </a:pPr>
            <a:r>
              <a:rPr sz="1100" b="1">
                <a:solidFill>
                  <a:srgbClr val="14242E"/>
                </a:solidFill>
                <a:latin typeface="Calibri"/>
              </a:rPr>
              <a:t>Trước → sau</a:t>
            </a:r>
          </a:p>
        </p:txBody>
      </p:sp>
      <p:sp>
        <p:nvSpPr>
          <p:cNvPr id="17" name="TextBox 16"/>
          <p:cNvSpPr txBox="1"/>
          <p:nvPr/>
        </p:nvSpPr>
        <p:spPr>
          <a:xfrm>
            <a:off x="6263640" y="2450591"/>
            <a:ext cx="5303520" cy="512064"/>
          </a:xfrm>
          <a:prstGeom prst="rect">
            <a:avLst/>
          </a:prstGeom>
          <a:noFill/>
        </p:spPr>
        <p:txBody>
          <a:bodyPr wrap="square" anchor="t" lIns="0" rIns="0" tIns="0" bIns="0">
            <a:spAutoFit/>
          </a:bodyPr>
          <a:lstStyle/>
          <a:p>
            <a:pPr algn="l">
              <a:spcAft>
                <a:spcPts val="600"/>
              </a:spcAft>
            </a:pPr>
            <a:r>
              <a:rPr sz="1250" b="0">
                <a:solidFill>
                  <a:srgbClr val="1E2A32"/>
                </a:solidFill>
                <a:latin typeface="Calibri"/>
              </a:rPr>
              <a:t>đổi 0.037 m RMS ở public, lợi dự kiến ≤ 0.01.</a:t>
            </a:r>
          </a:p>
        </p:txBody>
      </p:sp>
      <p:pic>
        <p:nvPicPr>
          <p:cNvPr id="18" name="Picture 17" descr="x05_t3_ipm_390.png"/>
          <p:cNvPicPr>
            <a:picLocks noChangeAspect="1"/>
          </p:cNvPicPr>
          <p:nvPr/>
        </p:nvPicPr>
        <p:blipFill>
          <a:blip r:embed="rId3"/>
          <a:stretch>
            <a:fillRect/>
          </a:stretch>
        </p:blipFill>
        <p:spPr>
          <a:xfrm>
            <a:off x="1132697" y="3044952"/>
            <a:ext cx="9896125" cy="335584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4 – Vấn đề và cách sửa · slide 4.37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Những hướng đã thử và bỏ</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52</a:t>
            </a:r>
          </a:p>
        </p:txBody>
      </p:sp>
      <p:graphicFrame>
        <p:nvGraphicFramePr>
          <p:cNvPr id="6" name="Table 5"/>
          <p:cNvGraphicFramePr>
            <a:graphicFrameLocks noGrp="1"/>
          </p:cNvGraphicFramePr>
          <p:nvPr/>
        </p:nvGraphicFramePr>
        <p:xfrm>
          <a:off x="502920" y="1325880"/>
          <a:ext cx="11155680" cy="3950208"/>
        </p:xfrm>
        <a:graphic>
          <a:graphicData uri="http://schemas.openxmlformats.org/drawingml/2006/table">
            <a:tbl>
              <a:tblPr firstRow="1" bandRow="1">
                <a:tableStyleId>{5C22544A-7EE6-4342-B048-85BDC9FD1C3A}</a:tableStyleId>
              </a:tblPr>
              <a:tblGrid>
                <a:gridCol w="5943600"/>
                <a:gridCol w="5212080"/>
              </a:tblGrid>
              <a:tr h="329184">
                <a:tc>
                  <a:txBody>
                    <a:bodyPr/>
                    <a:lstStyle/>
                    <a:p>
                      <a:r>
                        <a:rPr sz="1200" b="1">
                          <a:solidFill>
                            <a:srgbClr val="FFFFFF"/>
                          </a:solidFill>
                          <a:latin typeface="Calibri"/>
                        </a:rPr>
                        <a:t>Đã thử</a:t>
                      </a:r>
                    </a:p>
                  </a:txBody>
                  <a:tcPr marL="54864" marR="54864" marT="27432" marB="27432">
                    <a:solidFill>
                      <a:srgbClr val="137C8B"/>
                    </a:solidFill>
                  </a:tcPr>
                </a:tc>
                <a:tc>
                  <a:txBody>
                    <a:bodyPr/>
                    <a:lstStyle/>
                    <a:p>
                      <a:r>
                        <a:rPr sz="1200" b="1">
                          <a:solidFill>
                            <a:srgbClr val="FFFFFF"/>
                          </a:solidFill>
                          <a:latin typeface="Calibri"/>
                        </a:rPr>
                        <a:t>Kết quả</a:t>
                      </a:r>
                    </a:p>
                  </a:txBody>
                  <a:tcPr marL="54864" marR="54864" marT="27432" marB="27432">
                    <a:solidFill>
                      <a:srgbClr val="137C8B"/>
                    </a:solidFill>
                  </a:tcPr>
                </a:tc>
              </a:tr>
              <a:tr h="329184">
                <a:tc>
                  <a:txBody>
                    <a:bodyPr/>
                    <a:lstStyle/>
                    <a:p>
                      <a:r>
                        <a:rPr sz="1200" b="0">
                          <a:solidFill>
                            <a:srgbClr val="1E2A32"/>
                          </a:solidFill>
                          <a:latin typeface="Calibri"/>
                        </a:rPr>
                        <a:t>Làm mượt GNSS ở Track02</a:t>
                      </a:r>
                    </a:p>
                  </a:txBody>
                  <a:tcPr marL="54864" marR="54864" marT="27432" marB="27432">
                    <a:solidFill>
                      <a:srgbClr val="F3F6F8"/>
                    </a:solidFill>
                  </a:tcPr>
                </a:tc>
                <a:tc>
                  <a:txBody>
                    <a:bodyPr/>
                    <a:lstStyle/>
                    <a:p>
                      <a:r>
                        <a:rPr sz="1200" b="0">
                          <a:solidFill>
                            <a:srgbClr val="1E2A32"/>
                          </a:solidFill>
                          <a:latin typeface="Calibri"/>
                        </a:rPr>
                        <a:t>0.57111 → 0.57811 (xấu hơn)</a:t>
                      </a:r>
                    </a:p>
                  </a:txBody>
                  <a:tcPr marL="54864" marR="54864" marT="27432" marB="27432">
                    <a:solidFill>
                      <a:srgbClr val="F3F6F8"/>
                    </a:solidFill>
                  </a:tcPr>
                </a:tc>
              </a:tr>
              <a:tr h="329184">
                <a:tc>
                  <a:txBody>
                    <a:bodyPr/>
                    <a:lstStyle/>
                    <a:p>
                      <a:r>
                        <a:rPr sz="1200" b="0">
                          <a:solidFill>
                            <a:srgbClr val="1E2A32"/>
                          </a:solidFill>
                          <a:latin typeface="Calibri"/>
                        </a:rPr>
                        <a:t>Yaw = hướng chạy ở Track01</a:t>
                      </a:r>
                    </a:p>
                  </a:txBody>
                  <a:tcPr marL="54864" marR="54864" marT="27432" marB="27432">
                    <a:solidFill>
                      <a:srgbClr val="FFFFFF"/>
                    </a:solidFill>
                  </a:tcPr>
                </a:tc>
                <a:tc>
                  <a:txBody>
                    <a:bodyPr/>
                    <a:lstStyle/>
                    <a:p>
                      <a:r>
                        <a:rPr sz="1200" b="0">
                          <a:solidFill>
                            <a:srgbClr val="1E2A32"/>
                          </a:solidFill>
                          <a:latin typeface="Calibri"/>
                        </a:rPr>
                        <a:t>1.26235 → 1.35783</a:t>
                      </a:r>
                    </a:p>
                  </a:txBody>
                  <a:tcPr marL="54864" marR="54864" marT="27432" marB="27432">
                    <a:solidFill>
                      <a:srgbClr val="FFFFFF"/>
                    </a:solidFill>
                  </a:tcPr>
                </a:tc>
              </a:tr>
              <a:tr h="329184">
                <a:tc>
                  <a:txBody>
                    <a:bodyPr/>
                    <a:lstStyle/>
                    <a:p>
                      <a:r>
                        <a:rPr sz="1200" b="0">
                          <a:solidFill>
                            <a:srgbClr val="1E2A32"/>
                          </a:solidFill>
                          <a:latin typeface="Calibri"/>
                        </a:rPr>
                        <a:t>Lệch thời gian ±0.1 s</a:t>
                      </a:r>
                    </a:p>
                  </a:txBody>
                  <a:tcPr marL="54864" marR="54864" marT="27432" marB="27432">
                    <a:solidFill>
                      <a:srgbClr val="F3F6F8"/>
                    </a:solidFill>
                  </a:tcPr>
                </a:tc>
                <a:tc>
                  <a:txBody>
                    <a:bodyPr/>
                    <a:lstStyle/>
                    <a:p>
                      <a:r>
                        <a:rPr sz="1200" b="0">
                          <a:solidFill>
                            <a:srgbClr val="1E2A32"/>
                          </a:solidFill>
                          <a:latin typeface="Calibri"/>
                        </a:rPr>
                        <a:t>tối ưu −3.6 / −4.7 ms ≈ 0</a:t>
                      </a:r>
                    </a:p>
                  </a:txBody>
                  <a:tcPr marL="54864" marR="54864" marT="27432" marB="27432">
                    <a:solidFill>
                      <a:srgbClr val="F3F6F8"/>
                    </a:solidFill>
                  </a:tcPr>
                </a:tc>
              </a:tr>
              <a:tr h="329184">
                <a:tc>
                  <a:txBody>
                    <a:bodyPr/>
                    <a:lstStyle/>
                    <a:p>
                      <a:r>
                        <a:rPr sz="1200" b="0">
                          <a:solidFill>
                            <a:srgbClr val="1E2A32"/>
                          </a:solidFill>
                          <a:latin typeface="Calibri"/>
                        </a:rPr>
                        <a:t>Hiệu chỉnh trượt trong bộ lọc yaw</a:t>
                      </a:r>
                    </a:p>
                  </a:txBody>
                  <a:tcPr marL="54864" marR="54864" marT="27432" marB="27432">
                    <a:solidFill>
                      <a:srgbClr val="FFFFFF"/>
                    </a:solidFill>
                  </a:tcPr>
                </a:tc>
                <a:tc>
                  <a:txBody>
                    <a:bodyPr/>
                    <a:lstStyle/>
                    <a:p>
                      <a:r>
                        <a:rPr sz="1200" b="0">
                          <a:solidFill>
                            <a:srgbClr val="1E2A32"/>
                          </a:solidFill>
                          <a:latin typeface="Calibri"/>
                        </a:rPr>
                        <a:t>0.80359 → 0.80646</a:t>
                      </a:r>
                    </a:p>
                  </a:txBody>
                  <a:tcPr marL="54864" marR="54864" marT="27432" marB="27432">
                    <a:solidFill>
                      <a:srgbClr val="FFFFFF"/>
                    </a:solidFill>
                  </a:tcPr>
                </a:tc>
              </a:tr>
              <a:tr h="329184">
                <a:tc>
                  <a:txBody>
                    <a:bodyPr/>
                    <a:lstStyle/>
                    <a:p>
                      <a:r>
                        <a:rPr sz="1200" b="0">
                          <a:solidFill>
                            <a:srgbClr val="1E2A32"/>
                          </a:solidFill>
                          <a:latin typeface="Calibri"/>
                        </a:rPr>
                        <a:t>Bộ ghép theo Hessian</a:t>
                      </a:r>
                    </a:p>
                  </a:txBody>
                  <a:tcPr marL="54864" marR="54864" marT="27432" marB="27432">
                    <a:solidFill>
                      <a:srgbClr val="F3F6F8"/>
                    </a:solidFill>
                  </a:tcPr>
                </a:tc>
                <a:tc>
                  <a:txBody>
                    <a:bodyPr/>
                    <a:lstStyle/>
                    <a:p>
                      <a:r>
                        <a:rPr sz="1200" b="0">
                          <a:solidFill>
                            <a:srgbClr val="1E2A32"/>
                          </a:solidFill>
                          <a:latin typeface="Calibri"/>
                        </a:rPr>
                        <a:t>0.84 / 0.87 so với 0.80</a:t>
                      </a:r>
                    </a:p>
                  </a:txBody>
                  <a:tcPr marL="54864" marR="54864" marT="27432" marB="27432">
                    <a:solidFill>
                      <a:srgbClr val="F3F6F8"/>
                    </a:solidFill>
                  </a:tcPr>
                </a:tc>
              </a:tr>
              <a:tr h="329184">
                <a:tc>
                  <a:txBody>
                    <a:bodyPr/>
                    <a:lstStyle/>
                    <a:p>
                      <a:r>
                        <a:rPr sz="1200" b="0">
                          <a:solidFill>
                            <a:srgbClr val="1E2A32"/>
                          </a:solidFill>
                          <a:latin typeface="Calibri"/>
                        </a:rPr>
                        <a:t>Kalman bền vững (Huber)</a:t>
                      </a:r>
                    </a:p>
                  </a:txBody>
                  <a:tcPr marL="54864" marR="54864" marT="27432" marB="27432">
                    <a:solidFill>
                      <a:srgbClr val="FFFFFF"/>
                    </a:solidFill>
                  </a:tcPr>
                </a:tc>
                <a:tc>
                  <a:txBody>
                    <a:bodyPr/>
                    <a:lstStyle/>
                    <a:p>
                      <a:r>
                        <a:rPr sz="1200" b="0">
                          <a:solidFill>
                            <a:srgbClr val="1E2A32"/>
                          </a:solidFill>
                          <a:latin typeface="Calibri"/>
                        </a:rPr>
                        <a:t>đổi 1.9 cm</a:t>
                      </a:r>
                    </a:p>
                  </a:txBody>
                  <a:tcPr marL="54864" marR="54864" marT="27432" marB="27432">
                    <a:solidFill>
                      <a:srgbClr val="FFFFFF"/>
                    </a:solidFill>
                  </a:tcPr>
                </a:tc>
              </a:tr>
              <a:tr h="329184">
                <a:tc>
                  <a:txBody>
                    <a:bodyPr/>
                    <a:lstStyle/>
                    <a:p>
                      <a:r>
                        <a:rPr sz="1200" b="0">
                          <a:solidFill>
                            <a:srgbClr val="1E2A32"/>
                          </a:solidFill>
                          <a:latin typeface="Calibri"/>
                        </a:rPr>
                        <a:t>Lệch giờ GNSS–IMU từ gia tốc kế</a:t>
                      </a:r>
                    </a:p>
                  </a:txBody>
                  <a:tcPr marL="54864" marR="54864" marT="27432" marB="27432">
                    <a:solidFill>
                      <a:srgbClr val="F3F6F8"/>
                    </a:solidFill>
                  </a:tcPr>
                </a:tc>
                <a:tc>
                  <a:txBody>
                    <a:bodyPr/>
                    <a:lstStyle/>
                    <a:p>
                      <a:r>
                        <a:rPr sz="1200" b="0">
                          <a:solidFill>
                            <a:srgbClr val="1E2A32"/>
                          </a:solidFill>
                          <a:latin typeface="Calibri"/>
                        </a:rPr>
                        <a:t>không đo được (±75–220 ms)</a:t>
                      </a:r>
                    </a:p>
                  </a:txBody>
                  <a:tcPr marL="54864" marR="54864" marT="27432" marB="27432">
                    <a:solidFill>
                      <a:srgbClr val="F3F6F8"/>
                    </a:solidFill>
                  </a:tcPr>
                </a:tc>
              </a:tr>
              <a:tr h="329184">
                <a:tc>
                  <a:txBody>
                    <a:bodyPr/>
                    <a:lstStyle/>
                    <a:p>
                      <a:r>
                        <a:rPr sz="1200" b="0">
                          <a:solidFill>
                            <a:srgbClr val="1E2A32"/>
                          </a:solidFill>
                          <a:latin typeface="Calibri"/>
                        </a:rPr>
                        <a:t>Bộ lọc hạt</a:t>
                      </a:r>
                    </a:p>
                  </a:txBody>
                  <a:tcPr marL="54864" marR="54864" marT="27432" marB="27432">
                    <a:solidFill>
                      <a:srgbClr val="FFFFFF"/>
                    </a:solidFill>
                  </a:tcPr>
                </a:tc>
                <a:tc>
                  <a:txBody>
                    <a:bodyPr/>
                    <a:lstStyle/>
                    <a:p>
                      <a:r>
                        <a:rPr sz="1200" b="0">
                          <a:solidFill>
                            <a:srgbClr val="1E2A32"/>
                          </a:solidFill>
                          <a:latin typeface="Calibri"/>
                        </a:rPr>
                        <a:t>tốc độ sụp về 0 ở vùng phẳng</a:t>
                      </a:r>
                    </a:p>
                  </a:txBody>
                  <a:tcPr marL="54864" marR="54864" marT="27432" marB="27432">
                    <a:solidFill>
                      <a:srgbClr val="FFFFFF"/>
                    </a:solidFill>
                  </a:tcPr>
                </a:tc>
              </a:tr>
              <a:tr h="329184">
                <a:tc>
                  <a:txBody>
                    <a:bodyPr/>
                    <a:lstStyle/>
                    <a:p>
                      <a:r>
                        <a:rPr sz="1200" b="0">
                          <a:solidFill>
                            <a:srgbClr val="1E2A32"/>
                          </a:solidFill>
                          <a:latin typeface="Calibri"/>
                        </a:rPr>
                        <a:t>Point cloud 3 camera trong bộ bám</a:t>
                      </a:r>
                    </a:p>
                  </a:txBody>
                  <a:tcPr marL="54864" marR="54864" marT="27432" marB="27432">
                    <a:solidFill>
                      <a:srgbClr val="F3F6F8"/>
                    </a:solidFill>
                  </a:tcPr>
                </a:tc>
                <a:tc>
                  <a:txBody>
                    <a:bodyPr/>
                    <a:lstStyle/>
                    <a:p>
                      <a:r>
                        <a:rPr sz="1200" b="0">
                          <a:solidFill>
                            <a:srgbClr val="1E2A32"/>
                          </a:solidFill>
                          <a:latin typeface="Calibri"/>
                        </a:rPr>
                        <a:t>0.95 so với 0.91 m</a:t>
                      </a:r>
                    </a:p>
                  </a:txBody>
                  <a:tcPr marL="54864" marR="54864" marT="27432" marB="27432">
                    <a:solidFill>
                      <a:srgbClr val="F3F6F8"/>
                    </a:solidFill>
                  </a:tcPr>
                </a:tc>
              </a:tr>
              <a:tr h="329184">
                <a:tc>
                  <a:txBody>
                    <a:bodyPr/>
                    <a:lstStyle/>
                    <a:p>
                      <a:r>
                        <a:rPr sz="1200" b="0">
                          <a:solidFill>
                            <a:srgbClr val="1E2A32"/>
                          </a:solidFill>
                          <a:latin typeface="Calibri"/>
                        </a:rPr>
                        <a:t>Yaw từ vạch sơn / hội tụ yaw nhanh</a:t>
                      </a:r>
                    </a:p>
                  </a:txBody>
                  <a:tcPr marL="54864" marR="54864" marT="27432" marB="27432">
                    <a:solidFill>
                      <a:srgbClr val="FFFFFF"/>
                    </a:solidFill>
                  </a:tcPr>
                </a:tc>
                <a:tc>
                  <a:txBody>
                    <a:bodyPr/>
                    <a:lstStyle/>
                    <a:p>
                      <a:r>
                        <a:rPr sz="1200" b="0">
                          <a:solidFill>
                            <a:srgbClr val="1E2A32"/>
                          </a:solidFill>
                          <a:latin typeface="Calibri"/>
                        </a:rPr>
                        <a:t>0.54 so với 0.49; 0.85–1.08 so với 0.80</a:t>
                      </a:r>
                    </a:p>
                  </a:txBody>
                  <a:tcPr marL="54864" marR="54864" marT="27432" marB="27432">
                    <a:solidFill>
                      <a:srgbClr val="FFFFFF"/>
                    </a:solidFill>
                  </a:tcPr>
                </a:tc>
              </a:tr>
              <a:tr h="329184">
                <a:tc>
                  <a:txBody>
                    <a:bodyPr/>
                    <a:lstStyle/>
                    <a:p>
                      <a:r>
                        <a:rPr sz="1200" b="0">
                          <a:solidFill>
                            <a:srgbClr val="1E2A32"/>
                          </a:solidFill>
                          <a:latin typeface="Calibri"/>
                        </a:rPr>
                        <a:t>Nhiều lượt vạch sơn có camera bên</a:t>
                      </a:r>
                    </a:p>
                  </a:txBody>
                  <a:tcPr marL="54864" marR="54864" marT="27432" marB="27432">
                    <a:solidFill>
                      <a:srgbClr val="F3F6F8"/>
                    </a:solidFill>
                  </a:tcPr>
                </a:tc>
                <a:tc>
                  <a:txBody>
                    <a:bodyPr/>
                    <a:lstStyle/>
                    <a:p>
                      <a:r>
                        <a:rPr sz="1200" b="0">
                          <a:solidFill>
                            <a:srgbClr val="1E2A32"/>
                          </a:solidFill>
                          <a:latin typeface="Calibri"/>
                        </a:rPr>
                        <a:t>0.47 so với 0.33</a:t>
                      </a:r>
                    </a:p>
                  </a:txBody>
                  <a:tcPr marL="54864" marR="54864" marT="27432" marB="27432">
                    <a:solidFill>
                      <a:srgbClr val="F3F6F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Track01/02: GNSS làm khung, chỉnh tham số theo điểm public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53</a:t>
            </a:r>
          </a:p>
        </p:txBody>
      </p:sp>
      <p:sp>
        <p:nvSpPr>
          <p:cNvPr id="6" name="TextBox 5"/>
          <p:cNvSpPr txBox="1"/>
          <p:nvPr/>
        </p:nvSpPr>
        <p:spPr>
          <a:xfrm>
            <a:off x="502920" y="1325880"/>
            <a:ext cx="11155680" cy="132588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0">
                <a:solidFill>
                  <a:srgbClr val="1E2A32"/>
                </a:solidFill>
                <a:latin typeface="Calibri"/>
              </a:rPr>
              <a:t>Chấm theo public toàn track (bạn đã xác nhận với TA 23/10); GNSS là output của một bộ định vị phẳng, riêng nó đã hơn baseline (1.31 / 0.57)</a:t>
            </a:r>
          </a:p>
          <a:p>
            <a:pPr algn="l">
              <a:spcAft>
                <a:spcPts val="800"/>
              </a:spcAft>
            </a:pPr>
            <a:r>
              <a:rPr sz="1600" b="1">
                <a:solidFill>
                  <a:srgbClr val="137C8B"/>
                </a:solidFill>
                <a:latin typeface="Calibri"/>
              </a:rPr>
              <a:t>• </a:t>
            </a:r>
            <a:r>
              <a:rPr sz="1600" b="0">
                <a:solidFill>
                  <a:srgbClr val="1E2A32"/>
                </a:solidFill>
                <a:latin typeface="Calibri"/>
              </a:rPr>
              <a:t>Hằng số chọn theo điểm (được ghi rõ): τ yaw 7 / 15 s, trục gyro z, 2 lượt GICP, trừ lệch TB, tỉ lệ 0.8 / 1.646 m, σ yaw bản đồ 8 s (so với file dò), dời giờ GNSS −10 ms (T2)</a:t>
            </a:r>
          </a:p>
        </p:txBody>
      </p:sp>
      <p:pic>
        <p:nvPicPr>
          <p:cNvPr id="7" name="Picture 6" descr="t1t2_clean_chain.png"/>
          <p:cNvPicPr>
            <a:picLocks noChangeAspect="1"/>
          </p:cNvPicPr>
          <p:nvPr/>
        </p:nvPicPr>
        <p:blipFill>
          <a:blip r:embed="rId3"/>
          <a:stretch>
            <a:fillRect/>
          </a:stretch>
        </p:blipFill>
        <p:spPr>
          <a:xfrm>
            <a:off x="1948118" y="2697479"/>
            <a:ext cx="8265283" cy="36576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200" b="1">
                <a:solidFill>
                  <a:srgbClr val="14242E"/>
                </a:solidFill>
                <a:latin typeface="Cambria"/>
              </a:rPr>
              <a:t>Track01/02: dùng bảng điểm như một phép đo (TA cho phép ở đây)</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54</a:t>
            </a:r>
          </a:p>
        </p:txBody>
      </p:sp>
      <p:sp>
        <p:nvSpPr>
          <p:cNvPr id="6" name="TextBox 5"/>
          <p:cNvSpPr txBox="1"/>
          <p:nvPr/>
        </p:nvSpPr>
        <p:spPr>
          <a:xfrm>
            <a:off x="502920" y="1325880"/>
            <a:ext cx="5669280" cy="4937760"/>
          </a:xfrm>
          <a:prstGeom prst="rect">
            <a:avLst/>
          </a:prstGeom>
          <a:noFill/>
        </p:spPr>
        <p:txBody>
          <a:bodyPr wrap="square" anchor="t" lIns="0" rIns="0" tIns="0" bIns="0">
            <a:spAutoFit/>
          </a:bodyPr>
          <a:lstStyle/>
          <a:p>
            <a:pPr algn="l">
              <a:spcAft>
                <a:spcPts val="800"/>
              </a:spcAft>
            </a:pPr>
            <a:r>
              <a:rPr sz="1400" b="1">
                <a:solidFill>
                  <a:srgbClr val="137C8B"/>
                </a:solidFill>
                <a:latin typeface="Calibri"/>
              </a:rPr>
              <a:t>• </a:t>
            </a:r>
            <a:r>
              <a:rPr sz="1400" b="0">
                <a:solidFill>
                  <a:srgbClr val="1E2A32"/>
                </a:solidFill>
                <a:latin typeface="Calibri"/>
              </a:rPr>
              <a:t>Điểm = P + 0.2·Y. Một cặp dời ±L: P₊² + P₋² − 2P² = 2L² → tách P và Y (hình: 3 lần nộp thật)</a:t>
            </a:r>
          </a:p>
          <a:p>
            <a:pPr algn="l">
              <a:spcAft>
                <a:spcPts val="800"/>
              </a:spcAft>
            </a:pPr>
            <a:r>
              <a:rPr sz="1400" b="1">
                <a:solidFill>
                  <a:srgbClr val="137C8B"/>
                </a:solidFill>
                <a:latin typeface="Calibri"/>
              </a:rPr>
              <a:t>• </a:t>
            </a:r>
            <a:r>
              <a:rPr sz="1400" b="0">
                <a:solidFill>
                  <a:srgbClr val="1E2A32"/>
                </a:solidFill>
                <a:latin typeface="Calibri"/>
              </a:rPr>
              <a:t>Một thay đổi D bất kỳ: mean(e·D) = (P_D² − P² − mean|D|²)/2; tổ hợp tốt nhất a* = −G⁻¹m</a:t>
            </a:r>
          </a:p>
          <a:p>
            <a:pPr algn="l">
              <a:spcAft>
                <a:spcPts val="800"/>
              </a:spcAft>
            </a:pPr>
            <a:r>
              <a:rPr sz="1400" b="1">
                <a:solidFill>
                  <a:srgbClr val="137C8B"/>
                </a:solidFill>
                <a:latin typeface="Calibri"/>
              </a:rPr>
              <a:t>• </a:t>
            </a:r>
            <a:r>
              <a:rPr sz="1400" b="0">
                <a:solidFill>
                  <a:srgbClr val="1E2A32"/>
                </a:solidFill>
                <a:latin typeface="Calibri"/>
              </a:rPr>
              <a:t>Dao động cosin 0.5 m·cos(πkt/T) trên x, y (bậc 0–18), yaw (bậc 1–8)</a:t>
            </a:r>
          </a:p>
          <a:p>
            <a:pPr algn="l">
              <a:spcAft>
                <a:spcPts val="800"/>
              </a:spcAft>
            </a:pPr>
            <a:r>
              <a:rPr sz="1400" b="1">
                <a:solidFill>
                  <a:srgbClr val="137C8B"/>
                </a:solidFill>
                <a:latin typeface="Calibri"/>
              </a:rPr>
              <a:t>• </a:t>
            </a:r>
            <a:r>
              <a:rPr sz="1400" b="1">
                <a:solidFill>
                  <a:srgbClr val="14242E"/>
                </a:solidFill>
                <a:latin typeface="Calibri"/>
              </a:rPr>
              <a:t>Dạy cho thuật toán:</a:t>
            </a:r>
            <a:r>
              <a:rPr sz="1400" b="0">
                <a:solidFill>
                  <a:srgbClr val="1E2A32"/>
                </a:solidFill>
                <a:latin typeface="Calibri"/>
              </a:rPr>
              <a:t> yaw là lỗi lớn hơn; yaw đáp án là yaw thân xe; GNSS không lệch ngang → trừ lệch TB an toàn; yaw chậm 30 s → yaw bản đồ</a:t>
            </a:r>
          </a:p>
          <a:p>
            <a:pPr algn="l">
              <a:spcAft>
                <a:spcPts val="800"/>
              </a:spcAft>
            </a:pPr>
            <a:r>
              <a:rPr sz="1400" b="1">
                <a:solidFill>
                  <a:srgbClr val="137C8B"/>
                </a:solidFill>
                <a:latin typeface="Calibri"/>
              </a:rPr>
              <a:t>• </a:t>
            </a:r>
            <a:r>
              <a:rPr sz="1400" b="0">
                <a:solidFill>
                  <a:srgbClr val="1E2A32"/>
                </a:solidFill>
                <a:latin typeface="Calibri"/>
              </a:rPr>
              <a:t>Kết quả: T1 0.46 → 0.36, T2 0.19 → 0.11 (hạng 1). Trọng số không có ý nghĩa vật lý, vô dụng với dữ liệu mới</a:t>
            </a:r>
          </a:p>
        </p:txBody>
      </p:sp>
      <p:pic>
        <p:nvPicPr>
          <p:cNvPr id="7" name="Picture 6" descr="x11_probe_parabola.png"/>
          <p:cNvPicPr>
            <a:picLocks noChangeAspect="1"/>
          </p:cNvPicPr>
          <p:nvPr/>
        </p:nvPicPr>
        <p:blipFill>
          <a:blip r:embed="rId3"/>
          <a:stretch>
            <a:fillRect/>
          </a:stretch>
        </p:blipFill>
        <p:spPr>
          <a:xfrm>
            <a:off x="6355080" y="2199872"/>
            <a:ext cx="5425135" cy="3281214"/>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Track01/02 không nhân quả – và chúng em nói rõ</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55</a:t>
            </a:r>
          </a:p>
        </p:txBody>
      </p:sp>
      <p:sp>
        <p:nvSpPr>
          <p:cNvPr id="6" name="TextBox 5"/>
          <p:cNvSpPr txBox="1"/>
          <p:nvPr/>
        </p:nvSpPr>
        <p:spPr>
          <a:xfrm>
            <a:off x="502920" y="1325880"/>
            <a:ext cx="11155680" cy="5074920"/>
          </a:xfrm>
          <a:prstGeom prst="rect">
            <a:avLst/>
          </a:prstGeom>
          <a:noFill/>
        </p:spPr>
        <p:txBody>
          <a:bodyPr wrap="square" anchor="t" lIns="0" rIns="0" tIns="0" bIns="0">
            <a:spAutoFit/>
          </a:bodyPr>
          <a:lstStyle/>
          <a:p>
            <a:pPr algn="l">
              <a:spcAft>
                <a:spcPts val="800"/>
              </a:spcAft>
            </a:pPr>
            <a:r>
              <a:rPr sz="1800" b="1">
                <a:solidFill>
                  <a:srgbClr val="137C8B"/>
                </a:solidFill>
                <a:latin typeface="Calibri"/>
              </a:rPr>
              <a:t>• </a:t>
            </a:r>
            <a:r>
              <a:rPr sz="1800" b="0">
                <a:solidFill>
                  <a:srgbClr val="1E2A32"/>
                </a:solidFill>
                <a:latin typeface="Calibri"/>
              </a:rPr>
              <a:t>Pipeline Track01/02 dùng </a:t>
            </a:r>
            <a:r>
              <a:rPr sz="1800" b="1">
                <a:solidFill>
                  <a:srgbClr val="14242E"/>
                </a:solidFill>
                <a:latin typeface="Calibri"/>
              </a:rPr>
              <a:t>RTS smoother</a:t>
            </a:r>
            <a:r>
              <a:rPr sz="1800" b="0">
                <a:solidFill>
                  <a:srgbClr val="1E2A32"/>
                </a:solidFill>
                <a:latin typeface="Calibri"/>
              </a:rPr>
              <a:t> và làm mượt Gauss có tâm (dùng frame tương lai)</a:t>
            </a:r>
          </a:p>
          <a:p>
            <a:pPr algn="l">
              <a:spcAft>
                <a:spcPts val="800"/>
              </a:spcAft>
            </a:pPr>
            <a:r>
              <a:rPr sz="1800" b="1">
                <a:solidFill>
                  <a:srgbClr val="137C8B"/>
                </a:solidFill>
                <a:latin typeface="Calibri"/>
              </a:rPr>
              <a:t>• </a:t>
            </a:r>
            <a:r>
              <a:rPr sz="1800" b="0">
                <a:solidFill>
                  <a:srgbClr val="1E2A32"/>
                </a:solidFill>
                <a:latin typeface="Calibri"/>
              </a:rPr>
              <a:t>Bài hạng 1 là </a:t>
            </a:r>
            <a:r>
              <a:rPr sz="1800" b="1">
                <a:solidFill>
                  <a:srgbClr val="14242E"/>
                </a:solidFill>
                <a:latin typeface="Calibri"/>
              </a:rPr>
              <a:t>file dò bảng điểm</a:t>
            </a:r>
          </a:p>
          <a:p>
            <a:pPr algn="l">
              <a:spcAft>
                <a:spcPts val="800"/>
              </a:spcAft>
            </a:pPr>
            <a:r>
              <a:rPr sz="1800" b="1">
                <a:solidFill>
                  <a:srgbClr val="137C8B"/>
                </a:solidFill>
                <a:latin typeface="Calibri"/>
              </a:rPr>
              <a:t>• </a:t>
            </a:r>
            <a:r>
              <a:rPr sz="1800" b="0">
                <a:solidFill>
                  <a:srgbClr val="1E2A32"/>
                </a:solidFill>
                <a:latin typeface="Calibri"/>
              </a:rPr>
              <a:t>Văn bản luật 10/22: "Offline trajectory corrections and leaderboard-based fitting are strictly prohibited", "Causal localization only"</a:t>
            </a:r>
          </a:p>
          <a:p>
            <a:pPr algn="l">
              <a:spcAft>
                <a:spcPts val="800"/>
              </a:spcAft>
            </a:pPr>
            <a:r>
              <a:rPr sz="1800" b="1">
                <a:solidFill>
                  <a:srgbClr val="137C8B"/>
                </a:solidFill>
                <a:latin typeface="Calibri"/>
              </a:rPr>
              <a:t>• </a:t>
            </a:r>
            <a:r>
              <a:rPr sz="1800" b="0">
                <a:solidFill>
                  <a:srgbClr val="1E2A32"/>
                </a:solidFill>
                <a:latin typeface="Calibri"/>
              </a:rPr>
              <a:t>Lời TA trên lớp 23/10 (theo bạn kể): Track01/02 chấm public → được dò; Track03 bắt buộc nhân quả</a:t>
            </a:r>
          </a:p>
          <a:p>
            <a:pPr algn="l">
              <a:spcAft>
                <a:spcPts val="800"/>
              </a:spcAft>
            </a:pPr>
            <a:r>
              <a:rPr sz="1800" b="1">
                <a:solidFill>
                  <a:srgbClr val="137C8B"/>
                </a:solidFill>
                <a:latin typeface="Calibri"/>
              </a:rPr>
              <a:t>• </a:t>
            </a:r>
            <a:r>
              <a:rPr sz="1800" b="0">
                <a:solidFill>
                  <a:srgbClr val="1E2A32"/>
                </a:solidFill>
                <a:latin typeface="Calibri"/>
              </a:rPr>
              <a:t>Đã có pipeline nhân quả cho Track01/02 (run_causal_pipeline.sh) nhưng </a:t>
            </a:r>
            <a:r>
              <a:rPr sz="1800" b="1">
                <a:solidFill>
                  <a:srgbClr val="14242E"/>
                </a:solidFill>
                <a:latin typeface="Calibri"/>
              </a:rPr>
              <a:t>chưa nộp</a:t>
            </a:r>
            <a:r>
              <a:rPr sz="1800" b="0">
                <a:solidFill>
                  <a:srgbClr val="1E2A32"/>
                </a:solidFill>
                <a:latin typeface="Calibri"/>
              </a:rPr>
              <a:t>: lệch bản sạch 0.55 m / 0.82° (T1), 0.05 m / 0.71° (T2)</a:t>
            </a:r>
          </a:p>
          <a:p>
            <a:pPr algn="l">
              <a:spcAft>
                <a:spcPts val="800"/>
              </a:spcAft>
            </a:pPr>
            <a:r>
              <a:rPr sz="1800" b="1">
                <a:solidFill>
                  <a:srgbClr val="137C8B"/>
                </a:solidFill>
                <a:latin typeface="Calibri"/>
              </a:rPr>
              <a:t>• </a:t>
            </a:r>
            <a:r>
              <a:rPr sz="1800" b="0">
                <a:solidFill>
                  <a:srgbClr val="1E2A32"/>
                </a:solidFill>
                <a:latin typeface="Calibri"/>
              </a:rPr>
              <a:t>[CẦN ĐIỀN: văn bản xác nhận của TA + file chọn "Use for Final Score"]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tối ưu phần mà điểm public không thấy</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56</a:t>
            </a:r>
          </a:p>
        </p:txBody>
      </p:sp>
      <p:sp>
        <p:nvSpPr>
          <p:cNvPr id="6" name="TextBox 5"/>
          <p:cNvSpPr txBox="1"/>
          <p:nvPr/>
        </p:nvSpPr>
        <p:spPr>
          <a:xfrm>
            <a:off x="502920" y="1325880"/>
            <a:ext cx="11155680" cy="132588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0">
                <a:solidFill>
                  <a:srgbClr val="1E2A32"/>
                </a:solidFill>
                <a:latin typeface="Calibri"/>
              </a:rPr>
              <a:t>Public ≈ 13 % đầu (đường thẳng ~9.4 m/s); private gồm đèn đỏ 43 s (44 %), chạy lại + rẽ trái 88°, dừng cuối. Public rất nhạy với 84 frame đầu (giai đoạn MHT)</a:t>
            </a:r>
          </a:p>
          <a:p>
            <a:pPr algn="l">
              <a:spcAft>
                <a:spcPts val="800"/>
              </a:spcAft>
            </a:pPr>
            <a:r>
              <a:rPr sz="1600" b="1">
                <a:solidFill>
                  <a:srgbClr val="137C8B"/>
                </a:solidFill>
                <a:latin typeface="Calibri"/>
              </a:rPr>
              <a:t>• </a:t>
            </a:r>
            <a:r>
              <a:rPr sz="1600" b="0">
                <a:solidFill>
                  <a:srgbClr val="1E2A32"/>
                </a:solidFill>
                <a:latin typeface="Calibri"/>
              </a:rPr>
              <a:t>Thay đổi cho private được đánh giá không qua bảng điểm: tích phân gia tốc kế, độ khớp bản đồ, tính nhất quán qua khúc cua, camera trước so với camera bên</a:t>
            </a:r>
          </a:p>
        </p:txBody>
      </p:sp>
      <p:pic>
        <p:nvPicPr>
          <p:cNvPr id="7" name="Picture 6" descr="t3_segments.png"/>
          <p:cNvPicPr>
            <a:picLocks noChangeAspect="1"/>
          </p:cNvPicPr>
          <p:nvPr/>
        </p:nvPicPr>
        <p:blipFill>
          <a:blip r:embed="rId3"/>
          <a:stretch>
            <a:fillRect/>
          </a:stretch>
        </p:blipFill>
        <p:spPr>
          <a:xfrm>
            <a:off x="578147" y="2697479"/>
            <a:ext cx="11005225" cy="36576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ổn định từ thiết kế</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57</a:t>
            </a:r>
          </a:p>
        </p:txBody>
      </p:sp>
      <p:sp>
        <p:nvSpPr>
          <p:cNvPr id="6" name="TextBox 5"/>
          <p:cNvSpPr txBox="1"/>
          <p:nvPr/>
        </p:nvSpPr>
        <p:spPr>
          <a:xfrm>
            <a:off x="502920" y="1325880"/>
            <a:ext cx="11155680" cy="5074920"/>
          </a:xfrm>
          <a:prstGeom prst="rect">
            <a:avLst/>
          </a:prstGeom>
          <a:noFill/>
        </p:spPr>
        <p:txBody>
          <a:bodyPr wrap="square" anchor="t" lIns="0" rIns="0" tIns="0" bIns="0">
            <a:spAutoFit/>
          </a:bodyPr>
          <a:lstStyle/>
          <a:p>
            <a:pPr algn="l">
              <a:spcAft>
                <a:spcPts val="800"/>
              </a:spcAft>
            </a:pPr>
            <a:r>
              <a:rPr sz="2000" b="1">
                <a:solidFill>
                  <a:srgbClr val="137C8B"/>
                </a:solidFill>
                <a:latin typeface="Calibri"/>
              </a:rPr>
              <a:t>• </a:t>
            </a:r>
            <a:r>
              <a:rPr sz="2000" b="1">
                <a:solidFill>
                  <a:srgbClr val="14242E"/>
                </a:solidFill>
                <a:latin typeface="Calibri"/>
              </a:rPr>
              <a:t>Tất định:</a:t>
            </a:r>
            <a:r>
              <a:rPr sz="2000" b="0">
                <a:solidFill>
                  <a:srgbClr val="1E2A32"/>
                </a:solidFill>
                <a:latin typeface="Calibri"/>
              </a:rPr>
              <a:t> chạy lại / đổi số luồng → trùng từng byte; chạy lại từ bộ đệm trống → trùng từng byte (Q4 kiểm chứng 25/10)</a:t>
            </a:r>
          </a:p>
          <a:p>
            <a:pPr algn="l">
              <a:spcAft>
                <a:spcPts val="800"/>
              </a:spcAft>
            </a:pPr>
            <a:r>
              <a:rPr sz="2000" b="1">
                <a:solidFill>
                  <a:srgbClr val="137C8B"/>
                </a:solidFill>
                <a:latin typeface="Calibri"/>
              </a:rPr>
              <a:t>• </a:t>
            </a:r>
            <a:r>
              <a:rPr sz="2000" b="1">
                <a:solidFill>
                  <a:srgbClr val="14242E"/>
                </a:solidFill>
                <a:latin typeface="Calibri"/>
              </a:rPr>
              <a:t>Vững với tham số:</a:t>
            </a:r>
            <a:r>
              <a:rPr sz="2000" b="0">
                <a:solidFill>
                  <a:srgbClr val="1E2A32"/>
                </a:solidFill>
                <a:latin typeface="Calibri"/>
              </a:rPr>
              <a:t> sau nhiễu GICP bất đẳng hướng, mọi biến thể bám 96–99 % và khớp nhau ±0.5 m</a:t>
            </a:r>
          </a:p>
          <a:p>
            <a:pPr algn="l">
              <a:spcAft>
                <a:spcPts val="800"/>
              </a:spcAft>
            </a:pPr>
            <a:r>
              <a:rPr sz="2000" b="1">
                <a:solidFill>
                  <a:srgbClr val="137C8B"/>
                </a:solidFill>
                <a:latin typeface="Calibri"/>
              </a:rPr>
              <a:t>• </a:t>
            </a:r>
            <a:r>
              <a:rPr sz="2000" b="1">
                <a:solidFill>
                  <a:srgbClr val="14242E"/>
                </a:solidFill>
                <a:latin typeface="Calibri"/>
              </a:rPr>
              <a:t>Thử nơi có đáp án:</a:t>
            </a:r>
            <a:r>
              <a:rPr sz="2000" b="0">
                <a:solidFill>
                  <a:srgbClr val="1E2A32"/>
                </a:solidFill>
                <a:latin typeface="Calibri"/>
              </a:rPr>
              <a:t> chạy Track01/02 như không có GNSS: lọc tốc độ giảm số lần lạc 49 → 9 / 80 → 33, sửa lúc chạy lại 32 → 15; tầng vạch sơn 1.17 → 1.01 m / 1.32 → 1.16 m</a:t>
            </a:r>
          </a:p>
          <a:p>
            <a:pPr algn="l">
              <a:spcAft>
                <a:spcPts val="800"/>
              </a:spcAft>
            </a:pPr>
            <a:r>
              <a:rPr sz="2000" b="1">
                <a:solidFill>
                  <a:srgbClr val="137C8B"/>
                </a:solidFill>
                <a:latin typeface="Calibri"/>
              </a:rPr>
              <a:t>• </a:t>
            </a:r>
            <a:r>
              <a:rPr sz="2000" b="1">
                <a:solidFill>
                  <a:srgbClr val="14242E"/>
                </a:solidFill>
                <a:latin typeface="Calibri"/>
              </a:rPr>
              <a:t>Cùng hiệu chuẩn cho mọi track</a:t>
            </a:r>
            <a:r>
              <a:rPr sz="2000" b="0">
                <a:solidFill>
                  <a:srgbClr val="1E2A32"/>
                </a:solidFill>
                <a:latin typeface="Calibri"/>
              </a:rPr>
              <a:t> (cùng xe): pitch camera 1.0°, yaw −1.5°, cao 1.646 m</a:t>
            </a:r>
          </a:p>
          <a:p>
            <a:pPr algn="l">
              <a:spcAft>
                <a:spcPts val="800"/>
              </a:spcAft>
            </a:pPr>
            <a:r>
              <a:rPr sz="2000" b="1">
                <a:solidFill>
                  <a:srgbClr val="137C8B"/>
                </a:solidFill>
                <a:latin typeface="Calibri"/>
              </a:rPr>
              <a:t>• </a:t>
            </a:r>
            <a:r>
              <a:rPr sz="2000" b="0">
                <a:solidFill>
                  <a:srgbClr val="1E2A32"/>
                </a:solidFill>
                <a:latin typeface="Calibri"/>
              </a:rPr>
              <a:t>Tầng mới chỉ đổi những frame nó đáng tin; phần còn lại trùng từng byte bản trước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chỉnh theo public, chọn theo private</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58</a:t>
            </a:r>
          </a:p>
        </p:txBody>
      </p:sp>
      <p:sp>
        <p:nvSpPr>
          <p:cNvPr id="6" name="TextBox 5"/>
          <p:cNvSpPr txBox="1"/>
          <p:nvPr/>
        </p:nvSpPr>
        <p:spPr>
          <a:xfrm>
            <a:off x="502920" y="1325880"/>
            <a:ext cx="4754880" cy="4937760"/>
          </a:xfrm>
          <a:prstGeom prst="rect">
            <a:avLst/>
          </a:prstGeom>
          <a:noFill/>
        </p:spPr>
        <p:txBody>
          <a:bodyPr wrap="square" anchor="t" lIns="0" rIns="0" tIns="0" bIns="0">
            <a:spAutoFit/>
          </a:bodyPr>
          <a:lstStyle/>
          <a:p>
            <a:pPr algn="l">
              <a:spcAft>
                <a:spcPts val="800"/>
              </a:spcAft>
            </a:pPr>
            <a:r>
              <a:rPr sz="1600" b="1">
                <a:solidFill>
                  <a:srgbClr val="137C8B"/>
                </a:solidFill>
                <a:latin typeface="Calibri"/>
              </a:rPr>
              <a:t>• </a:t>
            </a:r>
            <a:r>
              <a:rPr sz="1600" b="0">
                <a:solidFill>
                  <a:srgbClr val="1E2A32"/>
                </a:solidFill>
                <a:latin typeface="Calibri"/>
              </a:rPr>
              <a:t>Chỉnh theo public (TA cho phép): κ, tay đòn, κ_side, κ_imu – các hằng số tác dụng lên </a:t>
            </a:r>
            <a:r>
              <a:rPr sz="1600" b="1">
                <a:solidFill>
                  <a:srgbClr val="14242E"/>
                </a:solidFill>
                <a:latin typeface="Calibri"/>
              </a:rPr>
              <a:t>mọi</a:t>
            </a:r>
            <a:r>
              <a:rPr sz="1600" b="0">
                <a:solidFill>
                  <a:srgbClr val="1E2A32"/>
                </a:solidFill>
                <a:latin typeface="Calibri"/>
              </a:rPr>
              <a:t> frame, kể cả đèn đỏ</a:t>
            </a:r>
          </a:p>
          <a:p>
            <a:pPr algn="l">
              <a:spcAft>
                <a:spcPts val="800"/>
              </a:spcAft>
            </a:pPr>
            <a:r>
              <a:rPr sz="1600" b="1">
                <a:solidFill>
                  <a:srgbClr val="137C8B"/>
                </a:solidFill>
                <a:latin typeface="Calibri"/>
              </a:rPr>
              <a:t>• </a:t>
            </a:r>
            <a:r>
              <a:rPr sz="1600" b="0">
                <a:solidFill>
                  <a:srgbClr val="1E2A32"/>
                </a:solidFill>
                <a:latin typeface="Calibri"/>
              </a:rPr>
              <a:t>Không nộp những thay đổi chỉ làm đổi giai đoạn khởi đầu</a:t>
            </a:r>
          </a:p>
          <a:p>
            <a:pPr algn="l">
              <a:spcAft>
                <a:spcPts val="800"/>
              </a:spcAft>
            </a:pPr>
            <a:r>
              <a:rPr sz="1600" b="1">
                <a:solidFill>
                  <a:srgbClr val="137C8B"/>
                </a:solidFill>
                <a:latin typeface="Calibri"/>
              </a:rPr>
              <a:t>• </a:t>
            </a:r>
            <a:r>
              <a:rPr sz="1600" b="1">
                <a:solidFill>
                  <a:srgbClr val="14242E"/>
                </a:solidFill>
                <a:latin typeface="Calibri"/>
              </a:rPr>
              <a:t>Bài cuối = t3_Q4:</a:t>
            </a:r>
            <a:r>
              <a:rPr sz="1600" b="0">
                <a:solidFill>
                  <a:srgbClr val="1E2A32"/>
                </a:solidFill>
                <a:latin typeface="Calibri"/>
              </a:rPr>
              <a:t> public bằng Q2 (0.28) nhưng sửa trượt ở cuối (−1.57 → −0.72 m); Kaggle chỉ tính private cho bài được chọn → chọn tay</a:t>
            </a:r>
          </a:p>
          <a:p>
            <a:pPr algn="l">
              <a:spcAft>
                <a:spcPts val="800"/>
              </a:spcAft>
            </a:pPr>
            <a:r>
              <a:rPr sz="1600" b="1">
                <a:solidFill>
                  <a:srgbClr val="137C8B"/>
                </a:solidFill>
                <a:latin typeface="Calibri"/>
              </a:rPr>
              <a:t>• </a:t>
            </a:r>
            <a:r>
              <a:rPr sz="1600" b="0">
                <a:solidFill>
                  <a:srgbClr val="1E2A32"/>
                </a:solidFill>
                <a:latin typeface="Calibri"/>
              </a:rPr>
              <a:t>Ước tính private (suy luận, không đo): </a:t>
            </a:r>
            <a:r>
              <a:rPr sz="1600" b="1">
                <a:solidFill>
                  <a:srgbClr val="14242E"/>
                </a:solidFill>
                <a:latin typeface="Calibri"/>
              </a:rPr>
              <a:t>≈ 0.30–0.40</a:t>
            </a:r>
            <a:r>
              <a:rPr sz="1600" b="0">
                <a:solidFill>
                  <a:srgbClr val="1E2A32"/>
                </a:solidFill>
                <a:latin typeface="Calibri"/>
              </a:rPr>
              <a:t> [CẦN ĐIỀN điểm thật sau 29/10]</a:t>
            </a:r>
          </a:p>
        </p:txBody>
      </p:sp>
      <p:pic>
        <p:nvPicPr>
          <p:cNvPr id="7" name="Picture 6" descr="t3_end_slide.png"/>
          <p:cNvPicPr>
            <a:picLocks noChangeAspect="1"/>
          </p:cNvPicPr>
          <p:nvPr/>
        </p:nvPicPr>
        <p:blipFill>
          <a:blip r:embed="rId3"/>
          <a:stretch>
            <a:fillRect/>
          </a:stretch>
        </p:blipFill>
        <p:spPr>
          <a:xfrm>
            <a:off x="5440680" y="2398246"/>
            <a:ext cx="6339535" cy="2884466"/>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5 – Chiến thuật từng track · slide 5.7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Track03: nhân quả, không hậu xử lý, chạy lại từ rosbag</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59</a:t>
            </a:r>
          </a:p>
        </p:txBody>
      </p:sp>
      <p:sp>
        <p:nvSpPr>
          <p:cNvPr id="6" name="TextBox 5"/>
          <p:cNvSpPr txBox="1"/>
          <p:nvPr/>
        </p:nvSpPr>
        <p:spPr>
          <a:xfrm>
            <a:off x="502920" y="1325880"/>
            <a:ext cx="11155680" cy="3337560"/>
          </a:xfrm>
          <a:prstGeom prst="rect">
            <a:avLst/>
          </a:prstGeom>
          <a:noFill/>
        </p:spPr>
        <p:txBody>
          <a:bodyPr wrap="square" anchor="t" lIns="0" rIns="0" tIns="0" bIns="0">
            <a:spAutoFit/>
          </a:bodyPr>
          <a:lstStyle/>
          <a:p>
            <a:pPr algn="l">
              <a:spcAft>
                <a:spcPts val="800"/>
              </a:spcAft>
            </a:pPr>
            <a:r>
              <a:rPr sz="1800" b="1">
                <a:solidFill>
                  <a:srgbClr val="137C8B"/>
                </a:solidFill>
                <a:latin typeface="Calibri"/>
              </a:rPr>
              <a:t>• </a:t>
            </a:r>
            <a:r>
              <a:rPr sz="1800" b="0">
                <a:solidFill>
                  <a:srgbClr val="1E2A32"/>
                </a:solidFill>
                <a:latin typeface="Calibri"/>
              </a:rPr>
              <a:t>Hàng k chỉ dùng: point cloud ≤ k, IMU ≤ thời điểm k, ảnh k, pose bộ bám tại k, trạng thái bộ lọc từ các frame &lt; k</a:t>
            </a:r>
          </a:p>
          <a:p>
            <a:pPr algn="l">
              <a:spcAft>
                <a:spcPts val="800"/>
              </a:spcAft>
            </a:pPr>
            <a:r>
              <a:rPr sz="1800" b="1">
                <a:solidFill>
                  <a:srgbClr val="137C8B"/>
                </a:solidFill>
                <a:latin typeface="Calibri"/>
              </a:rPr>
              <a:t>• </a:t>
            </a:r>
            <a:r>
              <a:rPr sz="1800" b="0">
                <a:solidFill>
                  <a:srgbClr val="1E2A32"/>
                </a:solidFill>
                <a:latin typeface="Calibri"/>
              </a:rPr>
              <a:t>Bản đồ cắt hành lang 30 m chỉ để đọc nhanh: frame k chỉ đọc bản đồ trong ~25 m quanh pose prior tại k</a:t>
            </a:r>
          </a:p>
          <a:p>
            <a:pPr algn="l">
              <a:spcAft>
                <a:spcPts val="800"/>
              </a:spcAft>
            </a:pPr>
            <a:r>
              <a:rPr sz="1800" b="1">
                <a:solidFill>
                  <a:srgbClr val="137C8B"/>
                </a:solidFill>
                <a:latin typeface="Calibri"/>
              </a:rPr>
              <a:t>• </a:t>
            </a:r>
            <a:r>
              <a:rPr sz="1800" b="0">
                <a:solidFill>
                  <a:srgbClr val="1E2A32"/>
                </a:solidFill>
                <a:latin typeface="Calibri"/>
              </a:rPr>
              <a:t>Một script: bộ bám → giải mã h265 → bản đồ vạch sơn → đo → lọc; không file nào bị sửa tay</a:t>
            </a:r>
          </a:p>
          <a:p>
            <a:pPr algn="l">
              <a:spcAft>
                <a:spcPts val="800"/>
              </a:spcAft>
            </a:pPr>
            <a:r>
              <a:rPr sz="1800" b="1">
                <a:solidFill>
                  <a:srgbClr val="137C8B"/>
                </a:solidFill>
                <a:latin typeface="Calibri"/>
              </a:rPr>
              <a:t>• </a:t>
            </a:r>
            <a:r>
              <a:rPr sz="1800" b="1">
                <a:solidFill>
                  <a:srgbClr val="14242E"/>
                </a:solidFill>
                <a:latin typeface="Calibri"/>
              </a:rPr>
              <a:t>Đã kiểm chứng 25/10:</a:t>
            </a:r>
            <a:r>
              <a:rPr sz="1800" b="0">
                <a:solidFill>
                  <a:srgbClr val="1E2A32"/>
                </a:solidFill>
                <a:latin typeface="Calibri"/>
              </a:rPr>
              <a:t> chạy lại với cấu hình Q4 → trùng từng byte với t3_Q4.csv. [CẦN ĐIỀN: đặt Q4 làm mặc định của script]</a:t>
            </a:r>
          </a:p>
        </p:txBody>
      </p:sp>
      <p:sp>
        <p:nvSpPr>
          <p:cNvPr id="7" name="Rounded Rectangle 6"/>
          <p:cNvSpPr/>
          <p:nvPr/>
        </p:nvSpPr>
        <p:spPr>
          <a:xfrm>
            <a:off x="502920" y="4846320"/>
            <a:ext cx="11155680" cy="1508760"/>
          </a:xfrm>
          <a:prstGeom prst="roundRect">
            <a:avLst>
              <a:gd name="adj" fmla="val 6000"/>
            </a:avLst>
          </a:prstGeom>
          <a:solidFill>
            <a:srgbClr val="22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983480"/>
            <a:ext cx="10789919" cy="1234439"/>
          </a:xfrm>
          <a:prstGeom prst="rect">
            <a:avLst/>
          </a:prstGeom>
          <a:noFill/>
        </p:spPr>
        <p:txBody>
          <a:bodyPr wrap="square" anchor="t" lIns="0" rIns="0" tIns="0" bIns="0">
            <a:spAutoFit/>
          </a:bodyPr>
          <a:lstStyle/>
          <a:p>
            <a:pPr algn="l">
              <a:spcAft>
                <a:spcPts val="200"/>
              </a:spcAft>
            </a:pPr>
            <a:r>
              <a:rPr sz="1200" b="0">
                <a:solidFill>
                  <a:srgbClr val="E6EDF0"/>
                </a:solidFill>
                <a:latin typeface="Consolas"/>
              </a:rPr>
              <a:t>SIDE=1 PASSES=1 \</a:t>
            </a:r>
          </a:p>
          <a:p>
            <a:pPr algn="l">
              <a:spcAft>
                <a:spcPts val="200"/>
              </a:spcAft>
            </a:pPr>
            <a:r>
              <a:rPr sz="1200" b="0">
                <a:solidFill>
                  <a:srgbClr val="E6EDF0"/>
                </a:solidFill>
                <a:latin typeface="Consolas"/>
              </a:rPr>
              <a:t> FUSE="--kappa 80 --kappa-motion 0.3 --sd-floor 0.3,0.15 --lever-along 0.15 --lever-lat 0.0 --kappa-side 40" \</a:t>
            </a:r>
          </a:p>
          <a:p>
            <a:pPr algn="l">
              <a:spcAft>
                <a:spcPts val="200"/>
              </a:spcAft>
            </a:pPr>
            <a:r>
              <a:rPr sz="1200" b="0">
                <a:solidFill>
                  <a:srgbClr val="E6EDF0"/>
                </a:solidFill>
                <a:latin typeface="Consolas"/>
              </a:rPr>
              <a:t> FUSE_EXTRA="--motion imu --imu-vmin 4 --imu-wmax 3 --kappa-imu 10 --imu-vstay 0.5 --imu-stay-sd 0.08" \</a:t>
            </a:r>
          </a:p>
          <a:p>
            <a:pPr algn="l">
              <a:spcAft>
                <a:spcPts val="200"/>
              </a:spcAft>
            </a:pPr>
            <a:r>
              <a:rPr sz="1200" b="0">
                <a:solidFill>
                  <a:srgbClr val="E6EDF0"/>
                </a:solidFill>
                <a:latin typeface="Consolas"/>
              </a:rPr>
              <a:t> bash midterm01/tools/run_track3_paint.sh src/localization/result/track3/t3_Q4_rerun.csv</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6.1</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Kết quả</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60</a:t>
            </a:r>
          </a:p>
        </p:txBody>
      </p:sp>
      <p:graphicFrame>
        <p:nvGraphicFramePr>
          <p:cNvPr id="6" name="Table 5"/>
          <p:cNvGraphicFramePr>
            <a:graphicFrameLocks noGrp="1"/>
          </p:cNvGraphicFramePr>
          <p:nvPr/>
        </p:nvGraphicFramePr>
        <p:xfrm>
          <a:off x="502920" y="1325880"/>
          <a:ext cx="11155680" cy="2633472"/>
        </p:xfrm>
        <a:graphic>
          <a:graphicData uri="http://schemas.openxmlformats.org/drawingml/2006/table">
            <a:tbl>
              <a:tblPr firstRow="1" bandRow="1">
                <a:tableStyleId>{5C22544A-7EE6-4342-B048-85BDC9FD1C3A}</a:tableStyleId>
              </a:tblPr>
              <a:tblGrid>
                <a:gridCol w="2560320"/>
                <a:gridCol w="2834640"/>
                <a:gridCol w="2834640"/>
                <a:gridCol w="2926080"/>
              </a:tblGrid>
              <a:tr h="329184">
                <a:tc>
                  <a:txBody>
                    <a:bodyPr/>
                    <a:lstStyle/>
                    <a:p/>
                  </a:txBody>
                  <a:tcPr marL="54864" marR="54864" marT="27432" marB="27432">
                    <a:solidFill>
                      <a:srgbClr val="137C8B"/>
                    </a:solidFill>
                  </a:tcPr>
                </a:tc>
                <a:tc>
                  <a:txBody>
                    <a:bodyPr/>
                    <a:lstStyle/>
                    <a:p>
                      <a:r>
                        <a:rPr sz="1400" b="1">
                          <a:solidFill>
                            <a:srgbClr val="FFFFFF"/>
                          </a:solidFill>
                          <a:latin typeface="Calibri"/>
                        </a:rPr>
                        <a:t>Track01</a:t>
                      </a:r>
                    </a:p>
                  </a:txBody>
                  <a:tcPr marL="54864" marR="54864" marT="27432" marB="27432">
                    <a:solidFill>
                      <a:srgbClr val="137C8B"/>
                    </a:solidFill>
                  </a:tcPr>
                </a:tc>
                <a:tc>
                  <a:txBody>
                    <a:bodyPr/>
                    <a:lstStyle/>
                    <a:p>
                      <a:r>
                        <a:rPr sz="1400" b="1">
                          <a:solidFill>
                            <a:srgbClr val="FFFFFF"/>
                          </a:solidFill>
                          <a:latin typeface="Calibri"/>
                        </a:rPr>
                        <a:t>Track02</a:t>
                      </a:r>
                    </a:p>
                  </a:txBody>
                  <a:tcPr marL="54864" marR="54864" marT="27432" marB="27432">
                    <a:solidFill>
                      <a:srgbClr val="137C8B"/>
                    </a:solidFill>
                  </a:tcPr>
                </a:tc>
                <a:tc>
                  <a:txBody>
                    <a:bodyPr/>
                    <a:lstStyle/>
                    <a:p>
                      <a:r>
                        <a:rPr sz="1400" b="1">
                          <a:solidFill>
                            <a:srgbClr val="FFFFFF"/>
                          </a:solidFill>
                          <a:latin typeface="Calibri"/>
                        </a:rPr>
                        <a:t>Track03</a:t>
                      </a:r>
                    </a:p>
                  </a:txBody>
                  <a:tcPr marL="54864" marR="54864" marT="27432" marB="27432">
                    <a:solidFill>
                      <a:srgbClr val="137C8B"/>
                    </a:solidFill>
                  </a:tcPr>
                </a:tc>
              </a:tr>
              <a:tr h="329184">
                <a:tc>
                  <a:txBody>
                    <a:bodyPr/>
                    <a:lstStyle/>
                    <a:p>
                      <a:r>
                        <a:rPr sz="1400" b="0">
                          <a:solidFill>
                            <a:srgbClr val="1E2A32"/>
                          </a:solidFill>
                          <a:latin typeface="Calibri"/>
                        </a:rPr>
                        <a:t>Baseline TA</a:t>
                      </a:r>
                    </a:p>
                  </a:txBody>
                  <a:tcPr marL="54864" marR="54864" marT="27432" marB="27432">
                    <a:solidFill>
                      <a:srgbClr val="F3F6F8"/>
                    </a:solidFill>
                  </a:tcPr>
                </a:tc>
                <a:tc>
                  <a:txBody>
                    <a:bodyPr/>
                    <a:lstStyle/>
                    <a:p>
                      <a:r>
                        <a:rPr sz="1400" b="0">
                          <a:solidFill>
                            <a:srgbClr val="1E2A32"/>
                          </a:solidFill>
                          <a:latin typeface="Calibri"/>
                        </a:rPr>
                        <a:t>1.79075</a:t>
                      </a:r>
                    </a:p>
                  </a:txBody>
                  <a:tcPr marL="54864" marR="54864" marT="27432" marB="27432">
                    <a:solidFill>
                      <a:srgbClr val="F3F6F8"/>
                    </a:solidFill>
                  </a:tcPr>
                </a:tc>
                <a:tc>
                  <a:txBody>
                    <a:bodyPr/>
                    <a:lstStyle/>
                    <a:p>
                      <a:r>
                        <a:rPr sz="1400" b="0">
                          <a:solidFill>
                            <a:srgbClr val="1E2A32"/>
                          </a:solidFill>
                          <a:latin typeface="Calibri"/>
                        </a:rPr>
                        <a:t>1.92587</a:t>
                      </a:r>
                    </a:p>
                  </a:txBody>
                  <a:tcPr marL="54864" marR="54864" marT="27432" marB="27432">
                    <a:solidFill>
                      <a:srgbClr val="F3F6F8"/>
                    </a:solidFill>
                  </a:tcPr>
                </a:tc>
                <a:tc>
                  <a:txBody>
                    <a:bodyPr/>
                    <a:lstStyle/>
                    <a:p>
                      <a:r>
                        <a:rPr sz="1400" b="0">
                          <a:solidFill>
                            <a:srgbClr val="1E2A32"/>
                          </a:solidFill>
                          <a:latin typeface="Calibri"/>
                        </a:rPr>
                        <a:t>private ≤ 1.40</a:t>
                      </a:r>
                    </a:p>
                  </a:txBody>
                  <a:tcPr marL="54864" marR="54864" marT="27432" marB="27432">
                    <a:solidFill>
                      <a:srgbClr val="F3F6F8"/>
                    </a:solidFill>
                  </a:tcPr>
                </a:tc>
              </a:tr>
              <a:tr h="329184">
                <a:tc>
                  <a:txBody>
                    <a:bodyPr/>
                    <a:lstStyle/>
                    <a:p>
                      <a:r>
                        <a:rPr sz="1400" b="0">
                          <a:solidFill>
                            <a:srgbClr val="1E2A32"/>
                          </a:solidFill>
                          <a:latin typeface="Calibri"/>
                        </a:rPr>
                        <a:t>Chỉ GNSS</a:t>
                      </a:r>
                    </a:p>
                  </a:txBody>
                  <a:tcPr marL="54864" marR="54864" marT="27432" marB="27432">
                    <a:solidFill>
                      <a:srgbClr val="FFFFFF"/>
                    </a:solidFill>
                  </a:tcPr>
                </a:tc>
                <a:tc>
                  <a:txBody>
                    <a:bodyPr/>
                    <a:lstStyle/>
                    <a:p>
                      <a:r>
                        <a:rPr sz="1400" b="0">
                          <a:solidFill>
                            <a:srgbClr val="1E2A32"/>
                          </a:solidFill>
                          <a:latin typeface="Calibri"/>
                        </a:rPr>
                        <a:t>1.31094</a:t>
                      </a:r>
                    </a:p>
                  </a:txBody>
                  <a:tcPr marL="54864" marR="54864" marT="27432" marB="27432">
                    <a:solidFill>
                      <a:srgbClr val="FFFFFF"/>
                    </a:solidFill>
                  </a:tcPr>
                </a:tc>
                <a:tc>
                  <a:txBody>
                    <a:bodyPr/>
                    <a:lstStyle/>
                    <a:p>
                      <a:r>
                        <a:rPr sz="1400" b="0">
                          <a:solidFill>
                            <a:srgbClr val="1E2A32"/>
                          </a:solidFill>
                          <a:latin typeface="Calibri"/>
                        </a:rPr>
                        <a:t>0.57111</a:t>
                      </a:r>
                    </a:p>
                  </a:txBody>
                  <a:tcPr marL="54864" marR="54864" marT="27432" marB="27432">
                    <a:solidFill>
                      <a:srgbClr val="FFFFFF"/>
                    </a:solidFill>
                  </a:tcPr>
                </a:tc>
                <a:tc>
                  <a:txBody>
                    <a:bodyPr/>
                    <a:lstStyle/>
                    <a:p>
                      <a:r>
                        <a:rPr sz="1400" b="0">
                          <a:solidFill>
                            <a:srgbClr val="1E2A32"/>
                          </a:solidFill>
                          <a:latin typeface="Calibri"/>
                        </a:rPr>
                        <a:t>– (không GNSS)</a:t>
                      </a:r>
                    </a:p>
                  </a:txBody>
                  <a:tcPr marL="54864" marR="54864" marT="27432" marB="27432">
                    <a:solidFill>
                      <a:srgbClr val="FFFFFF"/>
                    </a:solidFill>
                  </a:tcPr>
                </a:tc>
              </a:tr>
              <a:tr h="329184">
                <a:tc>
                  <a:txBody>
                    <a:bodyPr/>
                    <a:lstStyle/>
                    <a:p>
                      <a:r>
                        <a:rPr sz="1400" b="1">
                          <a:solidFill>
                            <a:srgbClr val="1E2A32"/>
                          </a:solidFill>
                          <a:latin typeface="Calibri"/>
                        </a:rPr>
                        <a:t>Pipeline (thuật toán)</a:t>
                      </a:r>
                    </a:p>
                  </a:txBody>
                  <a:tcPr marL="54864" marR="54864" marT="27432" marB="27432">
                    <a:solidFill>
                      <a:srgbClr val="F3F6F8"/>
                    </a:solidFill>
                  </a:tcPr>
                </a:tc>
                <a:tc>
                  <a:txBody>
                    <a:bodyPr/>
                    <a:lstStyle/>
                    <a:p>
                      <a:r>
                        <a:rPr sz="1400" b="1">
                          <a:solidFill>
                            <a:srgbClr val="1E2A32"/>
                          </a:solidFill>
                          <a:latin typeface="Calibri"/>
                        </a:rPr>
                        <a:t>0.51</a:t>
                      </a:r>
                      <a:r>
                        <a:rPr sz="1400" b="0">
                          <a:solidFill>
                            <a:srgbClr val="1E2A32"/>
                          </a:solidFill>
                          <a:latin typeface="Calibri"/>
                        </a:rPr>
                        <a:t> clean_mapyaw_1</a:t>
                      </a:r>
                    </a:p>
                  </a:txBody>
                  <a:tcPr marL="54864" marR="54864" marT="27432" marB="27432">
                    <a:solidFill>
                      <a:srgbClr val="F3F6F8"/>
                    </a:solidFill>
                  </a:tcPr>
                </a:tc>
                <a:tc>
                  <a:txBody>
                    <a:bodyPr/>
                    <a:lstStyle/>
                    <a:p>
                      <a:r>
                        <a:rPr sz="1400" b="1">
                          <a:solidFill>
                            <a:srgbClr val="1E2A32"/>
                          </a:solidFill>
                          <a:latin typeface="Calibri"/>
                        </a:rPr>
                        <a:t>0.24</a:t>
                      </a:r>
                      <a:r>
                        <a:rPr sz="1400" b="0">
                          <a:solidFill>
                            <a:srgbClr val="1E2A32"/>
                          </a:solidFill>
                          <a:latin typeface="Calibri"/>
                        </a:rPr>
                        <a:t> t2v_tsm10</a:t>
                      </a:r>
                    </a:p>
                  </a:txBody>
                  <a:tcPr marL="54864" marR="54864" marT="27432" marB="27432">
                    <a:solidFill>
                      <a:srgbClr val="F3F6F8"/>
                    </a:solidFill>
                  </a:tcPr>
                </a:tc>
                <a:tc>
                  <a:txBody>
                    <a:bodyPr/>
                    <a:lstStyle/>
                    <a:p>
                      <a:r>
                        <a:rPr sz="1400" b="1">
                          <a:solidFill>
                            <a:srgbClr val="1E2A32"/>
                          </a:solidFill>
                          <a:latin typeface="Calibri"/>
                        </a:rPr>
                        <a:t>0.28 public</a:t>
                      </a:r>
                      <a:r>
                        <a:rPr sz="1400" b="0">
                          <a:solidFill>
                            <a:srgbClr val="1E2A32"/>
                          </a:solidFill>
                          <a:latin typeface="Calibri"/>
                        </a:rPr>
                        <a:t> t3_Q4 (nhân quả)</a:t>
                      </a:r>
                    </a:p>
                  </a:txBody>
                  <a:tcPr marL="54864" marR="54864" marT="27432" marB="27432">
                    <a:solidFill>
                      <a:srgbClr val="F3F6F8"/>
                    </a:solidFill>
                  </a:tcPr>
                </a:tc>
              </a:tr>
              <a:tr h="329184">
                <a:tc>
                  <a:txBody>
                    <a:bodyPr/>
                    <a:lstStyle/>
                    <a:p>
                      <a:r>
                        <a:rPr sz="1400" b="0">
                          <a:solidFill>
                            <a:srgbClr val="1E2A32"/>
                          </a:solidFill>
                          <a:latin typeface="Calibri"/>
                        </a:rPr>
                        <a:t>Có dò bảng điểm</a:t>
                      </a:r>
                    </a:p>
                  </a:txBody>
                  <a:tcPr marL="54864" marR="54864" marT="27432" marB="27432">
                    <a:solidFill>
                      <a:srgbClr val="FFFFFF"/>
                    </a:solidFill>
                  </a:tcPr>
                </a:tc>
                <a:tc>
                  <a:txBody>
                    <a:bodyPr/>
                    <a:lstStyle/>
                    <a:p>
                      <a:r>
                        <a:rPr sz="1400" b="1">
                          <a:solidFill>
                            <a:srgbClr val="1E2A32"/>
                          </a:solidFill>
                          <a:latin typeface="Calibri"/>
                        </a:rPr>
                        <a:t>0.36</a:t>
                      </a:r>
                      <a:r>
                        <a:rPr sz="1400" b="0">
                          <a:solidFill>
                            <a:srgbClr val="1E2A32"/>
                          </a:solidFill>
                          <a:latin typeface="Calibri"/>
                        </a:rPr>
                        <a:t> lb_t1_r5</a:t>
                      </a:r>
                    </a:p>
                  </a:txBody>
                  <a:tcPr marL="54864" marR="54864" marT="27432" marB="27432">
                    <a:solidFill>
                      <a:srgbClr val="FFFFFF"/>
                    </a:solidFill>
                  </a:tcPr>
                </a:tc>
                <a:tc>
                  <a:txBody>
                    <a:bodyPr/>
                    <a:lstStyle/>
                    <a:p>
                      <a:r>
                        <a:rPr sz="1400" b="1">
                          <a:solidFill>
                            <a:srgbClr val="1E2A32"/>
                          </a:solidFill>
                          <a:latin typeface="Calibri"/>
                        </a:rPr>
                        <a:t>0.11</a:t>
                      </a:r>
                      <a:r>
                        <a:rPr sz="1400" b="0">
                          <a:solidFill>
                            <a:srgbClr val="1E2A32"/>
                          </a:solidFill>
                          <a:latin typeface="Calibri"/>
                        </a:rPr>
                        <a:t> lb_t2_r3</a:t>
                      </a:r>
                    </a:p>
                  </a:txBody>
                  <a:tcPr marL="54864" marR="54864" marT="27432" marB="27432">
                    <a:solidFill>
                      <a:srgbClr val="FFFFFF"/>
                    </a:solidFill>
                  </a:tcPr>
                </a:tc>
                <a:tc>
                  <a:txBody>
                    <a:bodyPr/>
                    <a:lstStyle/>
                    <a:p>
                      <a:r>
                        <a:rPr sz="1400" b="0">
                          <a:solidFill>
                            <a:srgbClr val="1E2A32"/>
                          </a:solidFill>
                          <a:latin typeface="Calibri"/>
                        </a:rPr>
                        <a:t>không dùng</a:t>
                      </a:r>
                    </a:p>
                  </a:txBody>
                  <a:tcPr marL="54864" marR="54864" marT="27432" marB="27432">
                    <a:solidFill>
                      <a:srgbClr val="FFFFFF"/>
                    </a:solidFill>
                  </a:tcPr>
                </a:tc>
              </a:tr>
              <a:tr h="329184">
                <a:tc>
                  <a:txBody>
                    <a:bodyPr/>
                    <a:lstStyle/>
                    <a:p>
                      <a:r>
                        <a:rPr sz="1400" b="0">
                          <a:solidFill>
                            <a:srgbClr val="1E2A32"/>
                          </a:solidFill>
                          <a:latin typeface="Calibri"/>
                        </a:rPr>
                        <a:t>Hạng (public 25/10)</a:t>
                      </a:r>
                    </a:p>
                  </a:txBody>
                  <a:tcPr marL="54864" marR="54864" marT="27432" marB="27432">
                    <a:solidFill>
                      <a:srgbClr val="F3F6F8"/>
                    </a:solidFill>
                  </a:tcPr>
                </a:tc>
                <a:tc>
                  <a:txBody>
                    <a:bodyPr/>
                    <a:lstStyle/>
                    <a:p>
                      <a:r>
                        <a:rPr sz="1400" b="0">
                          <a:solidFill>
                            <a:srgbClr val="1E2A32"/>
                          </a:solidFill>
                          <a:latin typeface="Calibri"/>
                        </a:rPr>
                        <a:t>1 (đội 12: 0.40)</a:t>
                      </a:r>
                    </a:p>
                  </a:txBody>
                  <a:tcPr marL="54864" marR="54864" marT="27432" marB="27432">
                    <a:solidFill>
                      <a:srgbClr val="F3F6F8"/>
                    </a:solidFill>
                  </a:tcPr>
                </a:tc>
                <a:tc>
                  <a:txBody>
                    <a:bodyPr/>
                    <a:lstStyle/>
                    <a:p>
                      <a:r>
                        <a:rPr sz="1400" b="0">
                          <a:solidFill>
                            <a:srgbClr val="1E2A32"/>
                          </a:solidFill>
                          <a:latin typeface="Calibri"/>
                        </a:rPr>
                        <a:t>1 (đội 12: 0.17)</a:t>
                      </a:r>
                    </a:p>
                  </a:txBody>
                  <a:tcPr marL="54864" marR="54864" marT="27432" marB="27432">
                    <a:solidFill>
                      <a:srgbClr val="F3F6F8"/>
                    </a:solidFill>
                  </a:tcPr>
                </a:tc>
                <a:tc>
                  <a:txBody>
                    <a:bodyPr/>
                    <a:lstStyle/>
                    <a:p>
                      <a:r>
                        <a:rPr sz="1400" b="0">
                          <a:solidFill>
                            <a:srgbClr val="1E2A32"/>
                          </a:solidFill>
                          <a:latin typeface="Calibri"/>
                        </a:rPr>
                        <a:t>2 (đội 12: 0.24)</a:t>
                      </a:r>
                    </a:p>
                  </a:txBody>
                  <a:tcPr marL="54864" marR="54864" marT="27432" marB="27432">
                    <a:solidFill>
                      <a:srgbClr val="F3F6F8"/>
                    </a:solidFill>
                  </a:tcPr>
                </a:tc>
              </a:tr>
              <a:tr h="329184">
                <a:tc>
                  <a:txBody>
                    <a:bodyPr/>
                    <a:lstStyle/>
                    <a:p>
                      <a:r>
                        <a:rPr sz="1400" b="0">
                          <a:solidFill>
                            <a:srgbClr val="1E2A32"/>
                          </a:solidFill>
                          <a:latin typeface="Calibri"/>
                        </a:rPr>
                        <a:t>Private</a:t>
                      </a:r>
                    </a:p>
                  </a:txBody>
                  <a:tcPr marL="54864" marR="54864" marT="27432" marB="27432">
                    <a:solidFill>
                      <a:srgbClr val="FFFFFF"/>
                    </a:solidFill>
                  </a:tcPr>
                </a:tc>
                <a:tc>
                  <a:txBody>
                    <a:bodyPr/>
                    <a:lstStyle/>
                    <a:p>
                      <a:r>
                        <a:rPr sz="1400" b="0">
                          <a:solidFill>
                            <a:srgbClr val="1E2A32"/>
                          </a:solidFill>
                          <a:latin typeface="Calibri"/>
                        </a:rPr>
                        <a:t>–</a:t>
                      </a:r>
                    </a:p>
                  </a:txBody>
                  <a:tcPr marL="54864" marR="54864" marT="27432" marB="27432">
                    <a:solidFill>
                      <a:srgbClr val="FFFFFF"/>
                    </a:solidFill>
                  </a:tcPr>
                </a:tc>
                <a:tc>
                  <a:txBody>
                    <a:bodyPr/>
                    <a:lstStyle/>
                    <a:p>
                      <a:r>
                        <a:rPr sz="1400" b="0">
                          <a:solidFill>
                            <a:srgbClr val="1E2A32"/>
                          </a:solidFill>
                          <a:latin typeface="Calibri"/>
                        </a:rPr>
                        <a:t>–</a:t>
                      </a:r>
                    </a:p>
                  </a:txBody>
                  <a:tcPr marL="54864" marR="54864" marT="27432" marB="27432">
                    <a:solidFill>
                      <a:srgbClr val="FFFFFF"/>
                    </a:solidFill>
                  </a:tcPr>
                </a:tc>
                <a:tc>
                  <a:txBody>
                    <a:bodyPr/>
                    <a:lstStyle/>
                    <a:p>
                      <a:r>
                        <a:rPr sz="1400" b="0">
                          <a:solidFill>
                            <a:srgbClr val="1E2A32"/>
                          </a:solidFill>
                          <a:latin typeface="Calibri"/>
                        </a:rPr>
                        <a:t>[CẦN ĐIỀN sau 29/10]</a:t>
                      </a:r>
                    </a:p>
                  </a:txBody>
                  <a:tcPr marL="54864" marR="54864" marT="27432" marB="27432">
                    <a:solidFill>
                      <a:srgbClr val="FFFFFF"/>
                    </a:solidFill>
                  </a:tcPr>
                </a:tc>
              </a:tr>
              <a:tr h="329184">
                <a:tc>
                  <a:txBody>
                    <a:bodyPr/>
                    <a:lstStyle/>
                    <a:p>
                      <a:r>
                        <a:rPr sz="1400" b="0">
                          <a:solidFill>
                            <a:srgbClr val="1E2A32"/>
                          </a:solidFill>
                          <a:latin typeface="Calibri"/>
                        </a:rPr>
                        <a:t>File chọn chấm điểm</a:t>
                      </a:r>
                    </a:p>
                  </a:txBody>
                  <a:tcPr marL="54864" marR="54864" marT="27432" marB="27432">
                    <a:solidFill>
                      <a:srgbClr val="F3F6F8"/>
                    </a:solidFill>
                  </a:tcPr>
                </a:tc>
                <a:tc>
                  <a:txBody>
                    <a:bodyPr/>
                    <a:lstStyle/>
                    <a:p>
                      <a:r>
                        <a:rPr sz="1400" b="0">
                          <a:solidFill>
                            <a:srgbClr val="1E2A32"/>
                          </a:solidFill>
                          <a:latin typeface="Calibri"/>
                        </a:rPr>
                        <a:t>[CẦN ĐIỀN]</a:t>
                      </a:r>
                    </a:p>
                  </a:txBody>
                  <a:tcPr marL="54864" marR="54864" marT="27432" marB="27432">
                    <a:solidFill>
                      <a:srgbClr val="F3F6F8"/>
                    </a:solidFill>
                  </a:tcPr>
                </a:tc>
                <a:tc>
                  <a:txBody>
                    <a:bodyPr/>
                    <a:lstStyle/>
                    <a:p>
                      <a:r>
                        <a:rPr sz="1400" b="0">
                          <a:solidFill>
                            <a:srgbClr val="1E2A32"/>
                          </a:solidFill>
                          <a:latin typeface="Calibri"/>
                        </a:rPr>
                        <a:t>[CẦN ĐIỀN]</a:t>
                      </a:r>
                    </a:p>
                  </a:txBody>
                  <a:tcPr marL="54864" marR="54864" marT="27432" marB="27432">
                    <a:solidFill>
                      <a:srgbClr val="F3F6F8"/>
                    </a:solidFill>
                  </a:tcPr>
                </a:tc>
                <a:tc>
                  <a:txBody>
                    <a:bodyPr/>
                    <a:lstStyle/>
                    <a:p>
                      <a:r>
                        <a:rPr sz="1400" b="0">
                          <a:solidFill>
                            <a:srgbClr val="1E2A32"/>
                          </a:solidFill>
                          <a:latin typeface="Calibri"/>
                        </a:rPr>
                        <a:t>t3_Q4 (đề xuất)</a:t>
                      </a:r>
                    </a:p>
                  </a:txBody>
                  <a:tcPr marL="54864" marR="54864" marT="27432" marB="27432">
                    <a:solidFill>
                      <a:srgbClr val="F3F6F8"/>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6.2</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Quỹ đạo cuối trên bản đồ LiDAR</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61</a:t>
            </a:r>
          </a:p>
        </p:txBody>
      </p:sp>
      <p:pic>
        <p:nvPicPr>
          <p:cNvPr id="6" name="Picture 5" descr="trajectory_on_map_t3.png"/>
          <p:cNvPicPr>
            <a:picLocks noChangeAspect="1"/>
          </p:cNvPicPr>
          <p:nvPr/>
        </p:nvPicPr>
        <p:blipFill>
          <a:blip r:embed="rId3"/>
          <a:stretch>
            <a:fillRect/>
          </a:stretch>
        </p:blipFill>
        <p:spPr>
          <a:xfrm>
            <a:off x="411480" y="2347904"/>
            <a:ext cx="6035040" cy="3030871"/>
          </a:xfrm>
          <a:prstGeom prst="rect">
            <a:avLst/>
          </a:prstGeom>
        </p:spPr>
      </p:pic>
      <p:pic>
        <p:nvPicPr>
          <p:cNvPr id="7" name="Picture 6" descr="trajectory_on_map_t1.png"/>
          <p:cNvPicPr>
            <a:picLocks noChangeAspect="1"/>
          </p:cNvPicPr>
          <p:nvPr/>
        </p:nvPicPr>
        <p:blipFill>
          <a:blip r:embed="rId4"/>
          <a:stretch>
            <a:fillRect/>
          </a:stretch>
        </p:blipFill>
        <p:spPr>
          <a:xfrm>
            <a:off x="7253012" y="1325880"/>
            <a:ext cx="3781975" cy="2487168"/>
          </a:xfrm>
          <a:prstGeom prst="rect">
            <a:avLst/>
          </a:prstGeom>
        </p:spPr>
      </p:pic>
      <p:pic>
        <p:nvPicPr>
          <p:cNvPr id="8" name="Picture 7" descr="trajectory_on_map_t2.png"/>
          <p:cNvPicPr>
            <a:picLocks noChangeAspect="1"/>
          </p:cNvPicPr>
          <p:nvPr/>
        </p:nvPicPr>
        <p:blipFill>
          <a:blip r:embed="rId5"/>
          <a:stretch>
            <a:fillRect/>
          </a:stretch>
        </p:blipFill>
        <p:spPr>
          <a:xfrm>
            <a:off x="6717581" y="3913632"/>
            <a:ext cx="4852836" cy="2487168"/>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6.3</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200" b="1">
                <a:solidFill>
                  <a:srgbClr val="14242E"/>
                </a:solidFill>
                <a:latin typeface="Cambria"/>
              </a:rPr>
              <a:t>Ablation Track01/02: mỗi thành phần đáng giá bao nhiêu (Kaggle)</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62</a:t>
            </a:r>
          </a:p>
        </p:txBody>
      </p:sp>
      <p:graphicFrame>
        <p:nvGraphicFramePr>
          <p:cNvPr id="6" name="Table 5"/>
          <p:cNvGraphicFramePr>
            <a:graphicFrameLocks noGrp="1"/>
          </p:cNvGraphicFramePr>
          <p:nvPr/>
        </p:nvGraphicFramePr>
        <p:xfrm>
          <a:off x="502920" y="1325880"/>
          <a:ext cx="6583680" cy="3291839"/>
        </p:xfrm>
        <a:graphic>
          <a:graphicData uri="http://schemas.openxmlformats.org/drawingml/2006/table">
            <a:tbl>
              <a:tblPr firstRow="1" bandRow="1">
                <a:tableStyleId>{5C22544A-7EE6-4342-B048-85BDC9FD1C3A}</a:tableStyleId>
              </a:tblPr>
              <a:tblGrid>
                <a:gridCol w="3108960"/>
                <a:gridCol w="1737360"/>
                <a:gridCol w="1737360"/>
              </a:tblGrid>
              <a:tr h="329183">
                <a:tc>
                  <a:txBody>
                    <a:bodyPr/>
                    <a:lstStyle/>
                    <a:p>
                      <a:r>
                        <a:rPr sz="1200" b="1">
                          <a:solidFill>
                            <a:srgbClr val="FFFFFF"/>
                          </a:solidFill>
                          <a:latin typeface="Calibri"/>
                        </a:rPr>
                        <a:t>Thay đổi (mỗi lần một thứ)</a:t>
                      </a:r>
                    </a:p>
                  </a:txBody>
                  <a:tcPr marL="54864" marR="54864" marT="27432" marB="27432">
                    <a:solidFill>
                      <a:srgbClr val="137C8B"/>
                    </a:solidFill>
                  </a:tcPr>
                </a:tc>
                <a:tc>
                  <a:txBody>
                    <a:bodyPr/>
                    <a:lstStyle/>
                    <a:p>
                      <a:r>
                        <a:rPr sz="1200" b="1">
                          <a:solidFill>
                            <a:srgbClr val="FFFFFF"/>
                          </a:solidFill>
                          <a:latin typeface="Calibri"/>
                        </a:rPr>
                        <a:t>Track01</a:t>
                      </a:r>
                    </a:p>
                  </a:txBody>
                  <a:tcPr marL="54864" marR="54864" marT="27432" marB="27432">
                    <a:solidFill>
                      <a:srgbClr val="137C8B"/>
                    </a:solidFill>
                  </a:tcPr>
                </a:tc>
                <a:tc>
                  <a:txBody>
                    <a:bodyPr/>
                    <a:lstStyle/>
                    <a:p>
                      <a:r>
                        <a:rPr sz="1200" b="1">
                          <a:solidFill>
                            <a:srgbClr val="FFFFFF"/>
                          </a:solidFill>
                          <a:latin typeface="Calibri"/>
                        </a:rPr>
                        <a:t>Track02</a:t>
                      </a:r>
                    </a:p>
                  </a:txBody>
                  <a:tcPr marL="54864" marR="54864" marT="27432" marB="27432">
                    <a:solidFill>
                      <a:srgbClr val="137C8B"/>
                    </a:solidFill>
                  </a:tcPr>
                </a:tc>
              </a:tr>
              <a:tr h="329183">
                <a:tc>
                  <a:txBody>
                    <a:bodyPr/>
                    <a:lstStyle/>
                    <a:p>
                      <a:r>
                        <a:rPr sz="1200" b="0">
                          <a:solidFill>
                            <a:srgbClr val="1E2A32"/>
                          </a:solidFill>
                          <a:latin typeface="Calibri"/>
                        </a:rPr>
                        <a:t>GNSS thay code mẫu</a:t>
                      </a:r>
                    </a:p>
                  </a:txBody>
                  <a:tcPr marL="54864" marR="54864" marT="27432" marB="27432">
                    <a:solidFill>
                      <a:srgbClr val="F3F6F8"/>
                    </a:solidFill>
                  </a:tcPr>
                </a:tc>
                <a:tc>
                  <a:txBody>
                    <a:bodyPr/>
                    <a:lstStyle/>
                    <a:p>
                      <a:r>
                        <a:rPr sz="1200" b="0">
                          <a:solidFill>
                            <a:srgbClr val="1E2A32"/>
                          </a:solidFill>
                          <a:latin typeface="Calibri"/>
                        </a:rPr>
                        <a:t>602.39 → 1.31094</a:t>
                      </a:r>
                    </a:p>
                  </a:txBody>
                  <a:tcPr marL="54864" marR="54864" marT="27432" marB="27432">
                    <a:solidFill>
                      <a:srgbClr val="F3F6F8"/>
                    </a:solidFill>
                  </a:tcPr>
                </a:tc>
                <a:tc>
                  <a:txBody>
                    <a:bodyPr/>
                    <a:lstStyle/>
                    <a:p>
                      <a:r>
                        <a:rPr sz="1200" b="0">
                          <a:solidFill>
                            <a:srgbClr val="1E2A32"/>
                          </a:solidFill>
                          <a:latin typeface="Calibri"/>
                        </a:rPr>
                        <a:t>– → 0.57111</a:t>
                      </a:r>
                    </a:p>
                  </a:txBody>
                  <a:tcPr marL="54864" marR="54864" marT="27432" marB="27432">
                    <a:solidFill>
                      <a:srgbClr val="F3F6F8"/>
                    </a:solidFill>
                  </a:tcPr>
                </a:tc>
              </a:tr>
              <a:tr h="329183">
                <a:tc>
                  <a:txBody>
                    <a:bodyPr/>
                    <a:lstStyle/>
                    <a:p>
                      <a:r>
                        <a:rPr sz="1200" b="0">
                          <a:solidFill>
                            <a:srgbClr val="1E2A32"/>
                          </a:solidFill>
                          <a:latin typeface="Calibri"/>
                        </a:rPr>
                        <a:t>Kalman CTRV + RTS (+ lệch yaw b)</a:t>
                      </a:r>
                    </a:p>
                  </a:txBody>
                  <a:tcPr marL="54864" marR="54864" marT="27432" marB="27432">
                    <a:solidFill>
                      <a:srgbClr val="FFFFFF"/>
                    </a:solidFill>
                  </a:tcPr>
                </a:tc>
                <a:tc>
                  <a:txBody>
                    <a:bodyPr/>
                    <a:lstStyle/>
                    <a:p>
                      <a:r>
                        <a:rPr sz="1200" b="0">
                          <a:solidFill>
                            <a:srgbClr val="1E2A32"/>
                          </a:solidFill>
                          <a:latin typeface="Calibri"/>
                        </a:rPr>
                        <a:t>1.26235 → 1.25338</a:t>
                      </a:r>
                    </a:p>
                  </a:txBody>
                  <a:tcPr marL="54864" marR="54864" marT="27432" marB="27432">
                    <a:solidFill>
                      <a:srgbClr val="FFFFFF"/>
                    </a:solidFill>
                  </a:tcPr>
                </a:tc>
                <a:tc>
                  <a:txBody>
                    <a:bodyPr/>
                    <a:lstStyle/>
                    <a:p>
                      <a:r>
                        <a:rPr sz="1200" b="0">
                          <a:solidFill>
                            <a:srgbClr val="1E2A32"/>
                          </a:solidFill>
                          <a:latin typeface="Calibri"/>
                        </a:rPr>
                        <a:t>0.47281 → 0.40778</a:t>
                      </a:r>
                    </a:p>
                  </a:txBody>
                  <a:tcPr marL="54864" marR="54864" marT="27432" marB="27432">
                    <a:solidFill>
                      <a:srgbClr val="FFFFFF"/>
                    </a:solidFill>
                  </a:tcPr>
                </a:tc>
              </a:tr>
              <a:tr h="329183">
                <a:tc>
                  <a:txBody>
                    <a:bodyPr/>
                    <a:lstStyle/>
                    <a:p>
                      <a:r>
                        <a:rPr sz="1200" b="0">
                          <a:solidFill>
                            <a:srgbClr val="1E2A32"/>
                          </a:solidFill>
                          <a:latin typeface="Calibri"/>
                        </a:rPr>
                        <a:t>GICP 2 lượt + trừ lệch (vị trí)</a:t>
                      </a:r>
                    </a:p>
                  </a:txBody>
                  <a:tcPr marL="54864" marR="54864" marT="27432" marB="27432">
                    <a:solidFill>
                      <a:srgbClr val="F3F6F8"/>
                    </a:solidFill>
                  </a:tcPr>
                </a:tc>
                <a:tc>
                  <a:txBody>
                    <a:bodyPr/>
                    <a:lstStyle/>
                    <a:p>
                      <a:r>
                        <a:rPr sz="1200" b="0">
                          <a:solidFill>
                            <a:srgbClr val="1E2A32"/>
                          </a:solidFill>
                          <a:latin typeface="Calibri"/>
                        </a:rPr>
                        <a:t>0.905 → ~0.616 m</a:t>
                      </a:r>
                    </a:p>
                  </a:txBody>
                  <a:tcPr marL="54864" marR="54864" marT="27432" marB="27432">
                    <a:solidFill>
                      <a:srgbClr val="F3F6F8"/>
                    </a:solidFill>
                  </a:tcPr>
                </a:tc>
                <a:tc>
                  <a:txBody>
                    <a:bodyPr/>
                    <a:lstStyle/>
                    <a:p>
                      <a:r>
                        <a:rPr sz="1200" b="0">
                          <a:solidFill>
                            <a:srgbClr val="1E2A32"/>
                          </a:solidFill>
                          <a:latin typeface="Calibri"/>
                        </a:rPr>
                        <a:t>xấu hơn (0.2267 → 0.414 m)</a:t>
                      </a:r>
                    </a:p>
                  </a:txBody>
                  <a:tcPr marL="54864" marR="54864" marT="27432" marB="27432">
                    <a:solidFill>
                      <a:srgbClr val="F3F6F8"/>
                    </a:solidFill>
                  </a:tcPr>
                </a:tc>
              </a:tr>
              <a:tr h="329183">
                <a:tc>
                  <a:txBody>
                    <a:bodyPr/>
                    <a:lstStyle/>
                    <a:p>
                      <a:r>
                        <a:rPr sz="1200" b="0">
                          <a:solidFill>
                            <a:srgbClr val="1E2A32"/>
                          </a:solidFill>
                          <a:latin typeface="Calibri"/>
                        </a:rPr>
                        <a:t>Yaw gyro thay yaw tổ hợp</a:t>
                      </a:r>
                    </a:p>
                  </a:txBody>
                  <a:tcPr marL="54864" marR="54864" marT="27432" marB="27432">
                    <a:solidFill>
                      <a:srgbClr val="FFFFFF"/>
                    </a:solidFill>
                  </a:tcPr>
                </a:tc>
                <a:tc>
                  <a:txBody>
                    <a:bodyPr/>
                    <a:lstStyle/>
                    <a:p>
                      <a:r>
                        <a:rPr sz="1200" b="0">
                          <a:solidFill>
                            <a:srgbClr val="1E2A32"/>
                          </a:solidFill>
                          <a:latin typeface="Calibri"/>
                        </a:rPr>
                        <a:t>1.559° → 0.865°</a:t>
                      </a:r>
                    </a:p>
                  </a:txBody>
                  <a:tcPr marL="54864" marR="54864" marT="27432" marB="27432">
                    <a:solidFill>
                      <a:srgbClr val="FFFFFF"/>
                    </a:solidFill>
                  </a:tcPr>
                </a:tc>
                <a:tc>
                  <a:txBody>
                    <a:bodyPr/>
                    <a:lstStyle/>
                    <a:p>
                      <a:r>
                        <a:rPr sz="1200" b="0">
                          <a:solidFill>
                            <a:srgbClr val="1E2A32"/>
                          </a:solidFill>
                          <a:latin typeface="Calibri"/>
                        </a:rPr>
                        <a:t>0.330° → 0.249°</a:t>
                      </a:r>
                    </a:p>
                  </a:txBody>
                  <a:tcPr marL="54864" marR="54864" marT="27432" marB="27432">
                    <a:solidFill>
                      <a:srgbClr val="FFFFFF"/>
                    </a:solidFill>
                  </a:tcPr>
                </a:tc>
              </a:tr>
              <a:tr h="329183">
                <a:tc>
                  <a:txBody>
                    <a:bodyPr/>
                    <a:lstStyle/>
                    <a:p>
                      <a:r>
                        <a:rPr sz="1200" b="0">
                          <a:solidFill>
                            <a:srgbClr val="1E2A32"/>
                          </a:solidFill>
                          <a:latin typeface="Calibri"/>
                        </a:rPr>
                        <a:t>Tầm GICP 40 → 20 m</a:t>
                      </a:r>
                    </a:p>
                  </a:txBody>
                  <a:tcPr marL="54864" marR="54864" marT="27432" marB="27432">
                    <a:solidFill>
                      <a:srgbClr val="F3F6F8"/>
                    </a:solidFill>
                  </a:tcPr>
                </a:tc>
                <a:tc>
                  <a:txBody>
                    <a:bodyPr/>
                    <a:lstStyle/>
                    <a:p>
                      <a:r>
                        <a:rPr sz="1200" b="0">
                          <a:solidFill>
                            <a:srgbClr val="1E2A32"/>
                          </a:solidFill>
                          <a:latin typeface="Calibri"/>
                        </a:rPr>
                        <a:t>0.80 → 0.63</a:t>
                      </a:r>
                    </a:p>
                  </a:txBody>
                  <a:tcPr marL="54864" marR="54864" marT="27432" marB="27432">
                    <a:solidFill>
                      <a:srgbClr val="F3F6F8"/>
                    </a:solidFill>
                  </a:tcPr>
                </a:tc>
                <a:tc>
                  <a:txBody>
                    <a:bodyPr/>
                    <a:lstStyle/>
                    <a:p>
                      <a:r>
                        <a:rPr sz="1200" b="0">
                          <a:solidFill>
                            <a:srgbClr val="1E2A32"/>
                          </a:solidFill>
                          <a:latin typeface="Calibri"/>
                        </a:rPr>
                        <a:t>–</a:t>
                      </a:r>
                    </a:p>
                  </a:txBody>
                  <a:tcPr marL="54864" marR="54864" marT="27432" marB="27432">
                    <a:solidFill>
                      <a:srgbClr val="F3F6F8"/>
                    </a:solidFill>
                  </a:tcPr>
                </a:tc>
              </a:tr>
              <a:tr h="329183">
                <a:tc>
                  <a:txBody>
                    <a:bodyPr/>
                    <a:lstStyle/>
                    <a:p>
                      <a:r>
                        <a:rPr sz="1200" b="0">
                          <a:solidFill>
                            <a:srgbClr val="1E2A32"/>
                          </a:solidFill>
                          <a:latin typeface="Calibri"/>
                        </a:rPr>
                        <a:t>Bỏ GICP khi cua (+ tầm 20)</a:t>
                      </a:r>
                    </a:p>
                  </a:txBody>
                  <a:tcPr marL="54864" marR="54864" marT="27432" marB="27432">
                    <a:solidFill>
                      <a:srgbClr val="FFFFFF"/>
                    </a:solidFill>
                  </a:tcPr>
                </a:tc>
                <a:tc>
                  <a:txBody>
                    <a:bodyPr/>
                    <a:lstStyle/>
                    <a:p>
                      <a:r>
                        <a:rPr sz="1200" b="0">
                          <a:solidFill>
                            <a:srgbClr val="1E2A32"/>
                          </a:solidFill>
                          <a:latin typeface="Calibri"/>
                        </a:rPr>
                        <a:t>0.63 → 0.62</a:t>
                      </a:r>
                    </a:p>
                  </a:txBody>
                  <a:tcPr marL="54864" marR="54864" marT="27432" marB="27432">
                    <a:solidFill>
                      <a:srgbClr val="FFFFFF"/>
                    </a:solidFill>
                  </a:tcPr>
                </a:tc>
                <a:tc>
                  <a:txBody>
                    <a:bodyPr/>
                    <a:lstStyle/>
                    <a:p>
                      <a:r>
                        <a:rPr sz="1200" b="0">
                          <a:solidFill>
                            <a:srgbClr val="1E2A32"/>
                          </a:solidFill>
                          <a:latin typeface="Calibri"/>
                        </a:rPr>
                        <a:t>–</a:t>
                      </a:r>
                    </a:p>
                  </a:txBody>
                  <a:tcPr marL="54864" marR="54864" marT="27432" marB="27432">
                    <a:solidFill>
                      <a:srgbClr val="FFFFFF"/>
                    </a:solidFill>
                  </a:tcPr>
                </a:tc>
              </a:tr>
              <a:tr h="329183">
                <a:tc>
                  <a:txBody>
                    <a:bodyPr/>
                    <a:lstStyle/>
                    <a:p>
                      <a:r>
                        <a:rPr sz="1200" b="0">
                          <a:solidFill>
                            <a:srgbClr val="1E2A32"/>
                          </a:solidFill>
                          <a:latin typeface="Calibri"/>
                        </a:rPr>
                        <a:t>CSM bản đồ</a:t>
                      </a:r>
                    </a:p>
                  </a:txBody>
                  <a:tcPr marL="54864" marR="54864" marT="27432" marB="27432">
                    <a:solidFill>
                      <a:srgbClr val="F3F6F8"/>
                    </a:solidFill>
                  </a:tcPr>
                </a:tc>
                <a:tc>
                  <a:txBody>
                    <a:bodyPr/>
                    <a:lstStyle/>
                    <a:p>
                      <a:r>
                        <a:rPr sz="1200" b="0">
                          <a:solidFill>
                            <a:srgbClr val="1E2A32"/>
                          </a:solidFill>
                          <a:latin typeface="Calibri"/>
                        </a:rPr>
                        <a:t>0.62 → 0.55</a:t>
                      </a:r>
                    </a:p>
                  </a:txBody>
                  <a:tcPr marL="54864" marR="54864" marT="27432" marB="27432">
                    <a:solidFill>
                      <a:srgbClr val="F3F6F8"/>
                    </a:solidFill>
                  </a:tcPr>
                </a:tc>
                <a:tc>
                  <a:txBody>
                    <a:bodyPr/>
                    <a:lstStyle/>
                    <a:p>
                      <a:r>
                        <a:rPr sz="1200" b="0">
                          <a:solidFill>
                            <a:srgbClr val="1E2A32"/>
                          </a:solidFill>
                          <a:latin typeface="Calibri"/>
                        </a:rPr>
                        <a:t>0.28 → 0.25</a:t>
                      </a:r>
                    </a:p>
                  </a:txBody>
                  <a:tcPr marL="54864" marR="54864" marT="27432" marB="27432">
                    <a:solidFill>
                      <a:srgbClr val="F3F6F8"/>
                    </a:solidFill>
                  </a:tcPr>
                </a:tc>
              </a:tr>
              <a:tr h="329183">
                <a:tc>
                  <a:txBody>
                    <a:bodyPr/>
                    <a:lstStyle/>
                    <a:p>
                      <a:r>
                        <a:rPr sz="1200" b="0">
                          <a:solidFill>
                            <a:srgbClr val="1E2A32"/>
                          </a:solidFill>
                          <a:latin typeface="Calibri"/>
                        </a:rPr>
                        <a:t>Yaw bản đồ (σ 8 s)</a:t>
                      </a:r>
                    </a:p>
                  </a:txBody>
                  <a:tcPr marL="54864" marR="54864" marT="27432" marB="27432">
                    <a:solidFill>
                      <a:srgbClr val="FFFFFF"/>
                    </a:solidFill>
                  </a:tcPr>
                </a:tc>
                <a:tc>
                  <a:txBody>
                    <a:bodyPr/>
                    <a:lstStyle/>
                    <a:p>
                      <a:r>
                        <a:rPr sz="1200" b="0">
                          <a:solidFill>
                            <a:srgbClr val="1E2A32"/>
                          </a:solidFill>
                          <a:latin typeface="Calibri"/>
                        </a:rPr>
                        <a:t>0.55 → 0.51</a:t>
                      </a:r>
                    </a:p>
                  </a:txBody>
                  <a:tcPr marL="54864" marR="54864" marT="27432" marB="27432">
                    <a:solidFill>
                      <a:srgbClr val="FFFFFF"/>
                    </a:solidFill>
                  </a:tcPr>
                </a:tc>
                <a:tc>
                  <a:txBody>
                    <a:bodyPr/>
                    <a:lstStyle/>
                    <a:p>
                      <a:r>
                        <a:rPr sz="1200" b="0">
                          <a:solidFill>
                            <a:srgbClr val="1E2A32"/>
                          </a:solidFill>
                          <a:latin typeface="Calibri"/>
                        </a:rPr>
                        <a:t>xấu hơn (offline)</a:t>
                      </a:r>
                    </a:p>
                  </a:txBody>
                  <a:tcPr marL="54864" marR="54864" marT="27432" marB="27432">
                    <a:solidFill>
                      <a:srgbClr val="FFFFFF"/>
                    </a:solidFill>
                  </a:tcPr>
                </a:tc>
              </a:tr>
              <a:tr h="329192">
                <a:tc>
                  <a:txBody>
                    <a:bodyPr/>
                    <a:lstStyle/>
                    <a:p>
                      <a:r>
                        <a:rPr sz="1200" b="0">
                          <a:solidFill>
                            <a:srgbClr val="1E2A32"/>
                          </a:solidFill>
                          <a:latin typeface="Calibri"/>
                        </a:rPr>
                        <a:t>Dời giờ GNSS −10 ms</a:t>
                      </a:r>
                    </a:p>
                  </a:txBody>
                  <a:tcPr marL="54864" marR="54864" marT="27432" marB="27432">
                    <a:solidFill>
                      <a:srgbClr val="F3F6F8"/>
                    </a:solidFill>
                  </a:tcPr>
                </a:tc>
                <a:tc>
                  <a:txBody>
                    <a:bodyPr/>
                    <a:lstStyle/>
                    <a:p>
                      <a:r>
                        <a:rPr sz="1200" b="0">
                          <a:solidFill>
                            <a:srgbClr val="1E2A32"/>
                          </a:solidFill>
                          <a:latin typeface="Calibri"/>
                        </a:rPr>
                        <a:t>–</a:t>
                      </a:r>
                    </a:p>
                  </a:txBody>
                  <a:tcPr marL="54864" marR="54864" marT="27432" marB="27432">
                    <a:solidFill>
                      <a:srgbClr val="F3F6F8"/>
                    </a:solidFill>
                  </a:tcPr>
                </a:tc>
                <a:tc>
                  <a:txBody>
                    <a:bodyPr/>
                    <a:lstStyle/>
                    <a:p>
                      <a:r>
                        <a:rPr sz="1200" b="0">
                          <a:solidFill>
                            <a:srgbClr val="1E2A32"/>
                          </a:solidFill>
                          <a:latin typeface="Calibri"/>
                        </a:rPr>
                        <a:t>0.25 → 0.24</a:t>
                      </a:r>
                    </a:p>
                  </a:txBody>
                  <a:tcPr marL="54864" marR="54864" marT="27432" marB="27432">
                    <a:solidFill>
                      <a:srgbClr val="F3F6F8"/>
                    </a:solidFill>
                  </a:tcPr>
                </a:tc>
              </a:tr>
            </a:tbl>
          </a:graphicData>
        </a:graphic>
      </p:graphicFrame>
      <p:pic>
        <p:nvPicPr>
          <p:cNvPr id="7" name="Picture 6" descr="t1t2_clean_chain.png"/>
          <p:cNvPicPr>
            <a:picLocks noChangeAspect="1"/>
          </p:cNvPicPr>
          <p:nvPr/>
        </p:nvPicPr>
        <p:blipFill>
          <a:blip r:embed="rId3"/>
          <a:stretch>
            <a:fillRect/>
          </a:stretch>
        </p:blipFill>
        <p:spPr>
          <a:xfrm>
            <a:off x="7360919" y="2912423"/>
            <a:ext cx="4297680" cy="1901833"/>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6.4</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Ablation Track03: các tầng và tham số (điểm public)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63</a:t>
            </a:r>
          </a:p>
        </p:txBody>
      </p:sp>
      <p:graphicFrame>
        <p:nvGraphicFramePr>
          <p:cNvPr id="6" name="Table 5"/>
          <p:cNvGraphicFramePr>
            <a:graphicFrameLocks noGrp="1"/>
          </p:cNvGraphicFramePr>
          <p:nvPr/>
        </p:nvGraphicFramePr>
        <p:xfrm>
          <a:off x="502920" y="1325880"/>
          <a:ext cx="6126479" cy="3291839"/>
        </p:xfrm>
        <a:graphic>
          <a:graphicData uri="http://schemas.openxmlformats.org/drawingml/2006/table">
            <a:tbl>
              <a:tblPr firstRow="1" bandRow="1">
                <a:tableStyleId>{5C22544A-7EE6-4342-B048-85BDC9FD1C3A}</a:tableStyleId>
              </a:tblPr>
              <a:tblGrid>
                <a:gridCol w="3749039"/>
                <a:gridCol w="2377440"/>
              </a:tblGrid>
              <a:tr h="329183">
                <a:tc>
                  <a:txBody>
                    <a:bodyPr/>
                    <a:lstStyle/>
                    <a:p>
                      <a:r>
                        <a:rPr sz="1200" b="1">
                          <a:solidFill>
                            <a:srgbClr val="FFFFFF"/>
                          </a:solidFill>
                          <a:latin typeface="Calibri"/>
                        </a:rPr>
                        <a:t>Bỏ / đổi</a:t>
                      </a:r>
                    </a:p>
                  </a:txBody>
                  <a:tcPr marL="54864" marR="54864" marT="27432" marB="27432">
                    <a:solidFill>
                      <a:srgbClr val="137C8B"/>
                    </a:solidFill>
                  </a:tcPr>
                </a:tc>
                <a:tc>
                  <a:txBody>
                    <a:bodyPr/>
                    <a:lstStyle/>
                    <a:p>
                      <a:r>
                        <a:rPr sz="1200" b="1">
                          <a:solidFill>
                            <a:srgbClr val="FFFFFF"/>
                          </a:solidFill>
                          <a:latin typeface="Calibri"/>
                        </a:rPr>
                        <a:t>Public</a:t>
                      </a:r>
                    </a:p>
                  </a:txBody>
                  <a:tcPr marL="54864" marR="54864" marT="27432" marB="27432">
                    <a:solidFill>
                      <a:srgbClr val="137C8B"/>
                    </a:solidFill>
                  </a:tcPr>
                </a:tc>
              </a:tr>
              <a:tr h="329183">
                <a:tc>
                  <a:txBody>
                    <a:bodyPr/>
                    <a:lstStyle/>
                    <a:p>
                      <a:r>
                        <a:rPr sz="1200" b="0">
                          <a:solidFill>
                            <a:srgbClr val="1E2A32"/>
                          </a:solidFill>
                          <a:latin typeface="Calibri"/>
                        </a:rPr>
                        <a:t>Bài cuối t3_Q4</a:t>
                      </a:r>
                    </a:p>
                  </a:txBody>
                  <a:tcPr marL="54864" marR="54864" marT="27432" marB="27432">
                    <a:solidFill>
                      <a:srgbClr val="F3F6F8"/>
                    </a:solidFill>
                  </a:tcPr>
                </a:tc>
                <a:tc>
                  <a:txBody>
                    <a:bodyPr/>
                    <a:lstStyle/>
                    <a:p>
                      <a:r>
                        <a:rPr sz="1200" b="1">
                          <a:solidFill>
                            <a:srgbClr val="1E2A32"/>
                          </a:solidFill>
                          <a:latin typeface="Calibri"/>
                        </a:rPr>
                        <a:t>0.28</a:t>
                      </a:r>
                    </a:p>
                  </a:txBody>
                  <a:tcPr marL="54864" marR="54864" marT="27432" marB="27432">
                    <a:solidFill>
                      <a:srgbClr val="F3F6F8"/>
                    </a:solidFill>
                  </a:tcPr>
                </a:tc>
              </a:tr>
              <a:tr h="329183">
                <a:tc>
                  <a:txBody>
                    <a:bodyPr/>
                    <a:lstStyle/>
                    <a:p>
                      <a:r>
                        <a:rPr sz="1200" b="0">
                          <a:solidFill>
                            <a:srgbClr val="1E2A32"/>
                          </a:solidFill>
                          <a:latin typeface="Calibri"/>
                        </a:rPr>
                        <a:t>bỏ sửa đoạn cuối (Q2)</a:t>
                      </a:r>
                    </a:p>
                  </a:txBody>
                  <a:tcPr marL="54864" marR="54864" marT="27432" marB="27432">
                    <a:solidFill>
                      <a:srgbClr val="FFFFFF"/>
                    </a:solidFill>
                  </a:tcPr>
                </a:tc>
                <a:tc>
                  <a:txBody>
                    <a:bodyPr/>
                    <a:lstStyle/>
                    <a:p>
                      <a:r>
                        <a:rPr sz="1200" b="0">
                          <a:solidFill>
                            <a:srgbClr val="1E2A32"/>
                          </a:solidFill>
                          <a:latin typeface="Calibri"/>
                        </a:rPr>
                        <a:t>0.28 (chỉ khác private)</a:t>
                      </a:r>
                    </a:p>
                  </a:txBody>
                  <a:tcPr marL="54864" marR="54864" marT="27432" marB="27432">
                    <a:solidFill>
                      <a:srgbClr val="FFFFFF"/>
                    </a:solidFill>
                  </a:tcPr>
                </a:tc>
              </a:tr>
              <a:tr h="329183">
                <a:tc>
                  <a:txBody>
                    <a:bodyPr/>
                    <a:lstStyle/>
                    <a:p>
                      <a:r>
                        <a:rPr sz="1200" b="0">
                          <a:solidFill>
                            <a:srgbClr val="1E2A32"/>
                          </a:solidFill>
                          <a:latin typeface="Calibri"/>
                        </a:rPr>
                        <a:t>bỏ chuyển động IMU (PF2)</a:t>
                      </a:r>
                    </a:p>
                  </a:txBody>
                  <a:tcPr marL="54864" marR="54864" marT="27432" marB="27432">
                    <a:solidFill>
                      <a:srgbClr val="F3F6F8"/>
                    </a:solidFill>
                  </a:tcPr>
                </a:tc>
                <a:tc>
                  <a:txBody>
                    <a:bodyPr/>
                    <a:lstStyle/>
                    <a:p>
                      <a:r>
                        <a:rPr sz="1200" b="0">
                          <a:solidFill>
                            <a:srgbClr val="1E2A32"/>
                          </a:solidFill>
                          <a:latin typeface="Calibri"/>
                        </a:rPr>
                        <a:t>0.33</a:t>
                      </a:r>
                    </a:p>
                  </a:txBody>
                  <a:tcPr marL="54864" marR="54864" marT="27432" marB="27432">
                    <a:solidFill>
                      <a:srgbClr val="F3F6F8"/>
                    </a:solidFill>
                  </a:tcPr>
                </a:tc>
              </a:tr>
              <a:tr h="329183">
                <a:tc>
                  <a:txBody>
                    <a:bodyPr/>
                    <a:lstStyle/>
                    <a:p>
                      <a:r>
                        <a:rPr sz="1200" b="0">
                          <a:solidFill>
                            <a:srgbClr val="1E2A32"/>
                          </a:solidFill>
                          <a:latin typeface="Calibri"/>
                        </a:rPr>
                        <a:t>bỏ camera bên (PE3)</a:t>
                      </a:r>
                    </a:p>
                  </a:txBody>
                  <a:tcPr marL="54864" marR="54864" marT="27432" marB="27432">
                    <a:solidFill>
                      <a:srgbClr val="FFFFFF"/>
                    </a:solidFill>
                  </a:tcPr>
                </a:tc>
                <a:tc>
                  <a:txBody>
                    <a:bodyPr/>
                    <a:lstStyle/>
                    <a:p>
                      <a:r>
                        <a:rPr sz="1200" b="0">
                          <a:solidFill>
                            <a:srgbClr val="1E2A32"/>
                          </a:solidFill>
                          <a:latin typeface="Calibri"/>
                        </a:rPr>
                        <a:t>0.37</a:t>
                      </a:r>
                    </a:p>
                  </a:txBody>
                  <a:tcPr marL="54864" marR="54864" marT="27432" marB="27432">
                    <a:solidFill>
                      <a:srgbClr val="FFFFFF"/>
                    </a:solidFill>
                  </a:tcPr>
                </a:tc>
              </a:tr>
              <a:tr h="329183">
                <a:tc>
                  <a:txBody>
                    <a:bodyPr/>
                    <a:lstStyle/>
                    <a:p>
                      <a:r>
                        <a:rPr sz="1200" b="0">
                          <a:solidFill>
                            <a:srgbClr val="1E2A32"/>
                          </a:solidFill>
                          <a:latin typeface="Calibri"/>
                        </a:rPr>
                        <a:t>κ 80 → 40 / 20</a:t>
                      </a:r>
                    </a:p>
                  </a:txBody>
                  <a:tcPr marL="54864" marR="54864" marT="27432" marB="27432">
                    <a:solidFill>
                      <a:srgbClr val="F3F6F8"/>
                    </a:solidFill>
                  </a:tcPr>
                </a:tc>
                <a:tc>
                  <a:txBody>
                    <a:bodyPr/>
                    <a:lstStyle/>
                    <a:p>
                      <a:r>
                        <a:rPr sz="1200" b="0">
                          <a:solidFill>
                            <a:srgbClr val="1E2A32"/>
                          </a:solidFill>
                          <a:latin typeface="Calibri"/>
                        </a:rPr>
                        <a:t>0.39 / 0.44</a:t>
                      </a:r>
                    </a:p>
                  </a:txBody>
                  <a:tcPr marL="54864" marR="54864" marT="27432" marB="27432">
                    <a:solidFill>
                      <a:srgbClr val="F3F6F8"/>
                    </a:solidFill>
                  </a:tcPr>
                </a:tc>
              </a:tr>
              <a:tr h="329183">
                <a:tc>
                  <a:txBody>
                    <a:bodyPr/>
                    <a:lstStyle/>
                    <a:p>
                      <a:r>
                        <a:rPr sz="1200" b="0">
                          <a:solidFill>
                            <a:srgbClr val="1E2A32"/>
                          </a:solidFill>
                          <a:latin typeface="Calibri"/>
                        </a:rPr>
                        <a:t>bỏ toàn bộ vạch sơn (Z3a)</a:t>
                      </a:r>
                    </a:p>
                  </a:txBody>
                  <a:tcPr marL="54864" marR="54864" marT="27432" marB="27432">
                    <a:solidFill>
                      <a:srgbClr val="FFFFFF"/>
                    </a:solidFill>
                  </a:tcPr>
                </a:tc>
                <a:tc>
                  <a:txBody>
                    <a:bodyPr/>
                    <a:lstStyle/>
                    <a:p>
                      <a:r>
                        <a:rPr sz="1200" b="0">
                          <a:solidFill>
                            <a:srgbClr val="1E2A32"/>
                          </a:solidFill>
                          <a:latin typeface="Calibri"/>
                        </a:rPr>
                        <a:t>0.80</a:t>
                      </a:r>
                    </a:p>
                  </a:txBody>
                  <a:tcPr marL="54864" marR="54864" marT="27432" marB="27432">
                    <a:solidFill>
                      <a:srgbClr val="FFFFFF"/>
                    </a:solidFill>
                  </a:tcPr>
                </a:tc>
              </a:tr>
              <a:tr h="329183">
                <a:tc>
                  <a:txBody>
                    <a:bodyPr/>
                    <a:lstStyle/>
                    <a:p>
                      <a:r>
                        <a:rPr sz="1200" b="0">
                          <a:solidFill>
                            <a:srgbClr val="1E2A32"/>
                          </a:solidFill>
                          <a:latin typeface="Calibri"/>
                        </a:rPr>
                        <a:t>bỏ hướng trọng lực cố định (W3h)</a:t>
                      </a:r>
                    </a:p>
                  </a:txBody>
                  <a:tcPr marL="54864" marR="54864" marT="27432" marB="27432">
                    <a:solidFill>
                      <a:srgbClr val="F3F6F8"/>
                    </a:solidFill>
                  </a:tcPr>
                </a:tc>
                <a:tc>
                  <a:txBody>
                    <a:bodyPr/>
                    <a:lstStyle/>
                    <a:p>
                      <a:r>
                        <a:rPr sz="1200" b="0">
                          <a:solidFill>
                            <a:srgbClr val="1E2A32"/>
                          </a:solidFill>
                          <a:latin typeface="Calibri"/>
                        </a:rPr>
                        <a:t>0.89</a:t>
                      </a:r>
                    </a:p>
                  </a:txBody>
                  <a:tcPr marL="54864" marR="54864" marT="27432" marB="27432">
                    <a:solidFill>
                      <a:srgbClr val="F3F6F8"/>
                    </a:solidFill>
                  </a:tcPr>
                </a:tc>
              </a:tr>
              <a:tr h="329183">
                <a:tc>
                  <a:txBody>
                    <a:bodyPr/>
                    <a:lstStyle/>
                    <a:p>
                      <a:r>
                        <a:rPr sz="1200" b="0">
                          <a:solidFill>
                            <a:srgbClr val="1E2A32"/>
                          </a:solidFill>
                          <a:latin typeface="Calibri"/>
                        </a:rPr>
                        <a:t>bỏ hiệu chuẩn lại tay đòn (L2)</a:t>
                      </a:r>
                    </a:p>
                  </a:txBody>
                  <a:tcPr marL="54864" marR="54864" marT="27432" marB="27432">
                    <a:solidFill>
                      <a:srgbClr val="FFFFFF"/>
                    </a:solidFill>
                  </a:tcPr>
                </a:tc>
                <a:tc>
                  <a:txBody>
                    <a:bodyPr/>
                    <a:lstStyle/>
                    <a:p>
                      <a:r>
                        <a:rPr sz="1200" b="0">
                          <a:solidFill>
                            <a:srgbClr val="1E2A32"/>
                          </a:solidFill>
                          <a:latin typeface="Calibri"/>
                        </a:rPr>
                        <a:t>1.05</a:t>
                      </a:r>
                    </a:p>
                  </a:txBody>
                  <a:tcPr marL="54864" marR="54864" marT="27432" marB="27432">
                    <a:solidFill>
                      <a:srgbClr val="FFFFFF"/>
                    </a:solidFill>
                  </a:tcPr>
                </a:tc>
              </a:tr>
              <a:tr h="329192">
                <a:tc>
                  <a:txBody>
                    <a:bodyPr/>
                    <a:lstStyle/>
                    <a:p>
                      <a:r>
                        <a:rPr sz="1200" b="0">
                          <a:solidFill>
                            <a:srgbClr val="1E2A32"/>
                          </a:solidFill>
                          <a:latin typeface="Calibri"/>
                        </a:rPr>
                        <a:t>bộ bám trước CSM / sửa gyro (A2h)</a:t>
                      </a:r>
                    </a:p>
                  </a:txBody>
                  <a:tcPr marL="54864" marR="54864" marT="27432" marB="27432">
                    <a:solidFill>
                      <a:srgbClr val="F3F6F8"/>
                    </a:solidFill>
                  </a:tcPr>
                </a:tc>
                <a:tc>
                  <a:txBody>
                    <a:bodyPr/>
                    <a:lstStyle/>
                    <a:p>
                      <a:r>
                        <a:rPr sz="1200" b="0">
                          <a:solidFill>
                            <a:srgbClr val="1E2A32"/>
                          </a:solidFill>
                          <a:latin typeface="Calibri"/>
                        </a:rPr>
                        <a:t>0.96</a:t>
                      </a:r>
                    </a:p>
                  </a:txBody>
                  <a:tcPr marL="54864" marR="54864" marT="27432" marB="27432">
                    <a:solidFill>
                      <a:srgbClr val="F3F6F8"/>
                    </a:solidFill>
                  </a:tcPr>
                </a:tc>
              </a:tr>
            </a:tbl>
          </a:graphicData>
        </a:graphic>
      </p:graphicFrame>
      <p:sp>
        <p:nvSpPr>
          <p:cNvPr id="7" name="TextBox 6"/>
          <p:cNvSpPr txBox="1"/>
          <p:nvPr/>
        </p:nvSpPr>
        <p:spPr>
          <a:xfrm>
            <a:off x="502920" y="5074920"/>
            <a:ext cx="6126479" cy="1325880"/>
          </a:xfrm>
          <a:prstGeom prst="rect">
            <a:avLst/>
          </a:prstGeom>
          <a:noFill/>
        </p:spPr>
        <p:txBody>
          <a:bodyPr wrap="square" anchor="t" lIns="0" rIns="0" tIns="0" bIns="0">
            <a:spAutoFit/>
          </a:bodyPr>
          <a:lstStyle/>
          <a:p>
            <a:pPr algn="l">
              <a:spcAft>
                <a:spcPts val="800"/>
              </a:spcAft>
            </a:pPr>
            <a:r>
              <a:rPr sz="1400" b="1">
                <a:solidFill>
                  <a:srgbClr val="137C8B"/>
                </a:solidFill>
                <a:latin typeface="Calibri"/>
              </a:rPr>
              <a:t>• </a:t>
            </a:r>
            <a:r>
              <a:rPr sz="1400" b="0">
                <a:solidFill>
                  <a:srgbClr val="1E2A32"/>
                </a:solidFill>
                <a:latin typeface="Calibri"/>
              </a:rPr>
              <a:t>Offline: CSM 69 → 98 % chấp nhận; sửa lúc chạy lại 2.46 → 0.72 m; rung dọc 0.51 → 0.24 m</a:t>
            </a:r>
          </a:p>
        </p:txBody>
      </p:sp>
      <p:pic>
        <p:nvPicPr>
          <p:cNvPr id="8" name="Picture 7" descr="t3_layers.png"/>
          <p:cNvPicPr>
            <a:picLocks noChangeAspect="1"/>
          </p:cNvPicPr>
          <p:nvPr/>
        </p:nvPicPr>
        <p:blipFill>
          <a:blip r:embed="rId3"/>
          <a:stretch>
            <a:fillRect/>
          </a:stretch>
        </p:blipFill>
        <p:spPr>
          <a:xfrm>
            <a:off x="6903719" y="2652659"/>
            <a:ext cx="4754880" cy="242136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6.5</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Phân công</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64</a:t>
            </a:r>
          </a:p>
        </p:txBody>
      </p:sp>
      <p:sp>
        <p:nvSpPr>
          <p:cNvPr id="6" name="TextBox 5"/>
          <p:cNvSpPr txBox="1"/>
          <p:nvPr/>
        </p:nvSpPr>
        <p:spPr>
          <a:xfrm>
            <a:off x="502920" y="1325880"/>
            <a:ext cx="11155680" cy="5074920"/>
          </a:xfrm>
          <a:prstGeom prst="rect">
            <a:avLst/>
          </a:prstGeom>
          <a:noFill/>
        </p:spPr>
        <p:txBody>
          <a:bodyPr wrap="square" anchor="t" lIns="0" rIns="0" tIns="0" bIns="0">
            <a:spAutoFit/>
          </a:bodyPr>
          <a:lstStyle/>
          <a:p>
            <a:pPr algn="l">
              <a:spcAft>
                <a:spcPts val="800"/>
              </a:spcAft>
            </a:pPr>
            <a:r>
              <a:rPr sz="2200" b="1">
                <a:solidFill>
                  <a:srgbClr val="137C8B"/>
                </a:solidFill>
                <a:latin typeface="Calibri"/>
              </a:rPr>
              <a:t>• </a:t>
            </a:r>
            <a:r>
              <a:rPr sz="2200" b="0">
                <a:solidFill>
                  <a:srgbClr val="1E2A32"/>
                </a:solidFill>
                <a:latin typeface="Calibri"/>
              </a:rPr>
              <a:t>Đội 1 thành viên → 100 % [CẦN ĐIỀN: họ tên]</a:t>
            </a:r>
          </a:p>
          <a:p>
            <a:pPr algn="l">
              <a:spcAft>
                <a:spcPts val="800"/>
              </a:spcAft>
            </a:pPr>
            <a:r>
              <a:rPr sz="2200" b="1">
                <a:solidFill>
                  <a:srgbClr val="137C8B"/>
                </a:solidFill>
                <a:latin typeface="Calibri"/>
              </a:rPr>
              <a:t>• </a:t>
            </a:r>
            <a:r>
              <a:rPr sz="2200" b="0">
                <a:solidFill>
                  <a:srgbClr val="1E2A32"/>
                </a:solidFill>
                <a:latin typeface="Calibri"/>
              </a:rPr>
              <a:t>Sinh viên: chọn hướng đi, duyệt mọi lần nộp Kaggle, trao đổi với TA (20/10, 23/10), tải dữ liệu, cài môi trường, thuyết trình [CẦN ĐIỀN: phần tự làm]</a:t>
            </a:r>
          </a:p>
          <a:p>
            <a:pPr algn="l">
              <a:spcAft>
                <a:spcPts val="800"/>
              </a:spcAft>
            </a:pPr>
            <a:r>
              <a:rPr sz="2200" b="1">
                <a:solidFill>
                  <a:srgbClr val="137C8B"/>
                </a:solidFill>
                <a:latin typeface="Calibri"/>
              </a:rPr>
              <a:t>• </a:t>
            </a:r>
            <a:r>
              <a:rPr sz="2200" b="0">
                <a:solidFill>
                  <a:srgbClr val="1E2A32"/>
                </a:solidFill>
                <a:latin typeface="Calibri"/>
              </a:rPr>
              <a:t>Trợ lý AI (Claude Code): viết công cụ, chạy thí nghiệm, phân tích và ghi nhật ký theo chỉ dẫn; không bao giờ tự nộp</a:t>
            </a:r>
          </a:p>
          <a:p>
            <a:pPr algn="l">
              <a:spcAft>
                <a:spcPts val="800"/>
              </a:spcAft>
            </a:pPr>
            <a:r>
              <a:rPr sz="2200" b="1">
                <a:solidFill>
                  <a:srgbClr val="137C8B"/>
                </a:solidFill>
                <a:latin typeface="Calibri"/>
              </a:rPr>
              <a:t>• </a:t>
            </a:r>
            <a:r>
              <a:rPr sz="2200" b="0">
                <a:solidFill>
                  <a:srgbClr val="1E2A32"/>
                </a:solidFill>
                <a:latin typeface="Calibri"/>
              </a:rPr>
              <a:t>[CẦN ĐIỀN: mô tả phần dùng AI theo yêu cầu môn học]</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6.6</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Bài học</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65</a:t>
            </a:r>
          </a:p>
        </p:txBody>
      </p:sp>
      <p:sp>
        <p:nvSpPr>
          <p:cNvPr id="6" name="TextBox 5"/>
          <p:cNvSpPr txBox="1"/>
          <p:nvPr/>
        </p:nvSpPr>
        <p:spPr>
          <a:xfrm>
            <a:off x="502920" y="1325880"/>
            <a:ext cx="11155680" cy="5074920"/>
          </a:xfrm>
          <a:prstGeom prst="rect">
            <a:avLst/>
          </a:prstGeom>
          <a:noFill/>
        </p:spPr>
        <p:txBody>
          <a:bodyPr wrap="square" anchor="t" lIns="0" rIns="0" tIns="0" bIns="0">
            <a:spAutoFit/>
          </a:bodyPr>
          <a:lstStyle/>
          <a:p>
            <a:pPr algn="l">
              <a:spcAft>
                <a:spcPts val="800"/>
              </a:spcAft>
            </a:pPr>
            <a:r>
              <a:rPr sz="1800" b="1">
                <a:solidFill>
                  <a:srgbClr val="137C8B"/>
                </a:solidFill>
                <a:latin typeface="Calibri"/>
              </a:rPr>
              <a:t>• </a:t>
            </a:r>
            <a:r>
              <a:rPr sz="1800" b="0">
                <a:solidFill>
                  <a:srgbClr val="1E2A32"/>
                </a:solidFill>
                <a:latin typeface="Calibri"/>
              </a:rPr>
              <a:t>Kiểm tra đơn vị và hệ trục trước: mất ~70 phút chạy (baseline, NDT ×2–×4) trước khi kiểm tra tỉ lệ</a:t>
            </a:r>
          </a:p>
          <a:p>
            <a:pPr algn="l">
              <a:spcAft>
                <a:spcPts val="800"/>
              </a:spcAft>
            </a:pPr>
            <a:r>
              <a:rPr sz="1800" b="1">
                <a:solidFill>
                  <a:srgbClr val="137C8B"/>
                </a:solidFill>
                <a:latin typeface="Calibri"/>
              </a:rPr>
              <a:t>• </a:t>
            </a:r>
            <a:r>
              <a:rPr sz="1800" b="0">
                <a:solidFill>
                  <a:srgbClr val="1E2A32"/>
                </a:solidFill>
                <a:latin typeface="Calibri"/>
              </a:rPr>
              <a:t>Kiểm tra thước đo có thiên vị không (khoảng cách trung bình thiên về tỉ lệ nhỏ)</a:t>
            </a:r>
          </a:p>
          <a:p>
            <a:pPr algn="l">
              <a:spcAft>
                <a:spcPts val="800"/>
              </a:spcAft>
            </a:pPr>
            <a:r>
              <a:rPr sz="1800" b="1">
                <a:solidFill>
                  <a:srgbClr val="137C8B"/>
                </a:solidFill>
                <a:latin typeface="Calibri"/>
              </a:rPr>
              <a:t>• </a:t>
            </a:r>
            <a:r>
              <a:rPr sz="1800" b="0">
                <a:solidFill>
                  <a:srgbClr val="1E2A32"/>
                </a:solidFill>
                <a:latin typeface="Calibri"/>
              </a:rPr>
              <a:t>Đầu vào giới hạn kết quả: thuật toán khớp sai 5–8 mm trên point cloud hoàn hảo → sửa đầu vào, thêm thông tin mới (vạch sơn), không cần bộ lọc phức tạp hơn</a:t>
            </a:r>
          </a:p>
          <a:p>
            <a:pPr algn="l">
              <a:spcAft>
                <a:spcPts val="800"/>
              </a:spcAft>
            </a:pPr>
            <a:r>
              <a:rPr sz="1800" b="1">
                <a:solidFill>
                  <a:srgbClr val="137C8B"/>
                </a:solidFill>
                <a:latin typeface="Calibri"/>
              </a:rPr>
              <a:t>• </a:t>
            </a:r>
            <a:r>
              <a:rPr sz="1800" b="0">
                <a:solidFill>
                  <a:srgbClr val="1E2A32"/>
                </a:solidFill>
                <a:latin typeface="Calibri"/>
              </a:rPr>
              <a:t>Giả thuyết đúng về vật lý vẫn có thể sai với đáp án (bù trễ yaw GNSS) – phải thử</a:t>
            </a:r>
          </a:p>
          <a:p>
            <a:pPr algn="l">
              <a:spcAft>
                <a:spcPts val="800"/>
              </a:spcAft>
            </a:pPr>
            <a:r>
              <a:rPr sz="1800" b="1">
                <a:solidFill>
                  <a:srgbClr val="137C8B"/>
                </a:solidFill>
                <a:latin typeface="Calibri"/>
              </a:rPr>
              <a:t>• </a:t>
            </a:r>
            <a:r>
              <a:rPr sz="1800" b="0">
                <a:solidFill>
                  <a:srgbClr val="1E2A32"/>
                </a:solidFill>
                <a:latin typeface="Calibri"/>
              </a:rPr>
              <a:t>Nhiều lần nhìn cùng một khung cảnh = một phép đo (đứng yên) – đúng cho GICP, CSM và vạch sơn</a:t>
            </a:r>
          </a:p>
          <a:p>
            <a:pPr algn="l">
              <a:spcAft>
                <a:spcPts val="800"/>
              </a:spcAft>
            </a:pPr>
            <a:r>
              <a:rPr sz="1800" b="1">
                <a:solidFill>
                  <a:srgbClr val="137C8B"/>
                </a:solidFill>
                <a:latin typeface="Calibri"/>
              </a:rPr>
              <a:t>• </a:t>
            </a:r>
            <a:r>
              <a:rPr sz="1800" b="0">
                <a:solidFill>
                  <a:srgbClr val="1E2A32"/>
                </a:solidFill>
                <a:latin typeface="Calibri"/>
              </a:rPr>
              <a:t>Tự đọc lại code để kiểm tra nhân quả: lỗi ghi ngược MHT trông như điểm tốt</a:t>
            </a:r>
          </a:p>
          <a:p>
            <a:pPr algn="l">
              <a:spcAft>
                <a:spcPts val="800"/>
              </a:spcAft>
            </a:pPr>
            <a:r>
              <a:rPr sz="1800" b="1">
                <a:solidFill>
                  <a:srgbClr val="137C8B"/>
                </a:solidFill>
                <a:latin typeface="Calibri"/>
              </a:rPr>
              <a:t>• </a:t>
            </a:r>
            <a:r>
              <a:rPr sz="1800" b="0">
                <a:solidFill>
                  <a:srgbClr val="1E2A32"/>
                </a:solidFill>
                <a:latin typeface="Calibri"/>
              </a:rPr>
              <a:t>Ghi chép mọi thứ, mọi file tạo lại được (34/34 trùng từng byte)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01168"/>
            <a:ext cx="9601200" cy="274320"/>
          </a:xfrm>
          <a:prstGeom prst="rect">
            <a:avLst/>
          </a:prstGeom>
          <a:noFill/>
        </p:spPr>
        <p:txBody>
          <a:bodyPr wrap="square" anchor="t" lIns="0" rIns="0" tIns="0" bIns="0">
            <a:spAutoFit/>
          </a:bodyPr>
          <a:lstStyle/>
          <a:p>
            <a:pPr algn="l">
              <a:spcAft>
                <a:spcPts val="600"/>
              </a:spcAft>
            </a:pPr>
            <a:r>
              <a:rPr sz="1100" b="1">
                <a:solidFill>
                  <a:srgbClr val="137C8B"/>
                </a:solidFill>
                <a:latin typeface="Calibri"/>
              </a:rPr>
              <a:t>Phần 6 – Kết quả và tổng kết · slide 6.7</a:t>
            </a:r>
          </a:p>
        </p:txBody>
      </p:sp>
      <p:sp>
        <p:nvSpPr>
          <p:cNvPr id="3" name="TextBox 2"/>
          <p:cNvSpPr txBox="1"/>
          <p:nvPr/>
        </p:nvSpPr>
        <p:spPr>
          <a:xfrm>
            <a:off x="502920" y="438912"/>
            <a:ext cx="11155680" cy="685800"/>
          </a:xfrm>
          <a:prstGeom prst="rect">
            <a:avLst/>
          </a:prstGeom>
          <a:noFill/>
        </p:spPr>
        <p:txBody>
          <a:bodyPr wrap="square" anchor="t" lIns="0" rIns="0" tIns="0" bIns="0">
            <a:spAutoFit/>
          </a:bodyPr>
          <a:lstStyle/>
          <a:p>
            <a:pPr algn="l">
              <a:spcAft>
                <a:spcPts val="600"/>
              </a:spcAft>
            </a:pPr>
            <a:r>
              <a:rPr sz="2600" b="1">
                <a:solidFill>
                  <a:srgbClr val="14242E"/>
                </a:solidFill>
                <a:latin typeface="Cambria"/>
              </a:rPr>
              <a:t>Hướng tiếp theo</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66</a:t>
            </a:r>
          </a:p>
        </p:txBody>
      </p:sp>
      <p:sp>
        <p:nvSpPr>
          <p:cNvPr id="6" name="TextBox 5"/>
          <p:cNvSpPr txBox="1"/>
          <p:nvPr/>
        </p:nvSpPr>
        <p:spPr>
          <a:xfrm>
            <a:off x="502920" y="1325880"/>
            <a:ext cx="11155680" cy="5074920"/>
          </a:xfrm>
          <a:prstGeom prst="rect">
            <a:avLst/>
          </a:prstGeom>
          <a:noFill/>
        </p:spPr>
        <p:txBody>
          <a:bodyPr wrap="square" anchor="t" lIns="0" rIns="0" tIns="0" bIns="0">
            <a:spAutoFit/>
          </a:bodyPr>
          <a:lstStyle/>
          <a:p>
            <a:pPr algn="l">
              <a:spcAft>
                <a:spcPts val="800"/>
              </a:spcAft>
            </a:pPr>
            <a:r>
              <a:rPr sz="2000" b="1">
                <a:solidFill>
                  <a:srgbClr val="137C8B"/>
                </a:solidFill>
                <a:latin typeface="Calibri"/>
              </a:rPr>
              <a:t>• </a:t>
            </a:r>
            <a:r>
              <a:rPr sz="2000" b="0">
                <a:solidFill>
                  <a:srgbClr val="1E2A32"/>
                </a:solidFill>
                <a:latin typeface="Calibri"/>
              </a:rPr>
              <a:t>Track03: dùng cấu trúc 3D của bản đồ (cột, mép lề, tường) chiếu vào ảnh để chốt vị trí dọc ở chỗ không có vạch sơn (thử ngày 26/10) [CẦN ĐIỀN: kết quả]</a:t>
            </a:r>
          </a:p>
          <a:p>
            <a:pPr algn="l">
              <a:spcAft>
                <a:spcPts val="800"/>
              </a:spcAft>
            </a:pPr>
            <a:r>
              <a:rPr sz="2000" b="1">
                <a:solidFill>
                  <a:srgbClr val="137C8B"/>
                </a:solidFill>
                <a:latin typeface="Calibri"/>
              </a:rPr>
              <a:t>• </a:t>
            </a:r>
            <a:r>
              <a:rPr sz="2000" b="0">
                <a:solidFill>
                  <a:srgbClr val="1E2A32"/>
                </a:solidFill>
                <a:latin typeface="Calibri"/>
              </a:rPr>
              <a:t>Đầu Track03: frame 0–13 không có ảnh camera trước, bật IMU từ frame 6 (t3_R1, chưa nộp)</a:t>
            </a:r>
          </a:p>
          <a:p>
            <a:pPr algn="l">
              <a:spcAft>
                <a:spcPts val="800"/>
              </a:spcAft>
            </a:pPr>
            <a:r>
              <a:rPr sz="2000" b="1">
                <a:solidFill>
                  <a:srgbClr val="137C8B"/>
                </a:solidFill>
                <a:latin typeface="Calibri"/>
              </a:rPr>
              <a:t>• </a:t>
            </a:r>
            <a:r>
              <a:rPr sz="2000" b="0">
                <a:solidFill>
                  <a:srgbClr val="1E2A32"/>
                </a:solidFill>
                <a:latin typeface="Calibri"/>
              </a:rPr>
              <a:t>Track01/02: đánh giá bản nhân quả (run_causal_pipeline.sh) trên Kaggle</a:t>
            </a:r>
          </a:p>
          <a:p>
            <a:pPr algn="l">
              <a:spcAft>
                <a:spcPts val="800"/>
              </a:spcAft>
            </a:pPr>
            <a:r>
              <a:rPr sz="2000" b="1">
                <a:solidFill>
                  <a:srgbClr val="137C8B"/>
                </a:solidFill>
                <a:latin typeface="Calibri"/>
              </a:rPr>
              <a:t>• </a:t>
            </a:r>
            <a:r>
              <a:rPr sz="2000" b="0">
                <a:solidFill>
                  <a:srgbClr val="1E2A32"/>
                </a:solidFill>
                <a:latin typeface="Calibri"/>
              </a:rPr>
              <a:t>Mô hình sai độ sâu theo khoảng cách cho LoGeR (p' = p(1 + 4c)/(1 + c·r)) thay cho một tỉ lệ</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4242E"/>
        </a:solidFill>
        <a:effectLst/>
      </p:bgPr>
    </p:bg>
    <p:spTree>
      <p:nvGrpSpPr>
        <p:cNvPr id="1" name=""/>
        <p:cNvGrpSpPr/>
        <p:nvPr/>
      </p:nvGrpSpPr>
      <p:grpSpPr/>
      <p:sp>
        <p:nvSpPr>
          <p:cNvPr id="2" name="TextBox 1"/>
          <p:cNvSpPr txBox="1"/>
          <p:nvPr/>
        </p:nvSpPr>
        <p:spPr>
          <a:xfrm>
            <a:off x="731520" y="1828800"/>
            <a:ext cx="10607040" cy="1463040"/>
          </a:xfrm>
          <a:prstGeom prst="rect">
            <a:avLst/>
          </a:prstGeom>
          <a:noFill/>
        </p:spPr>
        <p:txBody>
          <a:bodyPr wrap="square" anchor="t" lIns="0" rIns="0" tIns="0" bIns="0">
            <a:spAutoFit/>
          </a:bodyPr>
          <a:lstStyle/>
          <a:p>
            <a:pPr algn="l">
              <a:spcAft>
                <a:spcPts val="600"/>
              </a:spcAft>
            </a:pPr>
            <a:r>
              <a:rPr sz="3600" b="1">
                <a:solidFill>
                  <a:srgbClr val="FFFFFF"/>
                </a:solidFill>
                <a:latin typeface="Cambria"/>
              </a:rPr>
              <a:t>Cảm ơn – câu hỏi</a:t>
            </a:r>
          </a:p>
        </p:txBody>
      </p:sp>
      <p:sp>
        <p:nvSpPr>
          <p:cNvPr id="3" name="TextBox 2"/>
          <p:cNvSpPr txBox="1"/>
          <p:nvPr/>
        </p:nvSpPr>
        <p:spPr>
          <a:xfrm>
            <a:off x="731520" y="4206240"/>
            <a:ext cx="10607040" cy="2011680"/>
          </a:xfrm>
          <a:prstGeom prst="rect">
            <a:avLst/>
          </a:prstGeom>
          <a:noFill/>
        </p:spPr>
        <p:txBody>
          <a:bodyPr wrap="square" anchor="t" lIns="0" rIns="0" tIns="0" bIns="0">
            <a:spAutoFit/>
          </a:bodyPr>
          <a:lstStyle/>
          <a:p>
            <a:pPr algn="l">
              <a:spcAft>
                <a:spcPts val="600"/>
              </a:spcAft>
            </a:pPr>
            <a:r>
              <a:rPr sz="1500" b="1">
                <a:solidFill>
                  <a:srgbClr val="E89B2B"/>
                </a:solidFill>
                <a:latin typeface="Calibri"/>
              </a:rPr>
              <a:t>Track03 có dùng frame tương lai không? – Không (slide 4.20, 5.7)</a:t>
            </a:r>
          </a:p>
          <a:p>
            <a:pPr algn="l">
              <a:spcAft>
                <a:spcPts val="600"/>
              </a:spcAft>
            </a:pPr>
            <a:r>
              <a:rPr sz="1500" b="1">
                <a:solidFill>
                  <a:srgbClr val="E89B2B"/>
                </a:solidFill>
                <a:latin typeface="Calibri"/>
              </a:rPr>
              <a:t>Vì sao được dò ở Track01/02? – TA cho phép trên lớp 23/10 (slide 5.3)</a:t>
            </a:r>
          </a:p>
          <a:p>
            <a:pPr algn="l">
              <a:spcAft>
                <a:spcPts val="600"/>
              </a:spcAft>
            </a:pPr>
            <a:r>
              <a:rPr sz="1500" b="1">
                <a:solidFill>
                  <a:srgbClr val="E89B2B"/>
                </a:solidFill>
                <a:latin typeface="Calibri"/>
              </a:rPr>
              <a:t>Vì sao không dùng NDT? – kém GNSS; GICP nhanh hơn ~200× (slide 2.5)</a:t>
            </a:r>
          </a:p>
          <a:p>
            <a:pPr algn="l">
              <a:spcAft>
                <a:spcPts val="600"/>
              </a:spcAft>
            </a:pPr>
            <a:r>
              <a:rPr sz="1500" b="1">
                <a:solidFill>
                  <a:srgbClr val="E89B2B"/>
                </a:solidFill>
                <a:latin typeface="Calibri"/>
              </a:rPr>
              <a:t>Điểm private Track03? – chưa biết; ước tính 0.3–0.4 (slide 5.6)</a:t>
            </a:r>
          </a:p>
        </p:txBody>
      </p:sp>
      <p:sp>
        <p:nvSpPr>
          <p:cNvPr id="4" name="TextBox 3"/>
          <p:cNvSpPr txBox="1"/>
          <p:nvPr/>
        </p:nvSpPr>
        <p:spPr>
          <a:xfrm>
            <a:off x="502920" y="6473952"/>
            <a:ext cx="7315200" cy="228600"/>
          </a:xfrm>
          <a:prstGeom prst="rect">
            <a:avLst/>
          </a:prstGeom>
          <a:noFill/>
        </p:spPr>
        <p:txBody>
          <a:bodyPr wrap="square" anchor="t" lIns="0" rIns="0" tIns="0" bIns="0">
            <a:spAutoFit/>
          </a:bodyPr>
          <a:lstStyle/>
          <a:p>
            <a:pPr algn="l">
              <a:spcAft>
                <a:spcPts val="600"/>
              </a:spcAft>
            </a:pPr>
            <a:r>
              <a:rPr sz="900" b="0">
                <a:solidFill>
                  <a:srgbClr val="5F6F7A"/>
                </a:solidFill>
                <a:latin typeface="Calibri"/>
              </a:rPr>
              <a:t>SDC 2026 Midterm01 · Đội 11 · bản tiếng Việt để kiểm tra</a:t>
            </a:r>
          </a:p>
        </p:txBody>
      </p:sp>
      <p:sp>
        <p:nvSpPr>
          <p:cNvPr id="5" name="TextBox 4"/>
          <p:cNvSpPr txBox="1"/>
          <p:nvPr/>
        </p:nvSpPr>
        <p:spPr>
          <a:xfrm>
            <a:off x="11155680" y="6473952"/>
            <a:ext cx="548640" cy="228600"/>
          </a:xfrm>
          <a:prstGeom prst="rect">
            <a:avLst/>
          </a:prstGeom>
          <a:noFill/>
        </p:spPr>
        <p:txBody>
          <a:bodyPr wrap="square" anchor="t" lIns="0" rIns="0" tIns="0" bIns="0">
            <a:spAutoFit/>
          </a:bodyPr>
          <a:lstStyle/>
          <a:p>
            <a:pPr algn="r">
              <a:spcAft>
                <a:spcPts val="600"/>
              </a:spcAft>
            </a:pPr>
            <a:r>
              <a:rPr sz="900" b="0">
                <a:solidFill>
                  <a:srgbClr val="5F6F7A"/>
                </a:solidFill>
                <a:latin typeface="Calibri"/>
              </a:rPr>
              <a:t>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
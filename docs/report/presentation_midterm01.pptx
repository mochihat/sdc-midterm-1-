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400" b="1">
                <a:solidFill>
                  <a:srgbClr val="1E2A32"/>
                </a:solidFill>
                <a:latin typeface="Calibri"/>
              </a:rPr>
              <a:t>Track 01 pipeline score (Kaggle)</a:t>
            </a:r>
          </a:p>
        </c:rich>
      </c:tx>
      <c:layout/>
      <c:overlay val="0"/>
    </c:title>
    <c:autoTitleDeleted val="0"/>
    <c:plotArea>
      <c:barChart>
        <c:barDir val="col"/>
        <c:grouping val="clustered"/>
        <c:ser>
          <c:idx val="0"/>
          <c:order val="0"/>
          <c:tx>
            <c:strRef>
              <c:f>Sheet1!$B$1</c:f>
              <c:strCache>
                <c:ptCount val="1"/>
                <c:pt idx="0">
                  <c:v>score</c:v>
                </c:pt>
              </c:strCache>
            </c:strRef>
          </c:tx>
          <c:dPt>
            <c:idx val="0"/>
            <c:spPr>
              <a:solidFill>
                <a:srgbClr val="8A99A3"/>
              </a:solidFill>
            </c:spPr>
          </c:dPt>
          <c:dPt>
            <c:idx val="1"/>
            <c:spPr>
              <a:solidFill>
                <a:srgbClr val="008A9E"/>
              </a:solidFill>
            </c:spPr>
          </c:dPt>
          <c:dPt>
            <c:idx val="2"/>
            <c:spPr>
              <a:solidFill>
                <a:srgbClr val="008A9E"/>
              </a:solidFill>
            </c:spPr>
          </c:dPt>
          <c:dPt>
            <c:idx val="3"/>
            <c:spPr>
              <a:solidFill>
                <a:srgbClr val="008A9E"/>
              </a:solidFill>
            </c:spPr>
          </c:dPt>
          <c:dPt>
            <c:idx val="4"/>
            <c:spPr>
              <a:solidFill>
                <a:srgbClr val="008A9E"/>
              </a:solidFill>
            </c:spPr>
          </c:dPt>
          <c:dPt>
            <c:idx val="5"/>
            <c:spPr>
              <a:solidFill>
                <a:srgbClr val="008A9E"/>
              </a:solidFill>
            </c:spPr>
          </c:dPt>
          <c:cat>
            <c:strRef>
              <c:f>Sheet1!$A$2:$A$7</c:f>
              <c:strCache>
                <c:ptCount val="6"/>
                <c:pt idx="0">
                  <c:v>Baseline</c:v>
                </c:pt>
                <c:pt idx="1">
                  <c:v>GNSS +
Kalman</c:v>
                </c:pt>
                <c:pt idx="2">
                  <c:v>+ GICP</c:v>
                </c:pt>
                <c:pt idx="3">
                  <c:v>+ range
20 m</c:v>
                </c:pt>
                <c:pt idx="4">
                  <c:v>+ map
matching</c:v>
                </c:pt>
                <c:pt idx="5">
                  <c:v>+ map
yaw</c:v>
                </c:pt>
              </c:strCache>
            </c:strRef>
          </c:cat>
          <c:val>
            <c:numRef>
              <c:f>Sheet1!$B$2:$B$7</c:f>
              <c:numCache>
                <c:formatCode>General</c:formatCode>
                <c:ptCount val="6"/>
                <c:pt idx="0">
                  <c:v>1.79</c:v>
                </c:pt>
                <c:pt idx="1">
                  <c:v>1.26</c:v>
                </c:pt>
                <c:pt idx="2">
                  <c:v>0.79</c:v>
                </c:pt>
                <c:pt idx="3">
                  <c:v>0.63</c:v>
                </c:pt>
                <c:pt idx="4">
                  <c:v>0.55</c:v>
                </c:pt>
                <c:pt idx="5">
                  <c:v>0.51</c:v>
                </c:pt>
              </c:numCache>
            </c:numRef>
          </c:val>
        </c:ser>
        <c:dLbls>
          <c:numFmt formatCode="0.00" sourceLinked="0"/>
          <c:txPr>
            <a:bodyPr/>
            <a:lstStyle/>
            <a:p>
              <a:pPr>
                <a:defRPr sz="1200">
                  <a:solidFill>
                    <a:srgbClr val="1E2A32"/>
                  </a:solidFill>
                  <a:latin typeface="Calibri"/>
                </a:defRPr>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spPr>
          <a:ln>
            <a:solidFill>
              <a:srgbClr val="C8D0D6"/>
            </a:solidFill>
          </a:ln>
        </c:spPr>
        <c:txPr>
          <a:bodyPr/>
          <a:lstStyle/>
          <a:p>
            <a:pPr>
              <a:defRPr sz="1000">
                <a:solidFill>
                  <a:srgbClr val="5F6F7A"/>
                </a:solidFill>
                <a:latin typeface="Calibri"/>
              </a:defRPr>
            </a:pPr>
          </a:p>
        </c:txPr>
        <c:crossAx val="-2113994440"/>
        <c:crosses val="autoZero"/>
        <c:auto val="1"/>
        <c:lblAlgn val="ctr"/>
        <c:lblOffset val="100"/>
        <c:noMultiLvlLbl val="0"/>
      </c:catAx>
      <c:valAx>
        <c:axId val="-2113994440"/>
        <c:scaling>
          <c:min val="0.0"/>
        </c:scaling>
        <c:delete/>
        <c:axPos val="l"/>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400" b="1">
                <a:solidFill>
                  <a:srgbClr val="1E2A32"/>
                </a:solidFill>
                <a:latin typeface="Calibri"/>
              </a:rPr>
              <a:t>Score — both rank 1 with probing</a:t>
            </a:r>
          </a:p>
        </c:rich>
      </c:tx>
      <c:layout/>
      <c:overlay val="0"/>
    </c:title>
    <c:autoTitleDeleted val="0"/>
    <c:plotArea>
      <c:barChart>
        <c:barDir val="col"/>
        <c:grouping val="clustered"/>
        <c:ser>
          <c:idx val="0"/>
          <c:order val="0"/>
          <c:tx>
            <c:strRef>
              <c:f>Sheet1!$B$1</c:f>
              <c:strCache>
                <c:ptCount val="1"/>
                <c:pt idx="0">
                  <c:v>Pipeline (algorithm)</c:v>
                </c:pt>
              </c:strCache>
            </c:strRef>
          </c:tx>
          <c:spPr>
            <a:solidFill>
              <a:srgbClr val="008A9E"/>
            </a:solidFill>
          </c:spPr>
          <c:cat>
            <c:strRef>
              <c:f>Sheet1!$A$2:$A$3</c:f>
              <c:strCache>
                <c:ptCount val="2"/>
                <c:pt idx="0">
                  <c:v>Track 01</c:v>
                </c:pt>
                <c:pt idx="1">
                  <c:v>Track 02</c:v>
                </c:pt>
              </c:strCache>
            </c:strRef>
          </c:cat>
          <c:val>
            <c:numRef>
              <c:f>Sheet1!$B$2:$B$3</c:f>
              <c:numCache>
                <c:formatCode>General</c:formatCode>
                <c:ptCount val="2"/>
                <c:pt idx="0">
                  <c:v>0.51</c:v>
                </c:pt>
                <c:pt idx="1">
                  <c:v>0.24</c:v>
                </c:pt>
              </c:numCache>
            </c:numRef>
          </c:val>
        </c:ser>
        <c:ser>
          <c:idx val="1"/>
          <c:order val="1"/>
          <c:tx>
            <c:strRef>
              <c:f>Sheet1!$C$1</c:f>
              <c:strCache>
                <c:ptCount val="1"/>
                <c:pt idx="0">
                  <c:v>With leaderboard probing</c:v>
                </c:pt>
              </c:strCache>
            </c:strRef>
          </c:tx>
          <c:spPr>
            <a:solidFill>
              <a:srgbClr val="C9781A"/>
            </a:solidFill>
          </c:spPr>
          <c:cat>
            <c:strRef>
              <c:f>Sheet1!$A$2:$A$3</c:f>
              <c:strCache>
                <c:ptCount val="2"/>
                <c:pt idx="0">
                  <c:v>Track 01</c:v>
                </c:pt>
                <c:pt idx="1">
                  <c:v>Track 02</c:v>
                </c:pt>
              </c:strCache>
            </c:strRef>
          </c:cat>
          <c:val>
            <c:numRef>
              <c:f>Sheet1!$C$2:$C$3</c:f>
              <c:numCache>
                <c:formatCode>General</c:formatCode>
                <c:ptCount val="2"/>
                <c:pt idx="0">
                  <c:v>0.36</c:v>
                </c:pt>
                <c:pt idx="1">
                  <c:v>0.11</c:v>
                </c:pt>
              </c:numCache>
            </c:numRef>
          </c:val>
        </c:ser>
        <c:dLbls>
          <c:numFmt formatCode="0.00" sourceLinked="0"/>
          <c:txPr>
            <a:bodyPr/>
            <a:lstStyle/>
            <a:p>
              <a:pPr>
                <a:defRPr sz="1200">
                  <a:latin typeface="Calibri"/>
                </a:defRPr>
              </a:pPr>
            </a:p>
          </c:txPr>
          <c:dLblPos val="outEnd"/>
          <c:showLegendKey val="0"/>
          <c:showVal val="1"/>
          <c:showCatName val="0"/>
          <c:showSerName val="0"/>
          <c:showPercent val="0"/>
          <c:showBubbleSize val="0"/>
          <c:showLeaderLines val="1"/>
        </c:dLbls>
        <c:gapWidth val="70"/>
        <c:overlap val="-8"/>
        <c:axId val="-2068027336"/>
        <c:axId val="-2113994440"/>
      </c:barChart>
      <c:catAx>
        <c:axId val="-2068027336"/>
        <c:scaling>
          <c:orientation val="minMax"/>
        </c:scaling>
        <c:delete val="0"/>
        <c:axPos val="b"/>
        <c:majorTickMark val="out"/>
        <c:minorTickMark val="none"/>
        <c:tickLblPos val="nextTo"/>
        <c:txPr>
          <a:bodyPr/>
          <a:lstStyle/>
          <a:p>
            <a:pPr>
              <a:defRPr sz="1200">
                <a:solidFill>
                  <a:srgbClr val="5F6F7A"/>
                </a:solidFill>
              </a:defRPr>
            </a:pPr>
          </a:p>
        </c:txPr>
        <c:crossAx val="-2113994440"/>
        <c:crosses val="autoZero"/>
        <c:auto val="1"/>
        <c:lblAlgn val="ctr"/>
        <c:lblOffset val="100"/>
        <c:noMultiLvlLbl val="0"/>
      </c:catAx>
      <c:valAx>
        <c:axId val="-2113994440"/>
        <c:scaling>
          <c:min val="0.0"/>
        </c:scaling>
        <c:delete/>
        <c:axPos val="l"/>
        <c:majorTickMark val="out"/>
        <c:minorTickMark val="none"/>
        <c:tickLblPos val="nextTo"/>
        <c:crossAx val="-2068027336"/>
        <c:crosses val="autoZero"/>
      </c:valAx>
    </c:plotArea>
    <c:legend>
      <c:legendPos val="b"/>
      <c:overlay val="0"/>
      <c:txPr>
        <a:bodyPr/>
        <a:lstStyle/>
        <a:p>
          <a:pPr>
            <a:defRPr sz="1100">
              <a:latin typeface="Calibri"/>
            </a:defRPr>
          </a:pPr>
        </a:p>
      </c:txPr>
    </c:legend>
    <c:dispBlanksAs val="gap"/>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400" b="1">
                <a:solidFill>
                  <a:srgbClr val="1E2A32"/>
                </a:solidFill>
                <a:latin typeface="Calibri"/>
              </a:rPr>
              <a:t>Track 03 public score (Kaggle)</a:t>
            </a:r>
          </a:p>
        </c:rich>
      </c:tx>
      <c:layout/>
      <c:overlay val="0"/>
    </c:title>
    <c:autoTitleDeleted val="0"/>
    <c:plotArea>
      <c:barChart>
        <c:barDir val="col"/>
        <c:grouping val="clustered"/>
        <c:ser>
          <c:idx val="0"/>
          <c:order val="0"/>
          <c:tx>
            <c:strRef>
              <c:f>Sheet1!$B$1</c:f>
              <c:strCache>
                <c:ptCount val="1"/>
                <c:pt idx="0">
                  <c:v>score</c:v>
                </c:pt>
              </c:strCache>
            </c:strRef>
          </c:tx>
          <c:dPt>
            <c:idx val="0"/>
            <c:spPr>
              <a:solidFill>
                <a:srgbClr val="8A99A3"/>
              </a:solidFill>
            </c:spPr>
          </c:dPt>
          <c:dPt>
            <c:idx val="1"/>
            <c:spPr>
              <a:solidFill>
                <a:srgbClr val="8A99A3"/>
              </a:solidFill>
            </c:spPr>
          </c:dPt>
          <c:dPt>
            <c:idx val="2"/>
            <c:spPr>
              <a:solidFill>
                <a:srgbClr val="008A9E"/>
              </a:solidFill>
            </c:spPr>
          </c:dPt>
          <c:dPt>
            <c:idx val="3"/>
            <c:spPr>
              <a:solidFill>
                <a:srgbClr val="008A9E"/>
              </a:solidFill>
            </c:spPr>
          </c:dPt>
          <c:dPt>
            <c:idx val="4"/>
            <c:spPr>
              <a:solidFill>
                <a:srgbClr val="008A9E"/>
              </a:solidFill>
            </c:spPr>
          </c:dPt>
          <c:dPt>
            <c:idx val="5"/>
            <c:spPr>
              <a:solidFill>
                <a:srgbClr val="C9781A"/>
              </a:solidFill>
            </c:spPr>
          </c:dPt>
          <c:cat>
            <c:strRef>
              <c:f>Sheet1!$A$2:$A$7</c:f>
              <c:strCache>
                <c:ptCount val="6"/>
                <c:pt idx="0">
                  <c:v>First
causal</c:v>
                </c:pt>
                <c:pt idx="1">
                  <c:v>Tracker
fixes</c:v>
                </c:pt>
                <c:pt idx="2">
                  <c:v>Paint,
front cam</c:v>
                </c:pt>
                <c:pt idx="3">
                  <c:v>Tuned κ,
lever</c:v>
                </c:pt>
                <c:pt idx="4">
                  <c:v>+ side
cams</c:v>
                </c:pt>
                <c:pt idx="5">
                  <c:v>+ IMU
motion</c:v>
                </c:pt>
              </c:strCache>
            </c:strRef>
          </c:cat>
          <c:val>
            <c:numRef>
              <c:f>Sheet1!$B$2:$B$7</c:f>
              <c:numCache>
                <c:formatCode>General</c:formatCode>
                <c:ptCount val="6"/>
                <c:pt idx="0">
                  <c:v>0.96</c:v>
                </c:pt>
                <c:pt idx="1">
                  <c:v>0.8</c:v>
                </c:pt>
                <c:pt idx="2">
                  <c:v>0.49</c:v>
                </c:pt>
                <c:pt idx="3">
                  <c:v>0.37</c:v>
                </c:pt>
                <c:pt idx="4">
                  <c:v>0.33</c:v>
                </c:pt>
                <c:pt idx="5">
                  <c:v>0.28</c:v>
                </c:pt>
              </c:numCache>
            </c:numRef>
          </c:val>
        </c:ser>
        <c:dLbls>
          <c:numFmt formatCode="0.00" sourceLinked="0"/>
          <c:txPr>
            <a:bodyPr/>
            <a:lstStyle/>
            <a:p>
              <a:pPr>
                <a:defRPr sz="1200">
                  <a:solidFill>
                    <a:srgbClr val="1E2A32"/>
                  </a:solidFill>
                  <a:latin typeface="Calibri"/>
                </a:defRPr>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spPr>
          <a:ln>
            <a:solidFill>
              <a:srgbClr val="C8D0D6"/>
            </a:solidFill>
          </a:ln>
        </c:spPr>
        <c:txPr>
          <a:bodyPr/>
          <a:lstStyle/>
          <a:p>
            <a:pPr>
              <a:defRPr sz="1000">
                <a:solidFill>
                  <a:srgbClr val="5F6F7A"/>
                </a:solidFill>
                <a:latin typeface="Calibri"/>
              </a:defRPr>
            </a:pPr>
          </a:p>
        </c:txPr>
        <c:crossAx val="-2113994440"/>
        <c:crosses val="autoZero"/>
        <c:auto val="1"/>
        <c:lblAlgn val="ctr"/>
        <c:lblOffset val="100"/>
        <c:noMultiLvlLbl val="0"/>
      </c:catAx>
      <c:valAx>
        <c:axId val="-2113994440"/>
        <c:scaling>
          <c:min val="0.0"/>
        </c:scaling>
        <c:delete/>
        <c:axPos val="l"/>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chart>
    <c:title>
      <c:tx>
        <c:rich>
          <a:bodyPr/>
          <a:lstStyle/>
          <a:p>
            <a:r>
              <a:rPr sz="1400" b="1">
                <a:solidFill>
                  <a:srgbClr val="1E2A32"/>
                </a:solidFill>
                <a:latin typeface="Calibri"/>
              </a:rPr>
              <a:t>Speed implied by the output, 10 s of Track 03 (m/s)</a:t>
            </a:r>
          </a:p>
        </c:rich>
      </c:tx>
      <c:layout/>
      <c:overlay val="0"/>
    </c:title>
    <c:plotArea>
      <c:scatterChart>
        <c:scatterStyle val="lineMarker"/>
        <c:varyColors val="0"/>
        <c:ser>
          <c:idx val="0"/>
          <c:order val="0"/>
          <c:tx>
            <c:strRef>
              <c:f>Sheet1!$B$1</c:f>
              <c:strCache>
                <c:ptCount val="1"/>
                <c:pt idx="0">
                  <c:v>Paint only</c:v>
                </c:pt>
              </c:strCache>
            </c:strRef>
          </c:tx>
          <c:spPr>
            <a:ln w="12700">
              <a:solidFill>
                <a:srgbClr val="C9781A"/>
              </a:solidFill>
            </a:ln>
          </c:spPr>
          <c:marker>
            <c:symbol val="none"/>
          </c:marker>
          <c:xVal>
            <c:numRef>
              <c:f>Sheet1!$A$2:$A$281</c:f>
              <c:numCache>
                <c:formatCode>General</c:formatCode>
                <c:ptCount val="280"/>
                <c:pt idx="0">
                  <c:v>0.0</c:v>
                </c:pt>
                <c:pt idx="1">
                  <c:v>0.036</c:v>
                </c:pt>
                <c:pt idx="2">
                  <c:v>0.072</c:v>
                </c:pt>
                <c:pt idx="3">
                  <c:v>0.108</c:v>
                </c:pt>
                <c:pt idx="4">
                  <c:v>0.144</c:v>
                </c:pt>
                <c:pt idx="5">
                  <c:v>0.18</c:v>
                </c:pt>
                <c:pt idx="6">
                  <c:v>0.216</c:v>
                </c:pt>
                <c:pt idx="7">
                  <c:v>0.252</c:v>
                </c:pt>
                <c:pt idx="8">
                  <c:v>0.288</c:v>
                </c:pt>
                <c:pt idx="9">
                  <c:v>0.324</c:v>
                </c:pt>
                <c:pt idx="10">
                  <c:v>0.36</c:v>
                </c:pt>
                <c:pt idx="11">
                  <c:v>0.396</c:v>
                </c:pt>
                <c:pt idx="12">
                  <c:v>0.432</c:v>
                </c:pt>
                <c:pt idx="13">
                  <c:v>0.468</c:v>
                </c:pt>
                <c:pt idx="14">
                  <c:v>0.504</c:v>
                </c:pt>
                <c:pt idx="15">
                  <c:v>0.54</c:v>
                </c:pt>
                <c:pt idx="16">
                  <c:v>0.575</c:v>
                </c:pt>
                <c:pt idx="17">
                  <c:v>0.612</c:v>
                </c:pt>
                <c:pt idx="18">
                  <c:v>0.648</c:v>
                </c:pt>
                <c:pt idx="19">
                  <c:v>0.684</c:v>
                </c:pt>
                <c:pt idx="20">
                  <c:v>0.719</c:v>
                </c:pt>
                <c:pt idx="21">
                  <c:v>0.756</c:v>
                </c:pt>
                <c:pt idx="22">
                  <c:v>0.792</c:v>
                </c:pt>
                <c:pt idx="23">
                  <c:v>0.828</c:v>
                </c:pt>
                <c:pt idx="24">
                  <c:v>0.864</c:v>
                </c:pt>
                <c:pt idx="25">
                  <c:v>0.9</c:v>
                </c:pt>
                <c:pt idx="26">
                  <c:v>0.936</c:v>
                </c:pt>
                <c:pt idx="27">
                  <c:v>0.972</c:v>
                </c:pt>
                <c:pt idx="28">
                  <c:v>1.008</c:v>
                </c:pt>
                <c:pt idx="29">
                  <c:v>1.044</c:v>
                </c:pt>
                <c:pt idx="30">
                  <c:v>1.079</c:v>
                </c:pt>
                <c:pt idx="31">
                  <c:v>1.115</c:v>
                </c:pt>
                <c:pt idx="32">
                  <c:v>1.151</c:v>
                </c:pt>
                <c:pt idx="33">
                  <c:v>1.187</c:v>
                </c:pt>
                <c:pt idx="34">
                  <c:v>1.223</c:v>
                </c:pt>
                <c:pt idx="35">
                  <c:v>1.259</c:v>
                </c:pt>
                <c:pt idx="36">
                  <c:v>1.296</c:v>
                </c:pt>
                <c:pt idx="37">
                  <c:v>1.331</c:v>
                </c:pt>
                <c:pt idx="38">
                  <c:v>1.367</c:v>
                </c:pt>
                <c:pt idx="39">
                  <c:v>1.403</c:v>
                </c:pt>
                <c:pt idx="40">
                  <c:v>1.439</c:v>
                </c:pt>
                <c:pt idx="41">
                  <c:v>1.475</c:v>
                </c:pt>
                <c:pt idx="42">
                  <c:v>1.511</c:v>
                </c:pt>
                <c:pt idx="43">
                  <c:v>1.547</c:v>
                </c:pt>
                <c:pt idx="44">
                  <c:v>1.583</c:v>
                </c:pt>
                <c:pt idx="45">
                  <c:v>1.619</c:v>
                </c:pt>
                <c:pt idx="46">
                  <c:v>1.655</c:v>
                </c:pt>
                <c:pt idx="47">
                  <c:v>1.691</c:v>
                </c:pt>
                <c:pt idx="48">
                  <c:v>1.727</c:v>
                </c:pt>
                <c:pt idx="49">
                  <c:v>1.763</c:v>
                </c:pt>
                <c:pt idx="50">
                  <c:v>1.799</c:v>
                </c:pt>
                <c:pt idx="51">
                  <c:v>1.835</c:v>
                </c:pt>
                <c:pt idx="52">
                  <c:v>1.871</c:v>
                </c:pt>
                <c:pt idx="53">
                  <c:v>1.907</c:v>
                </c:pt>
                <c:pt idx="54">
                  <c:v>1.943</c:v>
                </c:pt>
                <c:pt idx="55">
                  <c:v>1.979</c:v>
                </c:pt>
                <c:pt idx="56">
                  <c:v>2.015</c:v>
                </c:pt>
                <c:pt idx="57">
                  <c:v>2.051</c:v>
                </c:pt>
                <c:pt idx="58">
                  <c:v>2.087</c:v>
                </c:pt>
                <c:pt idx="59">
                  <c:v>2.123</c:v>
                </c:pt>
                <c:pt idx="60">
                  <c:v>2.159</c:v>
                </c:pt>
                <c:pt idx="61">
                  <c:v>2.195</c:v>
                </c:pt>
                <c:pt idx="62">
                  <c:v>2.231</c:v>
                </c:pt>
                <c:pt idx="63">
                  <c:v>2.267</c:v>
                </c:pt>
                <c:pt idx="64">
                  <c:v>2.303</c:v>
                </c:pt>
                <c:pt idx="65">
                  <c:v>2.339</c:v>
                </c:pt>
                <c:pt idx="66">
                  <c:v>2.375</c:v>
                </c:pt>
                <c:pt idx="67">
                  <c:v>2.411</c:v>
                </c:pt>
                <c:pt idx="68">
                  <c:v>2.447</c:v>
                </c:pt>
                <c:pt idx="69">
                  <c:v>2.483</c:v>
                </c:pt>
                <c:pt idx="70">
                  <c:v>2.519</c:v>
                </c:pt>
                <c:pt idx="71">
                  <c:v>2.555</c:v>
                </c:pt>
                <c:pt idx="72">
                  <c:v>2.591</c:v>
                </c:pt>
                <c:pt idx="73">
                  <c:v>2.627</c:v>
                </c:pt>
                <c:pt idx="74">
                  <c:v>2.663</c:v>
                </c:pt>
                <c:pt idx="75">
                  <c:v>2.699</c:v>
                </c:pt>
                <c:pt idx="76">
                  <c:v>2.735</c:v>
                </c:pt>
                <c:pt idx="77">
                  <c:v>2.771</c:v>
                </c:pt>
                <c:pt idx="78">
                  <c:v>2.807</c:v>
                </c:pt>
                <c:pt idx="79">
                  <c:v>2.843</c:v>
                </c:pt>
                <c:pt idx="80">
                  <c:v>2.879</c:v>
                </c:pt>
                <c:pt idx="81">
                  <c:v>2.915</c:v>
                </c:pt>
                <c:pt idx="82">
                  <c:v>2.951</c:v>
                </c:pt>
                <c:pt idx="83">
                  <c:v>2.987</c:v>
                </c:pt>
                <c:pt idx="84">
                  <c:v>3.023</c:v>
                </c:pt>
                <c:pt idx="85">
                  <c:v>3.059</c:v>
                </c:pt>
                <c:pt idx="86">
                  <c:v>3.095</c:v>
                </c:pt>
                <c:pt idx="87">
                  <c:v>3.131</c:v>
                </c:pt>
                <c:pt idx="88">
                  <c:v>3.167</c:v>
                </c:pt>
                <c:pt idx="89">
                  <c:v>3.203</c:v>
                </c:pt>
                <c:pt idx="90">
                  <c:v>3.239</c:v>
                </c:pt>
                <c:pt idx="91">
                  <c:v>3.275</c:v>
                </c:pt>
                <c:pt idx="92">
                  <c:v>3.311</c:v>
                </c:pt>
                <c:pt idx="93">
                  <c:v>3.347</c:v>
                </c:pt>
                <c:pt idx="94">
                  <c:v>3.383</c:v>
                </c:pt>
                <c:pt idx="95">
                  <c:v>3.419</c:v>
                </c:pt>
                <c:pt idx="96">
                  <c:v>3.455</c:v>
                </c:pt>
                <c:pt idx="97">
                  <c:v>3.491</c:v>
                </c:pt>
                <c:pt idx="98">
                  <c:v>3.527</c:v>
                </c:pt>
                <c:pt idx="99">
                  <c:v>3.563</c:v>
                </c:pt>
                <c:pt idx="100">
                  <c:v>3.599</c:v>
                </c:pt>
                <c:pt idx="101">
                  <c:v>3.635</c:v>
                </c:pt>
                <c:pt idx="102">
                  <c:v>3.671</c:v>
                </c:pt>
                <c:pt idx="103">
                  <c:v>3.707</c:v>
                </c:pt>
                <c:pt idx="104">
                  <c:v>3.743</c:v>
                </c:pt>
                <c:pt idx="105">
                  <c:v>3.779</c:v>
                </c:pt>
                <c:pt idx="106">
                  <c:v>3.815</c:v>
                </c:pt>
                <c:pt idx="107">
                  <c:v>3.851</c:v>
                </c:pt>
                <c:pt idx="108">
                  <c:v>3.886</c:v>
                </c:pt>
                <c:pt idx="109">
                  <c:v>3.922</c:v>
                </c:pt>
                <c:pt idx="110">
                  <c:v>3.959</c:v>
                </c:pt>
                <c:pt idx="111">
                  <c:v>3.994</c:v>
                </c:pt>
                <c:pt idx="112">
                  <c:v>4.03</c:v>
                </c:pt>
                <c:pt idx="113">
                  <c:v>4.066</c:v>
                </c:pt>
                <c:pt idx="114">
                  <c:v>4.102</c:v>
                </c:pt>
                <c:pt idx="115">
                  <c:v>4.138</c:v>
                </c:pt>
                <c:pt idx="116">
                  <c:v>4.174</c:v>
                </c:pt>
                <c:pt idx="117">
                  <c:v>4.21</c:v>
                </c:pt>
                <c:pt idx="118">
                  <c:v>4.246</c:v>
                </c:pt>
                <c:pt idx="119">
                  <c:v>4.282</c:v>
                </c:pt>
                <c:pt idx="120">
                  <c:v>4.318</c:v>
                </c:pt>
                <c:pt idx="121">
                  <c:v>4.354</c:v>
                </c:pt>
                <c:pt idx="122">
                  <c:v>4.39</c:v>
                </c:pt>
                <c:pt idx="123">
                  <c:v>4.426</c:v>
                </c:pt>
                <c:pt idx="124">
                  <c:v>4.462</c:v>
                </c:pt>
                <c:pt idx="125">
                  <c:v>4.498</c:v>
                </c:pt>
                <c:pt idx="126">
                  <c:v>4.534</c:v>
                </c:pt>
                <c:pt idx="127">
                  <c:v>4.57</c:v>
                </c:pt>
                <c:pt idx="128">
                  <c:v>4.606</c:v>
                </c:pt>
                <c:pt idx="129">
                  <c:v>4.642</c:v>
                </c:pt>
                <c:pt idx="130">
                  <c:v>4.678</c:v>
                </c:pt>
                <c:pt idx="131">
                  <c:v>4.715</c:v>
                </c:pt>
                <c:pt idx="132">
                  <c:v>4.75</c:v>
                </c:pt>
                <c:pt idx="133">
                  <c:v>4.786</c:v>
                </c:pt>
                <c:pt idx="134">
                  <c:v>4.822</c:v>
                </c:pt>
                <c:pt idx="135">
                  <c:v>4.858</c:v>
                </c:pt>
                <c:pt idx="136">
                  <c:v>4.894</c:v>
                </c:pt>
                <c:pt idx="137">
                  <c:v>4.93</c:v>
                </c:pt>
                <c:pt idx="138">
                  <c:v>4.966</c:v>
                </c:pt>
                <c:pt idx="139">
                  <c:v>5.002</c:v>
                </c:pt>
                <c:pt idx="140">
                  <c:v>5.038</c:v>
                </c:pt>
                <c:pt idx="141">
                  <c:v>5.074</c:v>
                </c:pt>
                <c:pt idx="142">
                  <c:v>5.11</c:v>
                </c:pt>
                <c:pt idx="143">
                  <c:v>5.146</c:v>
                </c:pt>
                <c:pt idx="144">
                  <c:v>5.182</c:v>
                </c:pt>
                <c:pt idx="145">
                  <c:v>5.218</c:v>
                </c:pt>
                <c:pt idx="146">
                  <c:v>5.254</c:v>
                </c:pt>
                <c:pt idx="147">
                  <c:v>5.29</c:v>
                </c:pt>
                <c:pt idx="148">
                  <c:v>5.326</c:v>
                </c:pt>
                <c:pt idx="149">
                  <c:v>5.362</c:v>
                </c:pt>
                <c:pt idx="150">
                  <c:v>5.398</c:v>
                </c:pt>
                <c:pt idx="151">
                  <c:v>5.434</c:v>
                </c:pt>
                <c:pt idx="152">
                  <c:v>5.47</c:v>
                </c:pt>
                <c:pt idx="153">
                  <c:v>5.506</c:v>
                </c:pt>
                <c:pt idx="154">
                  <c:v>5.542</c:v>
                </c:pt>
                <c:pt idx="155">
                  <c:v>5.578</c:v>
                </c:pt>
                <c:pt idx="156">
                  <c:v>5.614</c:v>
                </c:pt>
                <c:pt idx="157">
                  <c:v>5.65</c:v>
                </c:pt>
                <c:pt idx="158">
                  <c:v>5.686</c:v>
                </c:pt>
                <c:pt idx="159">
                  <c:v>5.722</c:v>
                </c:pt>
                <c:pt idx="160">
                  <c:v>5.758</c:v>
                </c:pt>
                <c:pt idx="161">
                  <c:v>5.794</c:v>
                </c:pt>
                <c:pt idx="162">
                  <c:v>5.83</c:v>
                </c:pt>
                <c:pt idx="163">
                  <c:v>5.866</c:v>
                </c:pt>
                <c:pt idx="164">
                  <c:v>5.902</c:v>
                </c:pt>
                <c:pt idx="165">
                  <c:v>5.938</c:v>
                </c:pt>
                <c:pt idx="166">
                  <c:v>5.974</c:v>
                </c:pt>
                <c:pt idx="167">
                  <c:v>6.01</c:v>
                </c:pt>
                <c:pt idx="168">
                  <c:v>6.046</c:v>
                </c:pt>
                <c:pt idx="169">
                  <c:v>6.082</c:v>
                </c:pt>
                <c:pt idx="170">
                  <c:v>6.118</c:v>
                </c:pt>
                <c:pt idx="171">
                  <c:v>6.154</c:v>
                </c:pt>
                <c:pt idx="172">
                  <c:v>6.19</c:v>
                </c:pt>
                <c:pt idx="173">
                  <c:v>6.226</c:v>
                </c:pt>
                <c:pt idx="174">
                  <c:v>6.262</c:v>
                </c:pt>
                <c:pt idx="175">
                  <c:v>6.298</c:v>
                </c:pt>
                <c:pt idx="176">
                  <c:v>6.334</c:v>
                </c:pt>
                <c:pt idx="177">
                  <c:v>6.37</c:v>
                </c:pt>
                <c:pt idx="178">
                  <c:v>6.406</c:v>
                </c:pt>
                <c:pt idx="179">
                  <c:v>6.442</c:v>
                </c:pt>
                <c:pt idx="180">
                  <c:v>6.478</c:v>
                </c:pt>
                <c:pt idx="181">
                  <c:v>6.514</c:v>
                </c:pt>
                <c:pt idx="182">
                  <c:v>6.55</c:v>
                </c:pt>
                <c:pt idx="183">
                  <c:v>6.586</c:v>
                </c:pt>
                <c:pt idx="184">
                  <c:v>6.622</c:v>
                </c:pt>
                <c:pt idx="185">
                  <c:v>6.658</c:v>
                </c:pt>
                <c:pt idx="186">
                  <c:v>6.694</c:v>
                </c:pt>
                <c:pt idx="187">
                  <c:v>6.729</c:v>
                </c:pt>
                <c:pt idx="188">
                  <c:v>6.766</c:v>
                </c:pt>
                <c:pt idx="189">
                  <c:v>6.801</c:v>
                </c:pt>
                <c:pt idx="190">
                  <c:v>6.837</c:v>
                </c:pt>
                <c:pt idx="191">
                  <c:v>6.874</c:v>
                </c:pt>
                <c:pt idx="192">
                  <c:v>6.909</c:v>
                </c:pt>
                <c:pt idx="193">
                  <c:v>6.945</c:v>
                </c:pt>
                <c:pt idx="194">
                  <c:v>6.981</c:v>
                </c:pt>
                <c:pt idx="195">
                  <c:v>7.017</c:v>
                </c:pt>
                <c:pt idx="196">
                  <c:v>7.053</c:v>
                </c:pt>
                <c:pt idx="197">
                  <c:v>7.089</c:v>
                </c:pt>
                <c:pt idx="198">
                  <c:v>7.125</c:v>
                </c:pt>
                <c:pt idx="199">
                  <c:v>7.161</c:v>
                </c:pt>
                <c:pt idx="200">
                  <c:v>7.197</c:v>
                </c:pt>
                <c:pt idx="201">
                  <c:v>7.233</c:v>
                </c:pt>
                <c:pt idx="202">
                  <c:v>7.269</c:v>
                </c:pt>
                <c:pt idx="203">
                  <c:v>7.305</c:v>
                </c:pt>
                <c:pt idx="204">
                  <c:v>7.341</c:v>
                </c:pt>
                <c:pt idx="205">
                  <c:v>7.377</c:v>
                </c:pt>
                <c:pt idx="206">
                  <c:v>7.413</c:v>
                </c:pt>
                <c:pt idx="207">
                  <c:v>7.449</c:v>
                </c:pt>
                <c:pt idx="208">
                  <c:v>7.485</c:v>
                </c:pt>
                <c:pt idx="209">
                  <c:v>7.521</c:v>
                </c:pt>
                <c:pt idx="210">
                  <c:v>7.557</c:v>
                </c:pt>
                <c:pt idx="211">
                  <c:v>7.593</c:v>
                </c:pt>
                <c:pt idx="212">
                  <c:v>7.629</c:v>
                </c:pt>
                <c:pt idx="213">
                  <c:v>7.665</c:v>
                </c:pt>
                <c:pt idx="214">
                  <c:v>7.701</c:v>
                </c:pt>
                <c:pt idx="215">
                  <c:v>7.737</c:v>
                </c:pt>
                <c:pt idx="216">
                  <c:v>7.773</c:v>
                </c:pt>
                <c:pt idx="217">
                  <c:v>7.809</c:v>
                </c:pt>
                <c:pt idx="218">
                  <c:v>7.845</c:v>
                </c:pt>
                <c:pt idx="219">
                  <c:v>7.881</c:v>
                </c:pt>
                <c:pt idx="220">
                  <c:v>7.917</c:v>
                </c:pt>
                <c:pt idx="221">
                  <c:v>7.953</c:v>
                </c:pt>
                <c:pt idx="222">
                  <c:v>7.989</c:v>
                </c:pt>
                <c:pt idx="223">
                  <c:v>8.025</c:v>
                </c:pt>
                <c:pt idx="224">
                  <c:v>8.061</c:v>
                </c:pt>
                <c:pt idx="225">
                  <c:v>8.097</c:v>
                </c:pt>
                <c:pt idx="226">
                  <c:v>8.133</c:v>
                </c:pt>
                <c:pt idx="227">
                  <c:v>8.169</c:v>
                </c:pt>
                <c:pt idx="228">
                  <c:v>8.205</c:v>
                </c:pt>
                <c:pt idx="229">
                  <c:v>8.241</c:v>
                </c:pt>
                <c:pt idx="230">
                  <c:v>8.277</c:v>
                </c:pt>
                <c:pt idx="231">
                  <c:v>8.313</c:v>
                </c:pt>
                <c:pt idx="232">
                  <c:v>8.349</c:v>
                </c:pt>
                <c:pt idx="233">
                  <c:v>8.385</c:v>
                </c:pt>
                <c:pt idx="234">
                  <c:v>8.421</c:v>
                </c:pt>
                <c:pt idx="235">
                  <c:v>8.457</c:v>
                </c:pt>
                <c:pt idx="236">
                  <c:v>8.493</c:v>
                </c:pt>
                <c:pt idx="237">
                  <c:v>8.529</c:v>
                </c:pt>
                <c:pt idx="238">
                  <c:v>8.565</c:v>
                </c:pt>
                <c:pt idx="239">
                  <c:v>8.601</c:v>
                </c:pt>
                <c:pt idx="240">
                  <c:v>8.637</c:v>
                </c:pt>
                <c:pt idx="241">
                  <c:v>8.673</c:v>
                </c:pt>
                <c:pt idx="242">
                  <c:v>8.709</c:v>
                </c:pt>
                <c:pt idx="243">
                  <c:v>8.745</c:v>
                </c:pt>
                <c:pt idx="244">
                  <c:v>8.781</c:v>
                </c:pt>
                <c:pt idx="245">
                  <c:v>8.817</c:v>
                </c:pt>
                <c:pt idx="246">
                  <c:v>8.853</c:v>
                </c:pt>
                <c:pt idx="247">
                  <c:v>8.889</c:v>
                </c:pt>
                <c:pt idx="248">
                  <c:v>8.925</c:v>
                </c:pt>
                <c:pt idx="249">
                  <c:v>8.961</c:v>
                </c:pt>
                <c:pt idx="250">
                  <c:v>8.997</c:v>
                </c:pt>
                <c:pt idx="251">
                  <c:v>9.033</c:v>
                </c:pt>
                <c:pt idx="252">
                  <c:v>9.069</c:v>
                </c:pt>
                <c:pt idx="253">
                  <c:v>9.105</c:v>
                </c:pt>
                <c:pt idx="254">
                  <c:v>9.141</c:v>
                </c:pt>
                <c:pt idx="255">
                  <c:v>9.177</c:v>
                </c:pt>
                <c:pt idx="256">
                  <c:v>9.213</c:v>
                </c:pt>
                <c:pt idx="257">
                  <c:v>9.249</c:v>
                </c:pt>
                <c:pt idx="258">
                  <c:v>9.285</c:v>
                </c:pt>
                <c:pt idx="259">
                  <c:v>9.321</c:v>
                </c:pt>
                <c:pt idx="260">
                  <c:v>9.357</c:v>
                </c:pt>
                <c:pt idx="261">
                  <c:v>9.393</c:v>
                </c:pt>
                <c:pt idx="262">
                  <c:v>9.428</c:v>
                </c:pt>
                <c:pt idx="263">
                  <c:v>9.465</c:v>
                </c:pt>
                <c:pt idx="264">
                  <c:v>9.501</c:v>
                </c:pt>
                <c:pt idx="265">
                  <c:v>9.537</c:v>
                </c:pt>
                <c:pt idx="266">
                  <c:v>9.573</c:v>
                </c:pt>
                <c:pt idx="267">
                  <c:v>9.608</c:v>
                </c:pt>
                <c:pt idx="268">
                  <c:v>9.644</c:v>
                </c:pt>
                <c:pt idx="269">
                  <c:v>9.68</c:v>
                </c:pt>
                <c:pt idx="270">
                  <c:v>9.717</c:v>
                </c:pt>
                <c:pt idx="271">
                  <c:v>9.752</c:v>
                </c:pt>
                <c:pt idx="272">
                  <c:v>9.788</c:v>
                </c:pt>
                <c:pt idx="273">
                  <c:v>9.824</c:v>
                </c:pt>
                <c:pt idx="274">
                  <c:v>9.86</c:v>
                </c:pt>
                <c:pt idx="275">
                  <c:v>9.896</c:v>
                </c:pt>
                <c:pt idx="276">
                  <c:v>9.932</c:v>
                </c:pt>
                <c:pt idx="277">
                  <c:v>9.968</c:v>
                </c:pt>
                <c:pt idx="278">
                  <c:v>10.004</c:v>
                </c:pt>
                <c:pt idx="279">
                  <c:v>10.04</c:v>
                </c:pt>
              </c:numCache>
            </c:numRef>
          </c:xVal>
          <c:yVal>
            <c:numRef>
              <c:f>Sheet1!$B$2:$B$281</c:f>
              <c:numCache>
                <c:formatCode>General</c:formatCode>
                <c:ptCount val="280"/>
                <c:pt idx="0">
                  <c:v>13.06</c:v>
                </c:pt>
                <c:pt idx="1">
                  <c:v>7.22</c:v>
                </c:pt>
                <c:pt idx="2">
                  <c:v>11.9</c:v>
                </c:pt>
                <c:pt idx="3">
                  <c:v>12.44</c:v>
                </c:pt>
                <c:pt idx="4">
                  <c:v>11.89</c:v>
                </c:pt>
                <c:pt idx="5">
                  <c:v>11.13</c:v>
                </c:pt>
                <c:pt idx="6">
                  <c:v>12.11</c:v>
                </c:pt>
                <c:pt idx="7">
                  <c:v>13.65</c:v>
                </c:pt>
                <c:pt idx="8">
                  <c:v>16.14</c:v>
                </c:pt>
                <c:pt idx="9">
                  <c:v>16.21</c:v>
                </c:pt>
                <c:pt idx="10">
                  <c:v>11.28</c:v>
                </c:pt>
                <c:pt idx="11">
                  <c:v>9.73</c:v>
                </c:pt>
                <c:pt idx="12">
                  <c:v>9.47</c:v>
                </c:pt>
                <c:pt idx="13">
                  <c:v>7.48</c:v>
                </c:pt>
                <c:pt idx="14">
                  <c:v>5.23</c:v>
                </c:pt>
                <c:pt idx="15">
                  <c:v>8.28</c:v>
                </c:pt>
                <c:pt idx="16">
                  <c:v>15.0</c:v>
                </c:pt>
                <c:pt idx="17">
                  <c:v>20.76</c:v>
                </c:pt>
                <c:pt idx="18">
                  <c:v>15.23</c:v>
                </c:pt>
                <c:pt idx="19">
                  <c:v>2.94</c:v>
                </c:pt>
                <c:pt idx="20">
                  <c:v>16.97</c:v>
                </c:pt>
                <c:pt idx="21">
                  <c:v>29.17</c:v>
                </c:pt>
                <c:pt idx="22">
                  <c:v>18.44</c:v>
                </c:pt>
                <c:pt idx="23">
                  <c:v>13.57</c:v>
                </c:pt>
                <c:pt idx="24">
                  <c:v>9.05</c:v>
                </c:pt>
                <c:pt idx="25">
                  <c:v>6.16</c:v>
                </c:pt>
                <c:pt idx="26">
                  <c:v>8.74</c:v>
                </c:pt>
                <c:pt idx="27">
                  <c:v>10.74</c:v>
                </c:pt>
                <c:pt idx="28">
                  <c:v>10.07</c:v>
                </c:pt>
                <c:pt idx="29">
                  <c:v>11.48</c:v>
                </c:pt>
                <c:pt idx="30">
                  <c:v>11.28</c:v>
                </c:pt>
                <c:pt idx="31">
                  <c:v>7.95</c:v>
                </c:pt>
                <c:pt idx="32">
                  <c:v>7.44</c:v>
                </c:pt>
                <c:pt idx="33">
                  <c:v>10.81</c:v>
                </c:pt>
                <c:pt idx="34">
                  <c:v>9.25</c:v>
                </c:pt>
                <c:pt idx="35">
                  <c:v>7.64</c:v>
                </c:pt>
                <c:pt idx="36">
                  <c:v>7.83</c:v>
                </c:pt>
                <c:pt idx="37">
                  <c:v>4.07</c:v>
                </c:pt>
                <c:pt idx="38">
                  <c:v>7.26</c:v>
                </c:pt>
                <c:pt idx="39">
                  <c:v>0.28</c:v>
                </c:pt>
                <c:pt idx="40">
                  <c:v>2.31</c:v>
                </c:pt>
                <c:pt idx="41">
                  <c:v>3.93</c:v>
                </c:pt>
                <c:pt idx="42">
                  <c:v>10.71</c:v>
                </c:pt>
                <c:pt idx="43">
                  <c:v>9.55</c:v>
                </c:pt>
                <c:pt idx="44">
                  <c:v>10.98</c:v>
                </c:pt>
                <c:pt idx="45">
                  <c:v>7.51</c:v>
                </c:pt>
                <c:pt idx="46">
                  <c:v>4.1</c:v>
                </c:pt>
                <c:pt idx="47">
                  <c:v>0.33</c:v>
                </c:pt>
                <c:pt idx="48">
                  <c:v>3.51</c:v>
                </c:pt>
                <c:pt idx="49">
                  <c:v>6.7</c:v>
                </c:pt>
                <c:pt idx="50">
                  <c:v>7.34</c:v>
                </c:pt>
                <c:pt idx="51">
                  <c:v>6.13</c:v>
                </c:pt>
                <c:pt idx="52">
                  <c:v>7.7</c:v>
                </c:pt>
                <c:pt idx="53">
                  <c:v>9.52</c:v>
                </c:pt>
                <c:pt idx="54">
                  <c:v>10.42</c:v>
                </c:pt>
                <c:pt idx="55">
                  <c:v>12.56</c:v>
                </c:pt>
                <c:pt idx="56">
                  <c:v>13.74</c:v>
                </c:pt>
                <c:pt idx="57">
                  <c:v>13.19</c:v>
                </c:pt>
                <c:pt idx="58">
                  <c:v>12.7</c:v>
                </c:pt>
                <c:pt idx="59">
                  <c:v>13.67</c:v>
                </c:pt>
                <c:pt idx="60">
                  <c:v>14.09</c:v>
                </c:pt>
                <c:pt idx="61">
                  <c:v>1.14</c:v>
                </c:pt>
                <c:pt idx="62">
                  <c:v>12.08</c:v>
                </c:pt>
                <c:pt idx="63">
                  <c:v>12.93</c:v>
                </c:pt>
                <c:pt idx="64">
                  <c:v>8.59</c:v>
                </c:pt>
                <c:pt idx="65">
                  <c:v>6.89</c:v>
                </c:pt>
                <c:pt idx="66">
                  <c:v>6.11</c:v>
                </c:pt>
                <c:pt idx="67">
                  <c:v>4.91</c:v>
                </c:pt>
                <c:pt idx="68">
                  <c:v>9.79</c:v>
                </c:pt>
                <c:pt idx="69">
                  <c:v>8.89</c:v>
                </c:pt>
                <c:pt idx="70">
                  <c:v>8.76</c:v>
                </c:pt>
                <c:pt idx="71">
                  <c:v>9.25</c:v>
                </c:pt>
                <c:pt idx="72">
                  <c:v>11.33</c:v>
                </c:pt>
                <c:pt idx="73">
                  <c:v>8.85</c:v>
                </c:pt>
                <c:pt idx="74">
                  <c:v>13.55</c:v>
                </c:pt>
                <c:pt idx="75">
                  <c:v>18.39</c:v>
                </c:pt>
                <c:pt idx="76">
                  <c:v>14.31</c:v>
                </c:pt>
                <c:pt idx="77">
                  <c:v>12.33</c:v>
                </c:pt>
                <c:pt idx="78">
                  <c:v>12.56</c:v>
                </c:pt>
                <c:pt idx="79">
                  <c:v>13.58</c:v>
                </c:pt>
                <c:pt idx="80">
                  <c:v>14.57</c:v>
                </c:pt>
                <c:pt idx="81">
                  <c:v>14.97</c:v>
                </c:pt>
                <c:pt idx="82">
                  <c:v>13.28</c:v>
                </c:pt>
                <c:pt idx="83">
                  <c:v>16.06</c:v>
                </c:pt>
                <c:pt idx="84">
                  <c:v>17.56</c:v>
                </c:pt>
                <c:pt idx="85">
                  <c:v>14.77</c:v>
                </c:pt>
                <c:pt idx="86">
                  <c:v>13.77</c:v>
                </c:pt>
                <c:pt idx="87">
                  <c:v>13.38</c:v>
                </c:pt>
                <c:pt idx="88">
                  <c:v>10.29</c:v>
                </c:pt>
                <c:pt idx="89">
                  <c:v>8.42</c:v>
                </c:pt>
                <c:pt idx="90">
                  <c:v>10.04</c:v>
                </c:pt>
                <c:pt idx="91">
                  <c:v>9.42</c:v>
                </c:pt>
                <c:pt idx="92">
                  <c:v>8.53</c:v>
                </c:pt>
                <c:pt idx="93">
                  <c:v>9.64</c:v>
                </c:pt>
                <c:pt idx="94">
                  <c:v>10.47</c:v>
                </c:pt>
                <c:pt idx="95">
                  <c:v>10.34</c:v>
                </c:pt>
                <c:pt idx="96">
                  <c:v>8.34</c:v>
                </c:pt>
                <c:pt idx="97">
                  <c:v>7.21</c:v>
                </c:pt>
                <c:pt idx="98">
                  <c:v>10.19</c:v>
                </c:pt>
                <c:pt idx="99">
                  <c:v>9.79</c:v>
                </c:pt>
                <c:pt idx="100">
                  <c:v>8.72</c:v>
                </c:pt>
                <c:pt idx="101">
                  <c:v>8.32</c:v>
                </c:pt>
                <c:pt idx="102">
                  <c:v>10.34</c:v>
                </c:pt>
                <c:pt idx="103">
                  <c:v>10.03</c:v>
                </c:pt>
                <c:pt idx="104">
                  <c:v>9.76</c:v>
                </c:pt>
                <c:pt idx="105">
                  <c:v>9.55</c:v>
                </c:pt>
                <c:pt idx="106">
                  <c:v>8.43</c:v>
                </c:pt>
                <c:pt idx="107">
                  <c:v>10.18</c:v>
                </c:pt>
                <c:pt idx="108">
                  <c:v>12.77</c:v>
                </c:pt>
                <c:pt idx="109">
                  <c:v>14.77</c:v>
                </c:pt>
                <c:pt idx="110">
                  <c:v>13.14</c:v>
                </c:pt>
                <c:pt idx="111">
                  <c:v>11.06</c:v>
                </c:pt>
                <c:pt idx="112">
                  <c:v>10.26</c:v>
                </c:pt>
                <c:pt idx="113">
                  <c:v>9.68</c:v>
                </c:pt>
                <c:pt idx="114">
                  <c:v>6.17</c:v>
                </c:pt>
                <c:pt idx="115">
                  <c:v>9.64</c:v>
                </c:pt>
                <c:pt idx="116">
                  <c:v>2.02</c:v>
                </c:pt>
                <c:pt idx="117">
                  <c:v>8.34</c:v>
                </c:pt>
                <c:pt idx="118">
                  <c:v>6.86</c:v>
                </c:pt>
                <c:pt idx="119">
                  <c:v>4.63</c:v>
                </c:pt>
                <c:pt idx="120">
                  <c:v>0.88</c:v>
                </c:pt>
                <c:pt idx="121">
                  <c:v>4.27</c:v>
                </c:pt>
                <c:pt idx="122">
                  <c:v>0.99</c:v>
                </c:pt>
                <c:pt idx="123">
                  <c:v>6.74</c:v>
                </c:pt>
                <c:pt idx="124">
                  <c:v>19.64</c:v>
                </c:pt>
                <c:pt idx="125">
                  <c:v>26.49</c:v>
                </c:pt>
                <c:pt idx="126">
                  <c:v>13.29</c:v>
                </c:pt>
                <c:pt idx="127">
                  <c:v>10.41</c:v>
                </c:pt>
                <c:pt idx="128">
                  <c:v>9.51</c:v>
                </c:pt>
                <c:pt idx="129">
                  <c:v>8.08</c:v>
                </c:pt>
                <c:pt idx="130">
                  <c:v>10.57</c:v>
                </c:pt>
                <c:pt idx="131">
                  <c:v>9.46</c:v>
                </c:pt>
                <c:pt idx="132">
                  <c:v>10.48</c:v>
                </c:pt>
                <c:pt idx="133">
                  <c:v>11.83</c:v>
                </c:pt>
                <c:pt idx="134">
                  <c:v>11.1</c:v>
                </c:pt>
                <c:pt idx="135">
                  <c:v>12.1</c:v>
                </c:pt>
                <c:pt idx="136">
                  <c:v>8.58</c:v>
                </c:pt>
                <c:pt idx="137">
                  <c:v>7.31</c:v>
                </c:pt>
                <c:pt idx="138">
                  <c:v>10.0</c:v>
                </c:pt>
                <c:pt idx="139">
                  <c:v>13.21</c:v>
                </c:pt>
                <c:pt idx="140">
                  <c:v>12.34</c:v>
                </c:pt>
                <c:pt idx="141">
                  <c:v>11.51</c:v>
                </c:pt>
                <c:pt idx="142">
                  <c:v>11.48</c:v>
                </c:pt>
                <c:pt idx="143">
                  <c:v>12.73</c:v>
                </c:pt>
                <c:pt idx="144">
                  <c:v>10.7</c:v>
                </c:pt>
                <c:pt idx="145">
                  <c:v>10.4</c:v>
                </c:pt>
                <c:pt idx="146">
                  <c:v>6.96</c:v>
                </c:pt>
                <c:pt idx="147">
                  <c:v>4.58</c:v>
                </c:pt>
                <c:pt idx="148">
                  <c:v>9.21</c:v>
                </c:pt>
                <c:pt idx="149">
                  <c:v>9.03</c:v>
                </c:pt>
                <c:pt idx="150">
                  <c:v>10.91</c:v>
                </c:pt>
                <c:pt idx="151">
                  <c:v>10.62</c:v>
                </c:pt>
                <c:pt idx="152">
                  <c:v>11.47</c:v>
                </c:pt>
                <c:pt idx="153">
                  <c:v>13.0</c:v>
                </c:pt>
                <c:pt idx="154">
                  <c:v>12.04</c:v>
                </c:pt>
                <c:pt idx="155">
                  <c:v>3.93</c:v>
                </c:pt>
                <c:pt idx="156">
                  <c:v>5.71</c:v>
                </c:pt>
                <c:pt idx="157">
                  <c:v>5.39</c:v>
                </c:pt>
                <c:pt idx="158">
                  <c:v>8.13</c:v>
                </c:pt>
                <c:pt idx="159">
                  <c:v>10.74</c:v>
                </c:pt>
                <c:pt idx="160">
                  <c:v>9.55</c:v>
                </c:pt>
                <c:pt idx="161">
                  <c:v>9.29</c:v>
                </c:pt>
                <c:pt idx="162">
                  <c:v>13.06</c:v>
                </c:pt>
                <c:pt idx="163">
                  <c:v>11.62</c:v>
                </c:pt>
                <c:pt idx="164">
                  <c:v>14.28</c:v>
                </c:pt>
                <c:pt idx="165">
                  <c:v>5.79</c:v>
                </c:pt>
                <c:pt idx="166">
                  <c:v>9.67</c:v>
                </c:pt>
                <c:pt idx="167">
                  <c:v>11.32</c:v>
                </c:pt>
                <c:pt idx="168">
                  <c:v>12.68</c:v>
                </c:pt>
                <c:pt idx="169">
                  <c:v>13.04</c:v>
                </c:pt>
                <c:pt idx="170">
                  <c:v>5.53</c:v>
                </c:pt>
                <c:pt idx="171">
                  <c:v>3.88</c:v>
                </c:pt>
                <c:pt idx="172">
                  <c:v>16.13</c:v>
                </c:pt>
                <c:pt idx="173">
                  <c:v>13.59</c:v>
                </c:pt>
                <c:pt idx="174">
                  <c:v>11.2</c:v>
                </c:pt>
                <c:pt idx="175">
                  <c:v>9.25</c:v>
                </c:pt>
                <c:pt idx="176">
                  <c:v>11.73</c:v>
                </c:pt>
                <c:pt idx="177">
                  <c:v>11.92</c:v>
                </c:pt>
                <c:pt idx="178">
                  <c:v>9.66</c:v>
                </c:pt>
                <c:pt idx="179">
                  <c:v>8.86</c:v>
                </c:pt>
                <c:pt idx="180">
                  <c:v>7.71</c:v>
                </c:pt>
                <c:pt idx="181">
                  <c:v>10.26</c:v>
                </c:pt>
                <c:pt idx="182">
                  <c:v>11.42</c:v>
                </c:pt>
                <c:pt idx="183">
                  <c:v>10.55</c:v>
                </c:pt>
                <c:pt idx="184">
                  <c:v>11.07</c:v>
                </c:pt>
                <c:pt idx="185">
                  <c:v>10.49</c:v>
                </c:pt>
                <c:pt idx="186">
                  <c:v>7.12</c:v>
                </c:pt>
                <c:pt idx="187">
                  <c:v>5.05</c:v>
                </c:pt>
                <c:pt idx="188">
                  <c:v>8.48</c:v>
                </c:pt>
                <c:pt idx="189">
                  <c:v>6.81</c:v>
                </c:pt>
                <c:pt idx="190">
                  <c:v>8.9</c:v>
                </c:pt>
                <c:pt idx="191">
                  <c:v>8.35</c:v>
                </c:pt>
                <c:pt idx="192">
                  <c:v>8.96</c:v>
                </c:pt>
                <c:pt idx="193">
                  <c:v>9.23</c:v>
                </c:pt>
                <c:pt idx="194">
                  <c:v>10.85</c:v>
                </c:pt>
                <c:pt idx="195">
                  <c:v>10.9</c:v>
                </c:pt>
                <c:pt idx="196">
                  <c:v>9.2</c:v>
                </c:pt>
                <c:pt idx="197">
                  <c:v>11.13</c:v>
                </c:pt>
                <c:pt idx="198">
                  <c:v>7.54</c:v>
                </c:pt>
                <c:pt idx="199">
                  <c:v>10.49</c:v>
                </c:pt>
                <c:pt idx="200">
                  <c:v>10.42</c:v>
                </c:pt>
                <c:pt idx="201">
                  <c:v>9.43</c:v>
                </c:pt>
                <c:pt idx="202">
                  <c:v>8.24</c:v>
                </c:pt>
                <c:pt idx="203">
                  <c:v>7.6</c:v>
                </c:pt>
                <c:pt idx="204">
                  <c:v>8.88</c:v>
                </c:pt>
                <c:pt idx="205">
                  <c:v>7.57</c:v>
                </c:pt>
                <c:pt idx="206">
                  <c:v>12.06</c:v>
                </c:pt>
                <c:pt idx="207">
                  <c:v>9.47</c:v>
                </c:pt>
                <c:pt idx="208">
                  <c:v>8.92</c:v>
                </c:pt>
                <c:pt idx="209">
                  <c:v>12.24</c:v>
                </c:pt>
                <c:pt idx="210">
                  <c:v>9.84</c:v>
                </c:pt>
                <c:pt idx="211">
                  <c:v>10.88</c:v>
                </c:pt>
                <c:pt idx="212">
                  <c:v>11.28</c:v>
                </c:pt>
                <c:pt idx="213">
                  <c:v>8.7</c:v>
                </c:pt>
                <c:pt idx="214">
                  <c:v>10.18</c:v>
                </c:pt>
                <c:pt idx="215">
                  <c:v>11.96</c:v>
                </c:pt>
                <c:pt idx="216">
                  <c:v>8.26</c:v>
                </c:pt>
                <c:pt idx="217">
                  <c:v>10.81</c:v>
                </c:pt>
                <c:pt idx="218">
                  <c:v>12.5</c:v>
                </c:pt>
                <c:pt idx="219">
                  <c:v>8.41</c:v>
                </c:pt>
                <c:pt idx="220">
                  <c:v>6.91</c:v>
                </c:pt>
                <c:pt idx="221">
                  <c:v>8.82</c:v>
                </c:pt>
                <c:pt idx="222">
                  <c:v>10.19</c:v>
                </c:pt>
                <c:pt idx="223">
                  <c:v>10.88</c:v>
                </c:pt>
                <c:pt idx="224">
                  <c:v>10.39</c:v>
                </c:pt>
                <c:pt idx="225">
                  <c:v>8.8</c:v>
                </c:pt>
                <c:pt idx="226">
                  <c:v>9.3</c:v>
                </c:pt>
                <c:pt idx="227">
                  <c:v>10.13</c:v>
                </c:pt>
                <c:pt idx="228">
                  <c:v>10.25</c:v>
                </c:pt>
                <c:pt idx="229">
                  <c:v>6.9</c:v>
                </c:pt>
                <c:pt idx="230">
                  <c:v>6.77</c:v>
                </c:pt>
                <c:pt idx="231">
                  <c:v>6.19</c:v>
                </c:pt>
                <c:pt idx="232">
                  <c:v>3.96</c:v>
                </c:pt>
                <c:pt idx="233">
                  <c:v>10.73</c:v>
                </c:pt>
                <c:pt idx="234">
                  <c:v>11.11</c:v>
                </c:pt>
                <c:pt idx="235">
                  <c:v>9.79</c:v>
                </c:pt>
                <c:pt idx="236">
                  <c:v>10.56</c:v>
                </c:pt>
                <c:pt idx="237">
                  <c:v>12.25</c:v>
                </c:pt>
                <c:pt idx="238">
                  <c:v>13.99</c:v>
                </c:pt>
                <c:pt idx="239">
                  <c:v>8.62</c:v>
                </c:pt>
                <c:pt idx="240">
                  <c:v>10.51</c:v>
                </c:pt>
                <c:pt idx="241">
                  <c:v>10.16</c:v>
                </c:pt>
                <c:pt idx="242">
                  <c:v>9.08</c:v>
                </c:pt>
                <c:pt idx="243">
                  <c:v>10.52</c:v>
                </c:pt>
                <c:pt idx="244">
                  <c:v>10.87</c:v>
                </c:pt>
                <c:pt idx="245">
                  <c:v>9.71</c:v>
                </c:pt>
                <c:pt idx="246">
                  <c:v>10.39</c:v>
                </c:pt>
                <c:pt idx="247">
                  <c:v>12.23</c:v>
                </c:pt>
                <c:pt idx="248">
                  <c:v>11.66</c:v>
                </c:pt>
                <c:pt idx="249">
                  <c:v>11.4</c:v>
                </c:pt>
                <c:pt idx="250">
                  <c:v>10.13</c:v>
                </c:pt>
                <c:pt idx="251">
                  <c:v>7.72</c:v>
                </c:pt>
                <c:pt idx="252">
                  <c:v>6.48</c:v>
                </c:pt>
                <c:pt idx="253">
                  <c:v>2.65</c:v>
                </c:pt>
                <c:pt idx="254">
                  <c:v>9.83</c:v>
                </c:pt>
                <c:pt idx="255">
                  <c:v>8.54</c:v>
                </c:pt>
                <c:pt idx="256">
                  <c:v>11.56</c:v>
                </c:pt>
                <c:pt idx="257">
                  <c:v>9.14</c:v>
                </c:pt>
                <c:pt idx="258">
                  <c:v>8.87</c:v>
                </c:pt>
                <c:pt idx="259">
                  <c:v>6.26</c:v>
                </c:pt>
                <c:pt idx="260">
                  <c:v>0.14</c:v>
                </c:pt>
                <c:pt idx="261">
                  <c:v>3.18</c:v>
                </c:pt>
                <c:pt idx="262">
                  <c:v>3.62</c:v>
                </c:pt>
                <c:pt idx="263">
                  <c:v>1.73</c:v>
                </c:pt>
                <c:pt idx="264">
                  <c:v>9.95</c:v>
                </c:pt>
                <c:pt idx="265">
                  <c:v>5.05</c:v>
                </c:pt>
                <c:pt idx="266">
                  <c:v>2.3</c:v>
                </c:pt>
                <c:pt idx="267">
                  <c:v>14.42</c:v>
                </c:pt>
                <c:pt idx="268">
                  <c:v>15.0</c:v>
                </c:pt>
                <c:pt idx="269">
                  <c:v>25.12</c:v>
                </c:pt>
                <c:pt idx="270">
                  <c:v>20.42</c:v>
                </c:pt>
                <c:pt idx="271">
                  <c:v>12.88</c:v>
                </c:pt>
                <c:pt idx="272">
                  <c:v>7.95</c:v>
                </c:pt>
                <c:pt idx="273">
                  <c:v>10.58</c:v>
                </c:pt>
                <c:pt idx="274">
                  <c:v>9.24</c:v>
                </c:pt>
                <c:pt idx="275">
                  <c:v>10.07</c:v>
                </c:pt>
                <c:pt idx="276">
                  <c:v>10.07</c:v>
                </c:pt>
                <c:pt idx="277">
                  <c:v>7.66</c:v>
                </c:pt>
                <c:pt idx="278">
                  <c:v>7.57</c:v>
                </c:pt>
                <c:pt idx="279">
                  <c:v>7.48</c:v>
                </c:pt>
              </c:numCache>
            </c:numRef>
          </c:yVal>
          <c:smooth val="0"/>
        </c:ser>
        <c:ser>
          <c:idx val="1"/>
          <c:order val="1"/>
          <c:tx>
            <c:strRef>
              <c:f>Sheet1!$B$283</c:f>
              <c:strCache>
                <c:ptCount val="1"/>
                <c:pt idx="0">
                  <c:v>Paint + IMU motion</c:v>
                </c:pt>
              </c:strCache>
            </c:strRef>
          </c:tx>
          <c:spPr>
            <a:ln w="28575">
              <a:solidFill>
                <a:srgbClr val="008A9E"/>
              </a:solidFill>
            </a:ln>
          </c:spPr>
          <c:marker>
            <c:symbol val="none"/>
          </c:marker>
          <c:xVal>
            <c:numRef>
              <c:f>Sheet1!$A$284:$A$563</c:f>
              <c:numCache>
                <c:formatCode>General</c:formatCode>
                <c:ptCount val="280"/>
                <c:pt idx="0">
                  <c:v>0.0</c:v>
                </c:pt>
                <c:pt idx="1">
                  <c:v>0.036</c:v>
                </c:pt>
                <c:pt idx="2">
                  <c:v>0.072</c:v>
                </c:pt>
                <c:pt idx="3">
                  <c:v>0.108</c:v>
                </c:pt>
                <c:pt idx="4">
                  <c:v>0.144</c:v>
                </c:pt>
                <c:pt idx="5">
                  <c:v>0.18</c:v>
                </c:pt>
                <c:pt idx="6">
                  <c:v>0.216</c:v>
                </c:pt>
                <c:pt idx="7">
                  <c:v>0.252</c:v>
                </c:pt>
                <c:pt idx="8">
                  <c:v>0.288</c:v>
                </c:pt>
                <c:pt idx="9">
                  <c:v>0.324</c:v>
                </c:pt>
                <c:pt idx="10">
                  <c:v>0.36</c:v>
                </c:pt>
                <c:pt idx="11">
                  <c:v>0.396</c:v>
                </c:pt>
                <c:pt idx="12">
                  <c:v>0.432</c:v>
                </c:pt>
                <c:pt idx="13">
                  <c:v>0.468</c:v>
                </c:pt>
                <c:pt idx="14">
                  <c:v>0.504</c:v>
                </c:pt>
                <c:pt idx="15">
                  <c:v>0.54</c:v>
                </c:pt>
                <c:pt idx="16">
                  <c:v>0.575</c:v>
                </c:pt>
                <c:pt idx="17">
                  <c:v>0.612</c:v>
                </c:pt>
                <c:pt idx="18">
                  <c:v>0.648</c:v>
                </c:pt>
                <c:pt idx="19">
                  <c:v>0.684</c:v>
                </c:pt>
                <c:pt idx="20">
                  <c:v>0.719</c:v>
                </c:pt>
                <c:pt idx="21">
                  <c:v>0.756</c:v>
                </c:pt>
                <c:pt idx="22">
                  <c:v>0.792</c:v>
                </c:pt>
                <c:pt idx="23">
                  <c:v>0.828</c:v>
                </c:pt>
                <c:pt idx="24">
                  <c:v>0.864</c:v>
                </c:pt>
                <c:pt idx="25">
                  <c:v>0.9</c:v>
                </c:pt>
                <c:pt idx="26">
                  <c:v>0.936</c:v>
                </c:pt>
                <c:pt idx="27">
                  <c:v>0.972</c:v>
                </c:pt>
                <c:pt idx="28">
                  <c:v>1.008</c:v>
                </c:pt>
                <c:pt idx="29">
                  <c:v>1.044</c:v>
                </c:pt>
                <c:pt idx="30">
                  <c:v>1.079</c:v>
                </c:pt>
                <c:pt idx="31">
                  <c:v>1.115</c:v>
                </c:pt>
                <c:pt idx="32">
                  <c:v>1.151</c:v>
                </c:pt>
                <c:pt idx="33">
                  <c:v>1.187</c:v>
                </c:pt>
                <c:pt idx="34">
                  <c:v>1.223</c:v>
                </c:pt>
                <c:pt idx="35">
                  <c:v>1.259</c:v>
                </c:pt>
                <c:pt idx="36">
                  <c:v>1.296</c:v>
                </c:pt>
                <c:pt idx="37">
                  <c:v>1.331</c:v>
                </c:pt>
                <c:pt idx="38">
                  <c:v>1.367</c:v>
                </c:pt>
                <c:pt idx="39">
                  <c:v>1.403</c:v>
                </c:pt>
                <c:pt idx="40">
                  <c:v>1.439</c:v>
                </c:pt>
                <c:pt idx="41">
                  <c:v>1.475</c:v>
                </c:pt>
                <c:pt idx="42">
                  <c:v>1.511</c:v>
                </c:pt>
                <c:pt idx="43">
                  <c:v>1.547</c:v>
                </c:pt>
                <c:pt idx="44">
                  <c:v>1.583</c:v>
                </c:pt>
                <c:pt idx="45">
                  <c:v>1.619</c:v>
                </c:pt>
                <c:pt idx="46">
                  <c:v>1.655</c:v>
                </c:pt>
                <c:pt idx="47">
                  <c:v>1.691</c:v>
                </c:pt>
                <c:pt idx="48">
                  <c:v>1.727</c:v>
                </c:pt>
                <c:pt idx="49">
                  <c:v>1.763</c:v>
                </c:pt>
                <c:pt idx="50">
                  <c:v>1.799</c:v>
                </c:pt>
                <c:pt idx="51">
                  <c:v>1.835</c:v>
                </c:pt>
                <c:pt idx="52">
                  <c:v>1.871</c:v>
                </c:pt>
                <c:pt idx="53">
                  <c:v>1.907</c:v>
                </c:pt>
                <c:pt idx="54">
                  <c:v>1.943</c:v>
                </c:pt>
                <c:pt idx="55">
                  <c:v>1.979</c:v>
                </c:pt>
                <c:pt idx="56">
                  <c:v>2.015</c:v>
                </c:pt>
                <c:pt idx="57">
                  <c:v>2.051</c:v>
                </c:pt>
                <c:pt idx="58">
                  <c:v>2.087</c:v>
                </c:pt>
                <c:pt idx="59">
                  <c:v>2.123</c:v>
                </c:pt>
                <c:pt idx="60">
                  <c:v>2.159</c:v>
                </c:pt>
                <c:pt idx="61">
                  <c:v>2.195</c:v>
                </c:pt>
                <c:pt idx="62">
                  <c:v>2.231</c:v>
                </c:pt>
                <c:pt idx="63">
                  <c:v>2.267</c:v>
                </c:pt>
                <c:pt idx="64">
                  <c:v>2.303</c:v>
                </c:pt>
                <c:pt idx="65">
                  <c:v>2.339</c:v>
                </c:pt>
                <c:pt idx="66">
                  <c:v>2.375</c:v>
                </c:pt>
                <c:pt idx="67">
                  <c:v>2.411</c:v>
                </c:pt>
                <c:pt idx="68">
                  <c:v>2.447</c:v>
                </c:pt>
                <c:pt idx="69">
                  <c:v>2.483</c:v>
                </c:pt>
                <c:pt idx="70">
                  <c:v>2.519</c:v>
                </c:pt>
                <c:pt idx="71">
                  <c:v>2.555</c:v>
                </c:pt>
                <c:pt idx="72">
                  <c:v>2.591</c:v>
                </c:pt>
                <c:pt idx="73">
                  <c:v>2.627</c:v>
                </c:pt>
                <c:pt idx="74">
                  <c:v>2.663</c:v>
                </c:pt>
                <c:pt idx="75">
                  <c:v>2.699</c:v>
                </c:pt>
                <c:pt idx="76">
                  <c:v>2.735</c:v>
                </c:pt>
                <c:pt idx="77">
                  <c:v>2.771</c:v>
                </c:pt>
                <c:pt idx="78">
                  <c:v>2.807</c:v>
                </c:pt>
                <c:pt idx="79">
                  <c:v>2.843</c:v>
                </c:pt>
                <c:pt idx="80">
                  <c:v>2.879</c:v>
                </c:pt>
                <c:pt idx="81">
                  <c:v>2.915</c:v>
                </c:pt>
                <c:pt idx="82">
                  <c:v>2.951</c:v>
                </c:pt>
                <c:pt idx="83">
                  <c:v>2.987</c:v>
                </c:pt>
                <c:pt idx="84">
                  <c:v>3.023</c:v>
                </c:pt>
                <c:pt idx="85">
                  <c:v>3.059</c:v>
                </c:pt>
                <c:pt idx="86">
                  <c:v>3.095</c:v>
                </c:pt>
                <c:pt idx="87">
                  <c:v>3.131</c:v>
                </c:pt>
                <c:pt idx="88">
                  <c:v>3.167</c:v>
                </c:pt>
                <c:pt idx="89">
                  <c:v>3.203</c:v>
                </c:pt>
                <c:pt idx="90">
                  <c:v>3.239</c:v>
                </c:pt>
                <c:pt idx="91">
                  <c:v>3.275</c:v>
                </c:pt>
                <c:pt idx="92">
                  <c:v>3.311</c:v>
                </c:pt>
                <c:pt idx="93">
                  <c:v>3.347</c:v>
                </c:pt>
                <c:pt idx="94">
                  <c:v>3.383</c:v>
                </c:pt>
                <c:pt idx="95">
                  <c:v>3.419</c:v>
                </c:pt>
                <c:pt idx="96">
                  <c:v>3.455</c:v>
                </c:pt>
                <c:pt idx="97">
                  <c:v>3.491</c:v>
                </c:pt>
                <c:pt idx="98">
                  <c:v>3.527</c:v>
                </c:pt>
                <c:pt idx="99">
                  <c:v>3.563</c:v>
                </c:pt>
                <c:pt idx="100">
                  <c:v>3.599</c:v>
                </c:pt>
                <c:pt idx="101">
                  <c:v>3.635</c:v>
                </c:pt>
                <c:pt idx="102">
                  <c:v>3.671</c:v>
                </c:pt>
                <c:pt idx="103">
                  <c:v>3.707</c:v>
                </c:pt>
                <c:pt idx="104">
                  <c:v>3.743</c:v>
                </c:pt>
                <c:pt idx="105">
                  <c:v>3.779</c:v>
                </c:pt>
                <c:pt idx="106">
                  <c:v>3.815</c:v>
                </c:pt>
                <c:pt idx="107">
                  <c:v>3.851</c:v>
                </c:pt>
                <c:pt idx="108">
                  <c:v>3.886</c:v>
                </c:pt>
                <c:pt idx="109">
                  <c:v>3.922</c:v>
                </c:pt>
                <c:pt idx="110">
                  <c:v>3.959</c:v>
                </c:pt>
                <c:pt idx="111">
                  <c:v>3.994</c:v>
                </c:pt>
                <c:pt idx="112">
                  <c:v>4.03</c:v>
                </c:pt>
                <c:pt idx="113">
                  <c:v>4.066</c:v>
                </c:pt>
                <c:pt idx="114">
                  <c:v>4.102</c:v>
                </c:pt>
                <c:pt idx="115">
                  <c:v>4.138</c:v>
                </c:pt>
                <c:pt idx="116">
                  <c:v>4.174</c:v>
                </c:pt>
                <c:pt idx="117">
                  <c:v>4.21</c:v>
                </c:pt>
                <c:pt idx="118">
                  <c:v>4.246</c:v>
                </c:pt>
                <c:pt idx="119">
                  <c:v>4.282</c:v>
                </c:pt>
                <c:pt idx="120">
                  <c:v>4.318</c:v>
                </c:pt>
                <c:pt idx="121">
                  <c:v>4.354</c:v>
                </c:pt>
                <c:pt idx="122">
                  <c:v>4.39</c:v>
                </c:pt>
                <c:pt idx="123">
                  <c:v>4.426</c:v>
                </c:pt>
                <c:pt idx="124">
                  <c:v>4.462</c:v>
                </c:pt>
                <c:pt idx="125">
                  <c:v>4.498</c:v>
                </c:pt>
                <c:pt idx="126">
                  <c:v>4.534</c:v>
                </c:pt>
                <c:pt idx="127">
                  <c:v>4.57</c:v>
                </c:pt>
                <c:pt idx="128">
                  <c:v>4.606</c:v>
                </c:pt>
                <c:pt idx="129">
                  <c:v>4.642</c:v>
                </c:pt>
                <c:pt idx="130">
                  <c:v>4.678</c:v>
                </c:pt>
                <c:pt idx="131">
                  <c:v>4.715</c:v>
                </c:pt>
                <c:pt idx="132">
                  <c:v>4.75</c:v>
                </c:pt>
                <c:pt idx="133">
                  <c:v>4.786</c:v>
                </c:pt>
                <c:pt idx="134">
                  <c:v>4.822</c:v>
                </c:pt>
                <c:pt idx="135">
                  <c:v>4.858</c:v>
                </c:pt>
                <c:pt idx="136">
                  <c:v>4.894</c:v>
                </c:pt>
                <c:pt idx="137">
                  <c:v>4.93</c:v>
                </c:pt>
                <c:pt idx="138">
                  <c:v>4.966</c:v>
                </c:pt>
                <c:pt idx="139">
                  <c:v>5.002</c:v>
                </c:pt>
                <c:pt idx="140">
                  <c:v>5.038</c:v>
                </c:pt>
                <c:pt idx="141">
                  <c:v>5.074</c:v>
                </c:pt>
                <c:pt idx="142">
                  <c:v>5.11</c:v>
                </c:pt>
                <c:pt idx="143">
                  <c:v>5.146</c:v>
                </c:pt>
                <c:pt idx="144">
                  <c:v>5.182</c:v>
                </c:pt>
                <c:pt idx="145">
                  <c:v>5.218</c:v>
                </c:pt>
                <c:pt idx="146">
                  <c:v>5.254</c:v>
                </c:pt>
                <c:pt idx="147">
                  <c:v>5.29</c:v>
                </c:pt>
                <c:pt idx="148">
                  <c:v>5.326</c:v>
                </c:pt>
                <c:pt idx="149">
                  <c:v>5.362</c:v>
                </c:pt>
                <c:pt idx="150">
                  <c:v>5.398</c:v>
                </c:pt>
                <c:pt idx="151">
                  <c:v>5.434</c:v>
                </c:pt>
                <c:pt idx="152">
                  <c:v>5.47</c:v>
                </c:pt>
                <c:pt idx="153">
                  <c:v>5.506</c:v>
                </c:pt>
                <c:pt idx="154">
                  <c:v>5.542</c:v>
                </c:pt>
                <c:pt idx="155">
                  <c:v>5.578</c:v>
                </c:pt>
                <c:pt idx="156">
                  <c:v>5.614</c:v>
                </c:pt>
                <c:pt idx="157">
                  <c:v>5.65</c:v>
                </c:pt>
                <c:pt idx="158">
                  <c:v>5.686</c:v>
                </c:pt>
                <c:pt idx="159">
                  <c:v>5.722</c:v>
                </c:pt>
                <c:pt idx="160">
                  <c:v>5.758</c:v>
                </c:pt>
                <c:pt idx="161">
                  <c:v>5.794</c:v>
                </c:pt>
                <c:pt idx="162">
                  <c:v>5.83</c:v>
                </c:pt>
                <c:pt idx="163">
                  <c:v>5.866</c:v>
                </c:pt>
                <c:pt idx="164">
                  <c:v>5.902</c:v>
                </c:pt>
                <c:pt idx="165">
                  <c:v>5.938</c:v>
                </c:pt>
                <c:pt idx="166">
                  <c:v>5.974</c:v>
                </c:pt>
                <c:pt idx="167">
                  <c:v>6.01</c:v>
                </c:pt>
                <c:pt idx="168">
                  <c:v>6.046</c:v>
                </c:pt>
                <c:pt idx="169">
                  <c:v>6.082</c:v>
                </c:pt>
                <c:pt idx="170">
                  <c:v>6.118</c:v>
                </c:pt>
                <c:pt idx="171">
                  <c:v>6.154</c:v>
                </c:pt>
                <c:pt idx="172">
                  <c:v>6.19</c:v>
                </c:pt>
                <c:pt idx="173">
                  <c:v>6.226</c:v>
                </c:pt>
                <c:pt idx="174">
                  <c:v>6.262</c:v>
                </c:pt>
                <c:pt idx="175">
                  <c:v>6.298</c:v>
                </c:pt>
                <c:pt idx="176">
                  <c:v>6.334</c:v>
                </c:pt>
                <c:pt idx="177">
                  <c:v>6.37</c:v>
                </c:pt>
                <c:pt idx="178">
                  <c:v>6.406</c:v>
                </c:pt>
                <c:pt idx="179">
                  <c:v>6.442</c:v>
                </c:pt>
                <c:pt idx="180">
                  <c:v>6.478</c:v>
                </c:pt>
                <c:pt idx="181">
                  <c:v>6.514</c:v>
                </c:pt>
                <c:pt idx="182">
                  <c:v>6.55</c:v>
                </c:pt>
                <c:pt idx="183">
                  <c:v>6.586</c:v>
                </c:pt>
                <c:pt idx="184">
                  <c:v>6.622</c:v>
                </c:pt>
                <c:pt idx="185">
                  <c:v>6.658</c:v>
                </c:pt>
                <c:pt idx="186">
                  <c:v>6.694</c:v>
                </c:pt>
                <c:pt idx="187">
                  <c:v>6.729</c:v>
                </c:pt>
                <c:pt idx="188">
                  <c:v>6.766</c:v>
                </c:pt>
                <c:pt idx="189">
                  <c:v>6.801</c:v>
                </c:pt>
                <c:pt idx="190">
                  <c:v>6.837</c:v>
                </c:pt>
                <c:pt idx="191">
                  <c:v>6.874</c:v>
                </c:pt>
                <c:pt idx="192">
                  <c:v>6.909</c:v>
                </c:pt>
                <c:pt idx="193">
                  <c:v>6.945</c:v>
                </c:pt>
                <c:pt idx="194">
                  <c:v>6.981</c:v>
                </c:pt>
                <c:pt idx="195">
                  <c:v>7.017</c:v>
                </c:pt>
                <c:pt idx="196">
                  <c:v>7.053</c:v>
                </c:pt>
                <c:pt idx="197">
                  <c:v>7.089</c:v>
                </c:pt>
                <c:pt idx="198">
                  <c:v>7.125</c:v>
                </c:pt>
                <c:pt idx="199">
                  <c:v>7.161</c:v>
                </c:pt>
                <c:pt idx="200">
                  <c:v>7.197</c:v>
                </c:pt>
                <c:pt idx="201">
                  <c:v>7.233</c:v>
                </c:pt>
                <c:pt idx="202">
                  <c:v>7.269</c:v>
                </c:pt>
                <c:pt idx="203">
                  <c:v>7.305</c:v>
                </c:pt>
                <c:pt idx="204">
                  <c:v>7.341</c:v>
                </c:pt>
                <c:pt idx="205">
                  <c:v>7.377</c:v>
                </c:pt>
                <c:pt idx="206">
                  <c:v>7.413</c:v>
                </c:pt>
                <c:pt idx="207">
                  <c:v>7.449</c:v>
                </c:pt>
                <c:pt idx="208">
                  <c:v>7.485</c:v>
                </c:pt>
                <c:pt idx="209">
                  <c:v>7.521</c:v>
                </c:pt>
                <c:pt idx="210">
                  <c:v>7.557</c:v>
                </c:pt>
                <c:pt idx="211">
                  <c:v>7.593</c:v>
                </c:pt>
                <c:pt idx="212">
                  <c:v>7.629</c:v>
                </c:pt>
                <c:pt idx="213">
                  <c:v>7.665</c:v>
                </c:pt>
                <c:pt idx="214">
                  <c:v>7.701</c:v>
                </c:pt>
                <c:pt idx="215">
                  <c:v>7.737</c:v>
                </c:pt>
                <c:pt idx="216">
                  <c:v>7.773</c:v>
                </c:pt>
                <c:pt idx="217">
                  <c:v>7.809</c:v>
                </c:pt>
                <c:pt idx="218">
                  <c:v>7.845</c:v>
                </c:pt>
                <c:pt idx="219">
                  <c:v>7.881</c:v>
                </c:pt>
                <c:pt idx="220">
                  <c:v>7.917</c:v>
                </c:pt>
                <c:pt idx="221">
                  <c:v>7.953</c:v>
                </c:pt>
                <c:pt idx="222">
                  <c:v>7.989</c:v>
                </c:pt>
                <c:pt idx="223">
                  <c:v>8.025</c:v>
                </c:pt>
                <c:pt idx="224">
                  <c:v>8.061</c:v>
                </c:pt>
                <c:pt idx="225">
                  <c:v>8.097</c:v>
                </c:pt>
                <c:pt idx="226">
                  <c:v>8.133</c:v>
                </c:pt>
                <c:pt idx="227">
                  <c:v>8.169</c:v>
                </c:pt>
                <c:pt idx="228">
                  <c:v>8.205</c:v>
                </c:pt>
                <c:pt idx="229">
                  <c:v>8.241</c:v>
                </c:pt>
                <c:pt idx="230">
                  <c:v>8.277</c:v>
                </c:pt>
                <c:pt idx="231">
                  <c:v>8.313</c:v>
                </c:pt>
                <c:pt idx="232">
                  <c:v>8.349</c:v>
                </c:pt>
                <c:pt idx="233">
                  <c:v>8.385</c:v>
                </c:pt>
                <c:pt idx="234">
                  <c:v>8.421</c:v>
                </c:pt>
                <c:pt idx="235">
                  <c:v>8.457</c:v>
                </c:pt>
                <c:pt idx="236">
                  <c:v>8.493</c:v>
                </c:pt>
                <c:pt idx="237">
                  <c:v>8.529</c:v>
                </c:pt>
                <c:pt idx="238">
                  <c:v>8.565</c:v>
                </c:pt>
                <c:pt idx="239">
                  <c:v>8.601</c:v>
                </c:pt>
                <c:pt idx="240">
                  <c:v>8.637</c:v>
                </c:pt>
                <c:pt idx="241">
                  <c:v>8.673</c:v>
                </c:pt>
                <c:pt idx="242">
                  <c:v>8.709</c:v>
                </c:pt>
                <c:pt idx="243">
                  <c:v>8.745</c:v>
                </c:pt>
                <c:pt idx="244">
                  <c:v>8.781</c:v>
                </c:pt>
                <c:pt idx="245">
                  <c:v>8.817</c:v>
                </c:pt>
                <c:pt idx="246">
                  <c:v>8.853</c:v>
                </c:pt>
                <c:pt idx="247">
                  <c:v>8.889</c:v>
                </c:pt>
                <c:pt idx="248">
                  <c:v>8.925</c:v>
                </c:pt>
                <c:pt idx="249">
                  <c:v>8.961</c:v>
                </c:pt>
                <c:pt idx="250">
                  <c:v>8.997</c:v>
                </c:pt>
                <c:pt idx="251">
                  <c:v>9.033</c:v>
                </c:pt>
                <c:pt idx="252">
                  <c:v>9.069</c:v>
                </c:pt>
                <c:pt idx="253">
                  <c:v>9.105</c:v>
                </c:pt>
                <c:pt idx="254">
                  <c:v>9.141</c:v>
                </c:pt>
                <c:pt idx="255">
                  <c:v>9.177</c:v>
                </c:pt>
                <c:pt idx="256">
                  <c:v>9.213</c:v>
                </c:pt>
                <c:pt idx="257">
                  <c:v>9.249</c:v>
                </c:pt>
                <c:pt idx="258">
                  <c:v>9.285</c:v>
                </c:pt>
                <c:pt idx="259">
                  <c:v>9.321</c:v>
                </c:pt>
                <c:pt idx="260">
                  <c:v>9.357</c:v>
                </c:pt>
                <c:pt idx="261">
                  <c:v>9.393</c:v>
                </c:pt>
                <c:pt idx="262">
                  <c:v>9.428</c:v>
                </c:pt>
                <c:pt idx="263">
                  <c:v>9.465</c:v>
                </c:pt>
                <c:pt idx="264">
                  <c:v>9.501</c:v>
                </c:pt>
                <c:pt idx="265">
                  <c:v>9.537</c:v>
                </c:pt>
                <c:pt idx="266">
                  <c:v>9.573</c:v>
                </c:pt>
                <c:pt idx="267">
                  <c:v>9.608</c:v>
                </c:pt>
                <c:pt idx="268">
                  <c:v>9.644</c:v>
                </c:pt>
                <c:pt idx="269">
                  <c:v>9.68</c:v>
                </c:pt>
                <c:pt idx="270">
                  <c:v>9.717</c:v>
                </c:pt>
                <c:pt idx="271">
                  <c:v>9.752</c:v>
                </c:pt>
                <c:pt idx="272">
                  <c:v>9.788</c:v>
                </c:pt>
                <c:pt idx="273">
                  <c:v>9.824</c:v>
                </c:pt>
                <c:pt idx="274">
                  <c:v>9.86</c:v>
                </c:pt>
                <c:pt idx="275">
                  <c:v>9.896</c:v>
                </c:pt>
                <c:pt idx="276">
                  <c:v>9.932</c:v>
                </c:pt>
                <c:pt idx="277">
                  <c:v>9.968</c:v>
                </c:pt>
                <c:pt idx="278">
                  <c:v>10.004</c:v>
                </c:pt>
                <c:pt idx="279">
                  <c:v>10.04</c:v>
                </c:pt>
              </c:numCache>
            </c:numRef>
          </c:xVal>
          <c:yVal>
            <c:numRef>
              <c:f>Sheet1!$B$284:$B$563</c:f>
              <c:numCache>
                <c:formatCode>General</c:formatCode>
                <c:ptCount val="280"/>
                <c:pt idx="0">
                  <c:v>10.58</c:v>
                </c:pt>
                <c:pt idx="1">
                  <c:v>10.5</c:v>
                </c:pt>
                <c:pt idx="2">
                  <c:v>10.85</c:v>
                </c:pt>
                <c:pt idx="3">
                  <c:v>11.3</c:v>
                </c:pt>
                <c:pt idx="4">
                  <c:v>11.16</c:v>
                </c:pt>
                <c:pt idx="5">
                  <c:v>11.31</c:v>
                </c:pt>
                <c:pt idx="6">
                  <c:v>11.5</c:v>
                </c:pt>
                <c:pt idx="7">
                  <c:v>11.84</c:v>
                </c:pt>
                <c:pt idx="8">
                  <c:v>12.15</c:v>
                </c:pt>
                <c:pt idx="9">
                  <c:v>12.08</c:v>
                </c:pt>
                <c:pt idx="10">
                  <c:v>11.3</c:v>
                </c:pt>
                <c:pt idx="11">
                  <c:v>11.0</c:v>
                </c:pt>
                <c:pt idx="12">
                  <c:v>11.11</c:v>
                </c:pt>
                <c:pt idx="13">
                  <c:v>10.85</c:v>
                </c:pt>
                <c:pt idx="14">
                  <c:v>10.55</c:v>
                </c:pt>
                <c:pt idx="15">
                  <c:v>11.18</c:v>
                </c:pt>
                <c:pt idx="16">
                  <c:v>11.95</c:v>
                </c:pt>
                <c:pt idx="17">
                  <c:v>10.11</c:v>
                </c:pt>
                <c:pt idx="18">
                  <c:v>9.96</c:v>
                </c:pt>
                <c:pt idx="19">
                  <c:v>9.38</c:v>
                </c:pt>
                <c:pt idx="20">
                  <c:v>8.95</c:v>
                </c:pt>
                <c:pt idx="21">
                  <c:v>8.66</c:v>
                </c:pt>
                <c:pt idx="22">
                  <c:v>8.38</c:v>
                </c:pt>
                <c:pt idx="23">
                  <c:v>8.38</c:v>
                </c:pt>
                <c:pt idx="24">
                  <c:v>8.95</c:v>
                </c:pt>
                <c:pt idx="25">
                  <c:v>8.93</c:v>
                </c:pt>
                <c:pt idx="26">
                  <c:v>8.95</c:v>
                </c:pt>
                <c:pt idx="27">
                  <c:v>8.94</c:v>
                </c:pt>
                <c:pt idx="28">
                  <c:v>8.94</c:v>
                </c:pt>
                <c:pt idx="29">
                  <c:v>8.93</c:v>
                </c:pt>
                <c:pt idx="30">
                  <c:v>9.2</c:v>
                </c:pt>
                <c:pt idx="31">
                  <c:v>8.9</c:v>
                </c:pt>
                <c:pt idx="32">
                  <c:v>8.68</c:v>
                </c:pt>
                <c:pt idx="33">
                  <c:v>8.74</c:v>
                </c:pt>
                <c:pt idx="34">
                  <c:v>8.91</c:v>
                </c:pt>
                <c:pt idx="35">
                  <c:v>8.97</c:v>
                </c:pt>
                <c:pt idx="36">
                  <c:v>8.79</c:v>
                </c:pt>
                <c:pt idx="37">
                  <c:v>8.71</c:v>
                </c:pt>
                <c:pt idx="38">
                  <c:v>8.46</c:v>
                </c:pt>
                <c:pt idx="39">
                  <c:v>8.53</c:v>
                </c:pt>
                <c:pt idx="40">
                  <c:v>8.76</c:v>
                </c:pt>
                <c:pt idx="41">
                  <c:v>8.55</c:v>
                </c:pt>
                <c:pt idx="42">
                  <c:v>7.73</c:v>
                </c:pt>
                <c:pt idx="43">
                  <c:v>6.85</c:v>
                </c:pt>
                <c:pt idx="44">
                  <c:v>6.96</c:v>
                </c:pt>
                <c:pt idx="45">
                  <c:v>7.2</c:v>
                </c:pt>
                <c:pt idx="46">
                  <c:v>8.53</c:v>
                </c:pt>
                <c:pt idx="47">
                  <c:v>8.15</c:v>
                </c:pt>
                <c:pt idx="48">
                  <c:v>7.46</c:v>
                </c:pt>
                <c:pt idx="49">
                  <c:v>6.53</c:v>
                </c:pt>
                <c:pt idx="50">
                  <c:v>9.37</c:v>
                </c:pt>
                <c:pt idx="51">
                  <c:v>9.41</c:v>
                </c:pt>
                <c:pt idx="52">
                  <c:v>9.17</c:v>
                </c:pt>
                <c:pt idx="53">
                  <c:v>8.01</c:v>
                </c:pt>
                <c:pt idx="54">
                  <c:v>8.29</c:v>
                </c:pt>
                <c:pt idx="55">
                  <c:v>8.28</c:v>
                </c:pt>
                <c:pt idx="56">
                  <c:v>8.37</c:v>
                </c:pt>
                <c:pt idx="57">
                  <c:v>8.23</c:v>
                </c:pt>
                <c:pt idx="58">
                  <c:v>8.76</c:v>
                </c:pt>
                <c:pt idx="59">
                  <c:v>9.13</c:v>
                </c:pt>
                <c:pt idx="60">
                  <c:v>9.49</c:v>
                </c:pt>
                <c:pt idx="61">
                  <c:v>9.74</c:v>
                </c:pt>
                <c:pt idx="62">
                  <c:v>9.31</c:v>
                </c:pt>
                <c:pt idx="63">
                  <c:v>9.03</c:v>
                </c:pt>
                <c:pt idx="64">
                  <c:v>9.28</c:v>
                </c:pt>
                <c:pt idx="65">
                  <c:v>9.22</c:v>
                </c:pt>
                <c:pt idx="66">
                  <c:v>8.55</c:v>
                </c:pt>
                <c:pt idx="67">
                  <c:v>8.11</c:v>
                </c:pt>
                <c:pt idx="68">
                  <c:v>6.82</c:v>
                </c:pt>
                <c:pt idx="69">
                  <c:v>5.57</c:v>
                </c:pt>
                <c:pt idx="70">
                  <c:v>5.5</c:v>
                </c:pt>
                <c:pt idx="71">
                  <c:v>6.91</c:v>
                </c:pt>
                <c:pt idx="72">
                  <c:v>7.53</c:v>
                </c:pt>
                <c:pt idx="73">
                  <c:v>8.65</c:v>
                </c:pt>
                <c:pt idx="74">
                  <c:v>10.24</c:v>
                </c:pt>
                <c:pt idx="75">
                  <c:v>9.84</c:v>
                </c:pt>
                <c:pt idx="76">
                  <c:v>9.36</c:v>
                </c:pt>
                <c:pt idx="77">
                  <c:v>9.05</c:v>
                </c:pt>
                <c:pt idx="78">
                  <c:v>9.1</c:v>
                </c:pt>
                <c:pt idx="79">
                  <c:v>9.12</c:v>
                </c:pt>
                <c:pt idx="80">
                  <c:v>9.66</c:v>
                </c:pt>
                <c:pt idx="81">
                  <c:v>10.49</c:v>
                </c:pt>
                <c:pt idx="82">
                  <c:v>10.65</c:v>
                </c:pt>
                <c:pt idx="83">
                  <c:v>11.18</c:v>
                </c:pt>
                <c:pt idx="84">
                  <c:v>11.47</c:v>
                </c:pt>
                <c:pt idx="85">
                  <c:v>11.62</c:v>
                </c:pt>
                <c:pt idx="86">
                  <c:v>12.09</c:v>
                </c:pt>
                <c:pt idx="87">
                  <c:v>11.92</c:v>
                </c:pt>
                <c:pt idx="88">
                  <c:v>11.66</c:v>
                </c:pt>
                <c:pt idx="89">
                  <c:v>11.21</c:v>
                </c:pt>
                <c:pt idx="90">
                  <c:v>10.72</c:v>
                </c:pt>
                <c:pt idx="91">
                  <c:v>10.75</c:v>
                </c:pt>
                <c:pt idx="92">
                  <c:v>10.89</c:v>
                </c:pt>
                <c:pt idx="93">
                  <c:v>11.19</c:v>
                </c:pt>
                <c:pt idx="94">
                  <c:v>10.53</c:v>
                </c:pt>
                <c:pt idx="95">
                  <c:v>9.92</c:v>
                </c:pt>
                <c:pt idx="96">
                  <c:v>9.92</c:v>
                </c:pt>
                <c:pt idx="97">
                  <c:v>10.21</c:v>
                </c:pt>
                <c:pt idx="98">
                  <c:v>10.32</c:v>
                </c:pt>
                <c:pt idx="99">
                  <c:v>9.99</c:v>
                </c:pt>
                <c:pt idx="100">
                  <c:v>10.32</c:v>
                </c:pt>
                <c:pt idx="101">
                  <c:v>10.36</c:v>
                </c:pt>
                <c:pt idx="102">
                  <c:v>9.99</c:v>
                </c:pt>
                <c:pt idx="103">
                  <c:v>10.08</c:v>
                </c:pt>
                <c:pt idx="104">
                  <c:v>10.21</c:v>
                </c:pt>
                <c:pt idx="105">
                  <c:v>9.94</c:v>
                </c:pt>
                <c:pt idx="106">
                  <c:v>10.03</c:v>
                </c:pt>
                <c:pt idx="107">
                  <c:v>10.16</c:v>
                </c:pt>
                <c:pt idx="108">
                  <c:v>10.25</c:v>
                </c:pt>
                <c:pt idx="109">
                  <c:v>10.39</c:v>
                </c:pt>
                <c:pt idx="110">
                  <c:v>10.53</c:v>
                </c:pt>
                <c:pt idx="111">
                  <c:v>10.11</c:v>
                </c:pt>
                <c:pt idx="112">
                  <c:v>9.9</c:v>
                </c:pt>
                <c:pt idx="113">
                  <c:v>9.9</c:v>
                </c:pt>
                <c:pt idx="114">
                  <c:v>9.68</c:v>
                </c:pt>
                <c:pt idx="115">
                  <c:v>9.72</c:v>
                </c:pt>
                <c:pt idx="116">
                  <c:v>9.41</c:v>
                </c:pt>
                <c:pt idx="117">
                  <c:v>9.85</c:v>
                </c:pt>
                <c:pt idx="118">
                  <c:v>10.17</c:v>
                </c:pt>
                <c:pt idx="119">
                  <c:v>9.96</c:v>
                </c:pt>
                <c:pt idx="120">
                  <c:v>10.16</c:v>
                </c:pt>
                <c:pt idx="121">
                  <c:v>9.67</c:v>
                </c:pt>
                <c:pt idx="122">
                  <c:v>9.54</c:v>
                </c:pt>
                <c:pt idx="123">
                  <c:v>9.04</c:v>
                </c:pt>
                <c:pt idx="124">
                  <c:v>8.22</c:v>
                </c:pt>
                <c:pt idx="125">
                  <c:v>8.51</c:v>
                </c:pt>
                <c:pt idx="126">
                  <c:v>8.78</c:v>
                </c:pt>
                <c:pt idx="127">
                  <c:v>8.82</c:v>
                </c:pt>
                <c:pt idx="128">
                  <c:v>9.19</c:v>
                </c:pt>
                <c:pt idx="129">
                  <c:v>9.03</c:v>
                </c:pt>
                <c:pt idx="130">
                  <c:v>8.55</c:v>
                </c:pt>
                <c:pt idx="131">
                  <c:v>8.6</c:v>
                </c:pt>
                <c:pt idx="132">
                  <c:v>8.78</c:v>
                </c:pt>
                <c:pt idx="133">
                  <c:v>9.19</c:v>
                </c:pt>
                <c:pt idx="134">
                  <c:v>9.42</c:v>
                </c:pt>
                <c:pt idx="135">
                  <c:v>9.6</c:v>
                </c:pt>
                <c:pt idx="136">
                  <c:v>9.41</c:v>
                </c:pt>
                <c:pt idx="137">
                  <c:v>9.36</c:v>
                </c:pt>
                <c:pt idx="138">
                  <c:v>9.56</c:v>
                </c:pt>
                <c:pt idx="139">
                  <c:v>9.8</c:v>
                </c:pt>
                <c:pt idx="140">
                  <c:v>10.42</c:v>
                </c:pt>
                <c:pt idx="141">
                  <c:v>10.25</c:v>
                </c:pt>
                <c:pt idx="142">
                  <c:v>10.46</c:v>
                </c:pt>
                <c:pt idx="143">
                  <c:v>10.39</c:v>
                </c:pt>
                <c:pt idx="144">
                  <c:v>10.26</c:v>
                </c:pt>
                <c:pt idx="145">
                  <c:v>10.06</c:v>
                </c:pt>
                <c:pt idx="146">
                  <c:v>9.63</c:v>
                </c:pt>
                <c:pt idx="147">
                  <c:v>9.47</c:v>
                </c:pt>
                <c:pt idx="148">
                  <c:v>9.64</c:v>
                </c:pt>
                <c:pt idx="149">
                  <c:v>9.86</c:v>
                </c:pt>
                <c:pt idx="150">
                  <c:v>9.97</c:v>
                </c:pt>
                <c:pt idx="151">
                  <c:v>9.88</c:v>
                </c:pt>
                <c:pt idx="152">
                  <c:v>9.93</c:v>
                </c:pt>
                <c:pt idx="153">
                  <c:v>9.97</c:v>
                </c:pt>
                <c:pt idx="154">
                  <c:v>9.46</c:v>
                </c:pt>
                <c:pt idx="155">
                  <c:v>9.01</c:v>
                </c:pt>
                <c:pt idx="156">
                  <c:v>8.98</c:v>
                </c:pt>
                <c:pt idx="157">
                  <c:v>8.95</c:v>
                </c:pt>
                <c:pt idx="158">
                  <c:v>9.46</c:v>
                </c:pt>
                <c:pt idx="159">
                  <c:v>9.62</c:v>
                </c:pt>
                <c:pt idx="160">
                  <c:v>9.62</c:v>
                </c:pt>
                <c:pt idx="161">
                  <c:v>9.26</c:v>
                </c:pt>
                <c:pt idx="162">
                  <c:v>9.71</c:v>
                </c:pt>
                <c:pt idx="163">
                  <c:v>9.89</c:v>
                </c:pt>
                <c:pt idx="164">
                  <c:v>9.56</c:v>
                </c:pt>
                <c:pt idx="165">
                  <c:v>9.1</c:v>
                </c:pt>
                <c:pt idx="166">
                  <c:v>9.56</c:v>
                </c:pt>
                <c:pt idx="167">
                  <c:v>10.25</c:v>
                </c:pt>
                <c:pt idx="168">
                  <c:v>10.41</c:v>
                </c:pt>
                <c:pt idx="169">
                  <c:v>10.66</c:v>
                </c:pt>
                <c:pt idx="170">
                  <c:v>10.03</c:v>
                </c:pt>
                <c:pt idx="171">
                  <c:v>9.73</c:v>
                </c:pt>
                <c:pt idx="172">
                  <c:v>10.57</c:v>
                </c:pt>
                <c:pt idx="173">
                  <c:v>10.47</c:v>
                </c:pt>
                <c:pt idx="174">
                  <c:v>10.63</c:v>
                </c:pt>
                <c:pt idx="175">
                  <c:v>10.74</c:v>
                </c:pt>
                <c:pt idx="176">
                  <c:v>10.45</c:v>
                </c:pt>
                <c:pt idx="177">
                  <c:v>10.96</c:v>
                </c:pt>
                <c:pt idx="178">
                  <c:v>10.84</c:v>
                </c:pt>
                <c:pt idx="179">
                  <c:v>10.49</c:v>
                </c:pt>
                <c:pt idx="180">
                  <c:v>10.24</c:v>
                </c:pt>
                <c:pt idx="181">
                  <c:v>10.22</c:v>
                </c:pt>
                <c:pt idx="182">
                  <c:v>9.94</c:v>
                </c:pt>
                <c:pt idx="183">
                  <c:v>9.96</c:v>
                </c:pt>
                <c:pt idx="184">
                  <c:v>9.85</c:v>
                </c:pt>
                <c:pt idx="185">
                  <c:v>10.04</c:v>
                </c:pt>
                <c:pt idx="186">
                  <c:v>10.02</c:v>
                </c:pt>
                <c:pt idx="187">
                  <c:v>9.98</c:v>
                </c:pt>
                <c:pt idx="188">
                  <c:v>9.76</c:v>
                </c:pt>
                <c:pt idx="189">
                  <c:v>9.47</c:v>
                </c:pt>
                <c:pt idx="190">
                  <c:v>9.39</c:v>
                </c:pt>
                <c:pt idx="191">
                  <c:v>9.25</c:v>
                </c:pt>
                <c:pt idx="192">
                  <c:v>9.16</c:v>
                </c:pt>
                <c:pt idx="193">
                  <c:v>9.23</c:v>
                </c:pt>
                <c:pt idx="194">
                  <c:v>9.42</c:v>
                </c:pt>
                <c:pt idx="195">
                  <c:v>9.35</c:v>
                </c:pt>
                <c:pt idx="196">
                  <c:v>9.42</c:v>
                </c:pt>
                <c:pt idx="197">
                  <c:v>9.85</c:v>
                </c:pt>
                <c:pt idx="198">
                  <c:v>9.44</c:v>
                </c:pt>
                <c:pt idx="199">
                  <c:v>9.59</c:v>
                </c:pt>
                <c:pt idx="200">
                  <c:v>9.62</c:v>
                </c:pt>
                <c:pt idx="201">
                  <c:v>9.7</c:v>
                </c:pt>
                <c:pt idx="202">
                  <c:v>9.85</c:v>
                </c:pt>
                <c:pt idx="203">
                  <c:v>9.77</c:v>
                </c:pt>
                <c:pt idx="204">
                  <c:v>9.64</c:v>
                </c:pt>
                <c:pt idx="205">
                  <c:v>9.62</c:v>
                </c:pt>
                <c:pt idx="206">
                  <c:v>9.11</c:v>
                </c:pt>
                <c:pt idx="207">
                  <c:v>9.03</c:v>
                </c:pt>
                <c:pt idx="208">
                  <c:v>8.94</c:v>
                </c:pt>
                <c:pt idx="209">
                  <c:v>9.19</c:v>
                </c:pt>
                <c:pt idx="210">
                  <c:v>9.21</c:v>
                </c:pt>
                <c:pt idx="211">
                  <c:v>9.45</c:v>
                </c:pt>
                <c:pt idx="212">
                  <c:v>9.77</c:v>
                </c:pt>
                <c:pt idx="213">
                  <c:v>9.54</c:v>
                </c:pt>
                <c:pt idx="214">
                  <c:v>9.77</c:v>
                </c:pt>
                <c:pt idx="215">
                  <c:v>9.96</c:v>
                </c:pt>
                <c:pt idx="216">
                  <c:v>9.94</c:v>
                </c:pt>
                <c:pt idx="217">
                  <c:v>9.89</c:v>
                </c:pt>
                <c:pt idx="218">
                  <c:v>10.15</c:v>
                </c:pt>
                <c:pt idx="219">
                  <c:v>9.7</c:v>
                </c:pt>
                <c:pt idx="220">
                  <c:v>9.39</c:v>
                </c:pt>
                <c:pt idx="221">
                  <c:v>9.42</c:v>
                </c:pt>
                <c:pt idx="222">
                  <c:v>9.65</c:v>
                </c:pt>
                <c:pt idx="223">
                  <c:v>9.89</c:v>
                </c:pt>
                <c:pt idx="224">
                  <c:v>9.76</c:v>
                </c:pt>
                <c:pt idx="225">
                  <c:v>9.64</c:v>
                </c:pt>
                <c:pt idx="226">
                  <c:v>9.89</c:v>
                </c:pt>
                <c:pt idx="227">
                  <c:v>9.95</c:v>
                </c:pt>
                <c:pt idx="228">
                  <c:v>9.85</c:v>
                </c:pt>
                <c:pt idx="229">
                  <c:v>9.33</c:v>
                </c:pt>
                <c:pt idx="230">
                  <c:v>9.08</c:v>
                </c:pt>
                <c:pt idx="231">
                  <c:v>9.25</c:v>
                </c:pt>
                <c:pt idx="232">
                  <c:v>9.09</c:v>
                </c:pt>
                <c:pt idx="233">
                  <c:v>9.05</c:v>
                </c:pt>
                <c:pt idx="234">
                  <c:v>9.14</c:v>
                </c:pt>
                <c:pt idx="235">
                  <c:v>9.09</c:v>
                </c:pt>
                <c:pt idx="236">
                  <c:v>9.3</c:v>
                </c:pt>
                <c:pt idx="237">
                  <c:v>9.35</c:v>
                </c:pt>
                <c:pt idx="238">
                  <c:v>9.71</c:v>
                </c:pt>
                <c:pt idx="239">
                  <c:v>9.41</c:v>
                </c:pt>
                <c:pt idx="240">
                  <c:v>9.68</c:v>
                </c:pt>
                <c:pt idx="241">
                  <c:v>9.64</c:v>
                </c:pt>
                <c:pt idx="242">
                  <c:v>9.36</c:v>
                </c:pt>
                <c:pt idx="243">
                  <c:v>9.55</c:v>
                </c:pt>
                <c:pt idx="244">
                  <c:v>9.53</c:v>
                </c:pt>
                <c:pt idx="245">
                  <c:v>9.52</c:v>
                </c:pt>
                <c:pt idx="246">
                  <c:v>9.78</c:v>
                </c:pt>
                <c:pt idx="247">
                  <c:v>9.95</c:v>
                </c:pt>
                <c:pt idx="248">
                  <c:v>10.06</c:v>
                </c:pt>
                <c:pt idx="249">
                  <c:v>10.05</c:v>
                </c:pt>
                <c:pt idx="250">
                  <c:v>9.86</c:v>
                </c:pt>
                <c:pt idx="251">
                  <c:v>9.48</c:v>
                </c:pt>
                <c:pt idx="252">
                  <c:v>9.18</c:v>
                </c:pt>
                <c:pt idx="253">
                  <c:v>9.17</c:v>
                </c:pt>
                <c:pt idx="254">
                  <c:v>8.81</c:v>
                </c:pt>
                <c:pt idx="255">
                  <c:v>8.94</c:v>
                </c:pt>
                <c:pt idx="256">
                  <c:v>9.09</c:v>
                </c:pt>
                <c:pt idx="257">
                  <c:v>9.09</c:v>
                </c:pt>
                <c:pt idx="258">
                  <c:v>8.84</c:v>
                </c:pt>
                <c:pt idx="259">
                  <c:v>9.2</c:v>
                </c:pt>
                <c:pt idx="260">
                  <c:v>9.21</c:v>
                </c:pt>
                <c:pt idx="261">
                  <c:v>9.15</c:v>
                </c:pt>
                <c:pt idx="262">
                  <c:v>9.06</c:v>
                </c:pt>
                <c:pt idx="263">
                  <c:v>8.86</c:v>
                </c:pt>
                <c:pt idx="264">
                  <c:v>8.46</c:v>
                </c:pt>
                <c:pt idx="265">
                  <c:v>8.37</c:v>
                </c:pt>
                <c:pt idx="266">
                  <c:v>8.57</c:v>
                </c:pt>
                <c:pt idx="267">
                  <c:v>8.82</c:v>
                </c:pt>
                <c:pt idx="268">
                  <c:v>8.86</c:v>
                </c:pt>
                <c:pt idx="269">
                  <c:v>8.68</c:v>
                </c:pt>
                <c:pt idx="270">
                  <c:v>8.74</c:v>
                </c:pt>
                <c:pt idx="271">
                  <c:v>8.68</c:v>
                </c:pt>
                <c:pt idx="272">
                  <c:v>8.44</c:v>
                </c:pt>
                <c:pt idx="273">
                  <c:v>8.65</c:v>
                </c:pt>
                <c:pt idx="274">
                  <c:v>8.74</c:v>
                </c:pt>
                <c:pt idx="275">
                  <c:v>9.15</c:v>
                </c:pt>
                <c:pt idx="276">
                  <c:v>9.09</c:v>
                </c:pt>
                <c:pt idx="277">
                  <c:v>8.71</c:v>
                </c:pt>
                <c:pt idx="278">
                  <c:v>8.6</c:v>
                </c:pt>
                <c:pt idx="279">
                  <c:v>8.61</c:v>
                </c:pt>
              </c:numCache>
            </c:numRef>
          </c:yVal>
          <c:smooth val="0"/>
        </c:ser>
        <c:ser>
          <c:idx val="2"/>
          <c:order val="2"/>
          <c:tx>
            <c:strRef>
              <c:f>Sheet1!$B$565</c:f>
              <c:strCache>
                <c:ptCount val="1"/>
                <c:pt idx="0">
                  <c:v>IMU speed × learnt scale</c:v>
                </c:pt>
              </c:strCache>
            </c:strRef>
          </c:tx>
          <c:spPr>
            <a:ln w="19050">
              <a:solidFill>
                <a:srgbClr val="8A99A3"/>
              </a:solidFill>
              <a:prstDash val="dash"/>
            </a:ln>
          </c:spPr>
          <c:marker>
            <c:symbol val="none"/>
          </c:marker>
          <c:xVal>
            <c:numRef>
              <c:f>Sheet1!$A$566:$A$845</c:f>
              <c:numCache>
                <c:formatCode>General</c:formatCode>
                <c:ptCount val="280"/>
                <c:pt idx="0">
                  <c:v>0.0</c:v>
                </c:pt>
                <c:pt idx="1">
                  <c:v>0.036</c:v>
                </c:pt>
                <c:pt idx="2">
                  <c:v>0.072</c:v>
                </c:pt>
                <c:pt idx="3">
                  <c:v>0.108</c:v>
                </c:pt>
                <c:pt idx="4">
                  <c:v>0.144</c:v>
                </c:pt>
                <c:pt idx="5">
                  <c:v>0.18</c:v>
                </c:pt>
                <c:pt idx="6">
                  <c:v>0.216</c:v>
                </c:pt>
                <c:pt idx="7">
                  <c:v>0.252</c:v>
                </c:pt>
                <c:pt idx="8">
                  <c:v>0.288</c:v>
                </c:pt>
                <c:pt idx="9">
                  <c:v>0.324</c:v>
                </c:pt>
                <c:pt idx="10">
                  <c:v>0.36</c:v>
                </c:pt>
                <c:pt idx="11">
                  <c:v>0.396</c:v>
                </c:pt>
                <c:pt idx="12">
                  <c:v>0.432</c:v>
                </c:pt>
                <c:pt idx="13">
                  <c:v>0.468</c:v>
                </c:pt>
                <c:pt idx="14">
                  <c:v>0.504</c:v>
                </c:pt>
                <c:pt idx="15">
                  <c:v>0.54</c:v>
                </c:pt>
                <c:pt idx="16">
                  <c:v>0.575</c:v>
                </c:pt>
                <c:pt idx="17">
                  <c:v>0.612</c:v>
                </c:pt>
                <c:pt idx="18">
                  <c:v>0.648</c:v>
                </c:pt>
                <c:pt idx="19">
                  <c:v>0.684</c:v>
                </c:pt>
                <c:pt idx="20">
                  <c:v>0.719</c:v>
                </c:pt>
                <c:pt idx="21">
                  <c:v>0.756</c:v>
                </c:pt>
                <c:pt idx="22">
                  <c:v>0.792</c:v>
                </c:pt>
                <c:pt idx="23">
                  <c:v>0.828</c:v>
                </c:pt>
                <c:pt idx="24">
                  <c:v>0.864</c:v>
                </c:pt>
                <c:pt idx="25">
                  <c:v>0.9</c:v>
                </c:pt>
                <c:pt idx="26">
                  <c:v>0.936</c:v>
                </c:pt>
                <c:pt idx="27">
                  <c:v>0.972</c:v>
                </c:pt>
                <c:pt idx="28">
                  <c:v>1.008</c:v>
                </c:pt>
                <c:pt idx="29">
                  <c:v>1.044</c:v>
                </c:pt>
                <c:pt idx="30">
                  <c:v>1.079</c:v>
                </c:pt>
                <c:pt idx="31">
                  <c:v>1.115</c:v>
                </c:pt>
                <c:pt idx="32">
                  <c:v>1.151</c:v>
                </c:pt>
                <c:pt idx="33">
                  <c:v>1.187</c:v>
                </c:pt>
                <c:pt idx="34">
                  <c:v>1.223</c:v>
                </c:pt>
                <c:pt idx="35">
                  <c:v>1.259</c:v>
                </c:pt>
                <c:pt idx="36">
                  <c:v>1.296</c:v>
                </c:pt>
                <c:pt idx="37">
                  <c:v>1.331</c:v>
                </c:pt>
                <c:pt idx="38">
                  <c:v>1.367</c:v>
                </c:pt>
                <c:pt idx="39">
                  <c:v>1.403</c:v>
                </c:pt>
                <c:pt idx="40">
                  <c:v>1.439</c:v>
                </c:pt>
                <c:pt idx="41">
                  <c:v>1.475</c:v>
                </c:pt>
                <c:pt idx="42">
                  <c:v>1.511</c:v>
                </c:pt>
                <c:pt idx="43">
                  <c:v>1.547</c:v>
                </c:pt>
                <c:pt idx="44">
                  <c:v>1.583</c:v>
                </c:pt>
                <c:pt idx="45">
                  <c:v>1.619</c:v>
                </c:pt>
                <c:pt idx="46">
                  <c:v>1.655</c:v>
                </c:pt>
                <c:pt idx="47">
                  <c:v>1.691</c:v>
                </c:pt>
                <c:pt idx="48">
                  <c:v>1.727</c:v>
                </c:pt>
                <c:pt idx="49">
                  <c:v>1.763</c:v>
                </c:pt>
                <c:pt idx="50">
                  <c:v>1.799</c:v>
                </c:pt>
                <c:pt idx="51">
                  <c:v>1.835</c:v>
                </c:pt>
                <c:pt idx="52">
                  <c:v>1.871</c:v>
                </c:pt>
                <c:pt idx="53">
                  <c:v>1.907</c:v>
                </c:pt>
                <c:pt idx="54">
                  <c:v>1.943</c:v>
                </c:pt>
                <c:pt idx="55">
                  <c:v>1.979</c:v>
                </c:pt>
                <c:pt idx="56">
                  <c:v>2.015</c:v>
                </c:pt>
                <c:pt idx="57">
                  <c:v>2.051</c:v>
                </c:pt>
                <c:pt idx="58">
                  <c:v>2.087</c:v>
                </c:pt>
                <c:pt idx="59">
                  <c:v>2.123</c:v>
                </c:pt>
                <c:pt idx="60">
                  <c:v>2.159</c:v>
                </c:pt>
                <c:pt idx="61">
                  <c:v>2.195</c:v>
                </c:pt>
                <c:pt idx="62">
                  <c:v>2.231</c:v>
                </c:pt>
                <c:pt idx="63">
                  <c:v>2.267</c:v>
                </c:pt>
                <c:pt idx="64">
                  <c:v>2.303</c:v>
                </c:pt>
                <c:pt idx="65">
                  <c:v>2.339</c:v>
                </c:pt>
                <c:pt idx="66">
                  <c:v>2.375</c:v>
                </c:pt>
                <c:pt idx="67">
                  <c:v>2.411</c:v>
                </c:pt>
                <c:pt idx="68">
                  <c:v>2.447</c:v>
                </c:pt>
                <c:pt idx="69">
                  <c:v>2.483</c:v>
                </c:pt>
                <c:pt idx="70">
                  <c:v>2.519</c:v>
                </c:pt>
                <c:pt idx="71">
                  <c:v>2.555</c:v>
                </c:pt>
                <c:pt idx="72">
                  <c:v>2.591</c:v>
                </c:pt>
                <c:pt idx="73">
                  <c:v>2.627</c:v>
                </c:pt>
                <c:pt idx="74">
                  <c:v>2.663</c:v>
                </c:pt>
                <c:pt idx="75">
                  <c:v>2.699</c:v>
                </c:pt>
                <c:pt idx="76">
                  <c:v>2.735</c:v>
                </c:pt>
                <c:pt idx="77">
                  <c:v>2.771</c:v>
                </c:pt>
                <c:pt idx="78">
                  <c:v>2.807</c:v>
                </c:pt>
                <c:pt idx="79">
                  <c:v>2.843</c:v>
                </c:pt>
                <c:pt idx="80">
                  <c:v>2.879</c:v>
                </c:pt>
                <c:pt idx="81">
                  <c:v>2.915</c:v>
                </c:pt>
                <c:pt idx="82">
                  <c:v>2.951</c:v>
                </c:pt>
                <c:pt idx="83">
                  <c:v>2.987</c:v>
                </c:pt>
                <c:pt idx="84">
                  <c:v>3.023</c:v>
                </c:pt>
                <c:pt idx="85">
                  <c:v>3.059</c:v>
                </c:pt>
                <c:pt idx="86">
                  <c:v>3.095</c:v>
                </c:pt>
                <c:pt idx="87">
                  <c:v>3.131</c:v>
                </c:pt>
                <c:pt idx="88">
                  <c:v>3.167</c:v>
                </c:pt>
                <c:pt idx="89">
                  <c:v>3.203</c:v>
                </c:pt>
                <c:pt idx="90">
                  <c:v>3.239</c:v>
                </c:pt>
                <c:pt idx="91">
                  <c:v>3.275</c:v>
                </c:pt>
                <c:pt idx="92">
                  <c:v>3.311</c:v>
                </c:pt>
                <c:pt idx="93">
                  <c:v>3.347</c:v>
                </c:pt>
                <c:pt idx="94">
                  <c:v>3.383</c:v>
                </c:pt>
                <c:pt idx="95">
                  <c:v>3.419</c:v>
                </c:pt>
                <c:pt idx="96">
                  <c:v>3.455</c:v>
                </c:pt>
                <c:pt idx="97">
                  <c:v>3.491</c:v>
                </c:pt>
                <c:pt idx="98">
                  <c:v>3.527</c:v>
                </c:pt>
                <c:pt idx="99">
                  <c:v>3.563</c:v>
                </c:pt>
                <c:pt idx="100">
                  <c:v>3.599</c:v>
                </c:pt>
                <c:pt idx="101">
                  <c:v>3.635</c:v>
                </c:pt>
                <c:pt idx="102">
                  <c:v>3.671</c:v>
                </c:pt>
                <c:pt idx="103">
                  <c:v>3.707</c:v>
                </c:pt>
                <c:pt idx="104">
                  <c:v>3.743</c:v>
                </c:pt>
                <c:pt idx="105">
                  <c:v>3.779</c:v>
                </c:pt>
                <c:pt idx="106">
                  <c:v>3.815</c:v>
                </c:pt>
                <c:pt idx="107">
                  <c:v>3.851</c:v>
                </c:pt>
                <c:pt idx="108">
                  <c:v>3.886</c:v>
                </c:pt>
                <c:pt idx="109">
                  <c:v>3.922</c:v>
                </c:pt>
                <c:pt idx="110">
                  <c:v>3.959</c:v>
                </c:pt>
                <c:pt idx="111">
                  <c:v>3.994</c:v>
                </c:pt>
                <c:pt idx="112">
                  <c:v>4.03</c:v>
                </c:pt>
                <c:pt idx="113">
                  <c:v>4.066</c:v>
                </c:pt>
                <c:pt idx="114">
                  <c:v>4.102</c:v>
                </c:pt>
                <c:pt idx="115">
                  <c:v>4.138</c:v>
                </c:pt>
                <c:pt idx="116">
                  <c:v>4.174</c:v>
                </c:pt>
                <c:pt idx="117">
                  <c:v>4.21</c:v>
                </c:pt>
                <c:pt idx="118">
                  <c:v>4.246</c:v>
                </c:pt>
                <c:pt idx="119">
                  <c:v>4.282</c:v>
                </c:pt>
                <c:pt idx="120">
                  <c:v>4.318</c:v>
                </c:pt>
                <c:pt idx="121">
                  <c:v>4.354</c:v>
                </c:pt>
                <c:pt idx="122">
                  <c:v>4.39</c:v>
                </c:pt>
                <c:pt idx="123">
                  <c:v>4.426</c:v>
                </c:pt>
                <c:pt idx="124">
                  <c:v>4.462</c:v>
                </c:pt>
                <c:pt idx="125">
                  <c:v>4.498</c:v>
                </c:pt>
                <c:pt idx="126">
                  <c:v>4.534</c:v>
                </c:pt>
                <c:pt idx="127">
                  <c:v>4.57</c:v>
                </c:pt>
                <c:pt idx="128">
                  <c:v>4.606</c:v>
                </c:pt>
                <c:pt idx="129">
                  <c:v>4.642</c:v>
                </c:pt>
                <c:pt idx="130">
                  <c:v>4.678</c:v>
                </c:pt>
                <c:pt idx="131">
                  <c:v>4.715</c:v>
                </c:pt>
                <c:pt idx="132">
                  <c:v>4.75</c:v>
                </c:pt>
                <c:pt idx="133">
                  <c:v>4.786</c:v>
                </c:pt>
                <c:pt idx="134">
                  <c:v>4.822</c:v>
                </c:pt>
                <c:pt idx="135">
                  <c:v>4.858</c:v>
                </c:pt>
                <c:pt idx="136">
                  <c:v>4.894</c:v>
                </c:pt>
                <c:pt idx="137">
                  <c:v>4.93</c:v>
                </c:pt>
                <c:pt idx="138">
                  <c:v>4.966</c:v>
                </c:pt>
                <c:pt idx="139">
                  <c:v>5.002</c:v>
                </c:pt>
                <c:pt idx="140">
                  <c:v>5.038</c:v>
                </c:pt>
                <c:pt idx="141">
                  <c:v>5.074</c:v>
                </c:pt>
                <c:pt idx="142">
                  <c:v>5.11</c:v>
                </c:pt>
                <c:pt idx="143">
                  <c:v>5.146</c:v>
                </c:pt>
                <c:pt idx="144">
                  <c:v>5.182</c:v>
                </c:pt>
                <c:pt idx="145">
                  <c:v>5.218</c:v>
                </c:pt>
                <c:pt idx="146">
                  <c:v>5.254</c:v>
                </c:pt>
                <c:pt idx="147">
                  <c:v>5.29</c:v>
                </c:pt>
                <c:pt idx="148">
                  <c:v>5.326</c:v>
                </c:pt>
                <c:pt idx="149">
                  <c:v>5.362</c:v>
                </c:pt>
                <c:pt idx="150">
                  <c:v>5.398</c:v>
                </c:pt>
                <c:pt idx="151">
                  <c:v>5.434</c:v>
                </c:pt>
                <c:pt idx="152">
                  <c:v>5.47</c:v>
                </c:pt>
                <c:pt idx="153">
                  <c:v>5.506</c:v>
                </c:pt>
                <c:pt idx="154">
                  <c:v>5.542</c:v>
                </c:pt>
                <c:pt idx="155">
                  <c:v>5.578</c:v>
                </c:pt>
                <c:pt idx="156">
                  <c:v>5.614</c:v>
                </c:pt>
                <c:pt idx="157">
                  <c:v>5.65</c:v>
                </c:pt>
                <c:pt idx="158">
                  <c:v>5.686</c:v>
                </c:pt>
                <c:pt idx="159">
                  <c:v>5.722</c:v>
                </c:pt>
                <c:pt idx="160">
                  <c:v>5.758</c:v>
                </c:pt>
                <c:pt idx="161">
                  <c:v>5.794</c:v>
                </c:pt>
                <c:pt idx="162">
                  <c:v>5.83</c:v>
                </c:pt>
                <c:pt idx="163">
                  <c:v>5.866</c:v>
                </c:pt>
                <c:pt idx="164">
                  <c:v>5.902</c:v>
                </c:pt>
                <c:pt idx="165">
                  <c:v>5.938</c:v>
                </c:pt>
                <c:pt idx="166">
                  <c:v>5.974</c:v>
                </c:pt>
                <c:pt idx="167">
                  <c:v>6.01</c:v>
                </c:pt>
                <c:pt idx="168">
                  <c:v>6.046</c:v>
                </c:pt>
                <c:pt idx="169">
                  <c:v>6.082</c:v>
                </c:pt>
                <c:pt idx="170">
                  <c:v>6.118</c:v>
                </c:pt>
                <c:pt idx="171">
                  <c:v>6.154</c:v>
                </c:pt>
                <c:pt idx="172">
                  <c:v>6.19</c:v>
                </c:pt>
                <c:pt idx="173">
                  <c:v>6.226</c:v>
                </c:pt>
                <c:pt idx="174">
                  <c:v>6.262</c:v>
                </c:pt>
                <c:pt idx="175">
                  <c:v>6.298</c:v>
                </c:pt>
                <c:pt idx="176">
                  <c:v>6.334</c:v>
                </c:pt>
                <c:pt idx="177">
                  <c:v>6.37</c:v>
                </c:pt>
                <c:pt idx="178">
                  <c:v>6.406</c:v>
                </c:pt>
                <c:pt idx="179">
                  <c:v>6.442</c:v>
                </c:pt>
                <c:pt idx="180">
                  <c:v>6.478</c:v>
                </c:pt>
                <c:pt idx="181">
                  <c:v>6.514</c:v>
                </c:pt>
                <c:pt idx="182">
                  <c:v>6.55</c:v>
                </c:pt>
                <c:pt idx="183">
                  <c:v>6.586</c:v>
                </c:pt>
                <c:pt idx="184">
                  <c:v>6.622</c:v>
                </c:pt>
                <c:pt idx="185">
                  <c:v>6.658</c:v>
                </c:pt>
                <c:pt idx="186">
                  <c:v>6.694</c:v>
                </c:pt>
                <c:pt idx="187">
                  <c:v>6.729</c:v>
                </c:pt>
                <c:pt idx="188">
                  <c:v>6.766</c:v>
                </c:pt>
                <c:pt idx="189">
                  <c:v>6.801</c:v>
                </c:pt>
                <c:pt idx="190">
                  <c:v>6.837</c:v>
                </c:pt>
                <c:pt idx="191">
                  <c:v>6.874</c:v>
                </c:pt>
                <c:pt idx="192">
                  <c:v>6.909</c:v>
                </c:pt>
                <c:pt idx="193">
                  <c:v>6.945</c:v>
                </c:pt>
                <c:pt idx="194">
                  <c:v>6.981</c:v>
                </c:pt>
                <c:pt idx="195">
                  <c:v>7.017</c:v>
                </c:pt>
                <c:pt idx="196">
                  <c:v>7.053</c:v>
                </c:pt>
                <c:pt idx="197">
                  <c:v>7.089</c:v>
                </c:pt>
                <c:pt idx="198">
                  <c:v>7.125</c:v>
                </c:pt>
                <c:pt idx="199">
                  <c:v>7.161</c:v>
                </c:pt>
                <c:pt idx="200">
                  <c:v>7.197</c:v>
                </c:pt>
                <c:pt idx="201">
                  <c:v>7.233</c:v>
                </c:pt>
                <c:pt idx="202">
                  <c:v>7.269</c:v>
                </c:pt>
                <c:pt idx="203">
                  <c:v>7.305</c:v>
                </c:pt>
                <c:pt idx="204">
                  <c:v>7.341</c:v>
                </c:pt>
                <c:pt idx="205">
                  <c:v>7.377</c:v>
                </c:pt>
                <c:pt idx="206">
                  <c:v>7.413</c:v>
                </c:pt>
                <c:pt idx="207">
                  <c:v>7.449</c:v>
                </c:pt>
                <c:pt idx="208">
                  <c:v>7.485</c:v>
                </c:pt>
                <c:pt idx="209">
                  <c:v>7.521</c:v>
                </c:pt>
                <c:pt idx="210">
                  <c:v>7.557</c:v>
                </c:pt>
                <c:pt idx="211">
                  <c:v>7.593</c:v>
                </c:pt>
                <c:pt idx="212">
                  <c:v>7.629</c:v>
                </c:pt>
                <c:pt idx="213">
                  <c:v>7.665</c:v>
                </c:pt>
                <c:pt idx="214">
                  <c:v>7.701</c:v>
                </c:pt>
                <c:pt idx="215">
                  <c:v>7.737</c:v>
                </c:pt>
                <c:pt idx="216">
                  <c:v>7.773</c:v>
                </c:pt>
                <c:pt idx="217">
                  <c:v>7.809</c:v>
                </c:pt>
                <c:pt idx="218">
                  <c:v>7.845</c:v>
                </c:pt>
                <c:pt idx="219">
                  <c:v>7.881</c:v>
                </c:pt>
                <c:pt idx="220">
                  <c:v>7.917</c:v>
                </c:pt>
                <c:pt idx="221">
                  <c:v>7.953</c:v>
                </c:pt>
                <c:pt idx="222">
                  <c:v>7.989</c:v>
                </c:pt>
                <c:pt idx="223">
                  <c:v>8.025</c:v>
                </c:pt>
                <c:pt idx="224">
                  <c:v>8.061</c:v>
                </c:pt>
                <c:pt idx="225">
                  <c:v>8.097</c:v>
                </c:pt>
                <c:pt idx="226">
                  <c:v>8.133</c:v>
                </c:pt>
                <c:pt idx="227">
                  <c:v>8.169</c:v>
                </c:pt>
                <c:pt idx="228">
                  <c:v>8.205</c:v>
                </c:pt>
                <c:pt idx="229">
                  <c:v>8.241</c:v>
                </c:pt>
                <c:pt idx="230">
                  <c:v>8.277</c:v>
                </c:pt>
                <c:pt idx="231">
                  <c:v>8.313</c:v>
                </c:pt>
                <c:pt idx="232">
                  <c:v>8.349</c:v>
                </c:pt>
                <c:pt idx="233">
                  <c:v>8.385</c:v>
                </c:pt>
                <c:pt idx="234">
                  <c:v>8.421</c:v>
                </c:pt>
                <c:pt idx="235">
                  <c:v>8.457</c:v>
                </c:pt>
                <c:pt idx="236">
                  <c:v>8.493</c:v>
                </c:pt>
                <c:pt idx="237">
                  <c:v>8.529</c:v>
                </c:pt>
                <c:pt idx="238">
                  <c:v>8.565</c:v>
                </c:pt>
                <c:pt idx="239">
                  <c:v>8.601</c:v>
                </c:pt>
                <c:pt idx="240">
                  <c:v>8.637</c:v>
                </c:pt>
                <c:pt idx="241">
                  <c:v>8.673</c:v>
                </c:pt>
                <c:pt idx="242">
                  <c:v>8.709</c:v>
                </c:pt>
                <c:pt idx="243">
                  <c:v>8.745</c:v>
                </c:pt>
                <c:pt idx="244">
                  <c:v>8.781</c:v>
                </c:pt>
                <c:pt idx="245">
                  <c:v>8.817</c:v>
                </c:pt>
                <c:pt idx="246">
                  <c:v>8.853</c:v>
                </c:pt>
                <c:pt idx="247">
                  <c:v>8.889</c:v>
                </c:pt>
                <c:pt idx="248">
                  <c:v>8.925</c:v>
                </c:pt>
                <c:pt idx="249">
                  <c:v>8.961</c:v>
                </c:pt>
                <c:pt idx="250">
                  <c:v>8.997</c:v>
                </c:pt>
                <c:pt idx="251">
                  <c:v>9.033</c:v>
                </c:pt>
                <c:pt idx="252">
                  <c:v>9.069</c:v>
                </c:pt>
                <c:pt idx="253">
                  <c:v>9.105</c:v>
                </c:pt>
                <c:pt idx="254">
                  <c:v>9.141</c:v>
                </c:pt>
                <c:pt idx="255">
                  <c:v>9.177</c:v>
                </c:pt>
                <c:pt idx="256">
                  <c:v>9.213</c:v>
                </c:pt>
                <c:pt idx="257">
                  <c:v>9.249</c:v>
                </c:pt>
                <c:pt idx="258">
                  <c:v>9.285</c:v>
                </c:pt>
                <c:pt idx="259">
                  <c:v>9.321</c:v>
                </c:pt>
                <c:pt idx="260">
                  <c:v>9.357</c:v>
                </c:pt>
                <c:pt idx="261">
                  <c:v>9.393</c:v>
                </c:pt>
                <c:pt idx="262">
                  <c:v>9.428</c:v>
                </c:pt>
                <c:pt idx="263">
                  <c:v>9.465</c:v>
                </c:pt>
                <c:pt idx="264">
                  <c:v>9.501</c:v>
                </c:pt>
                <c:pt idx="265">
                  <c:v>9.537</c:v>
                </c:pt>
                <c:pt idx="266">
                  <c:v>9.573</c:v>
                </c:pt>
                <c:pt idx="267">
                  <c:v>9.608</c:v>
                </c:pt>
                <c:pt idx="268">
                  <c:v>9.644</c:v>
                </c:pt>
                <c:pt idx="269">
                  <c:v>9.68</c:v>
                </c:pt>
                <c:pt idx="270">
                  <c:v>9.717</c:v>
                </c:pt>
                <c:pt idx="271">
                  <c:v>9.752</c:v>
                </c:pt>
                <c:pt idx="272">
                  <c:v>9.788</c:v>
                </c:pt>
                <c:pt idx="273">
                  <c:v>9.824</c:v>
                </c:pt>
                <c:pt idx="274">
                  <c:v>9.86</c:v>
                </c:pt>
                <c:pt idx="275">
                  <c:v>9.896</c:v>
                </c:pt>
                <c:pt idx="276">
                  <c:v>9.932</c:v>
                </c:pt>
                <c:pt idx="277">
                  <c:v>9.968</c:v>
                </c:pt>
                <c:pt idx="278">
                  <c:v>10.004</c:v>
                </c:pt>
                <c:pt idx="279">
                  <c:v>10.04</c:v>
                </c:pt>
              </c:numCache>
            </c:numRef>
          </c:xVal>
          <c:yVal>
            <c:numRef>
              <c:f>Sheet1!$B$566:$B$845</c:f>
              <c:numCache>
                <c:formatCode>General</c:formatCode>
                <c:ptCount val="280"/>
                <c:pt idx="0">
                  <c:v>9.83</c:v>
                </c:pt>
                <c:pt idx="1">
                  <c:v>9.86</c:v>
                </c:pt>
                <c:pt idx="2">
                  <c:v>9.89</c:v>
                </c:pt>
                <c:pt idx="3">
                  <c:v>9.93</c:v>
                </c:pt>
                <c:pt idx="4">
                  <c:v>9.97</c:v>
                </c:pt>
                <c:pt idx="5">
                  <c:v>10.0</c:v>
                </c:pt>
                <c:pt idx="6">
                  <c:v>10.03</c:v>
                </c:pt>
                <c:pt idx="7">
                  <c:v>10.07</c:v>
                </c:pt>
                <c:pt idx="8">
                  <c:v>10.1</c:v>
                </c:pt>
                <c:pt idx="9">
                  <c:v>10.14</c:v>
                </c:pt>
                <c:pt idx="10">
                  <c:v>10.17</c:v>
                </c:pt>
                <c:pt idx="11">
                  <c:v>10.21</c:v>
                </c:pt>
                <c:pt idx="12">
                  <c:v>10.24</c:v>
                </c:pt>
                <c:pt idx="13">
                  <c:v>10.27</c:v>
                </c:pt>
                <c:pt idx="14">
                  <c:v>10.3</c:v>
                </c:pt>
                <c:pt idx="15">
                  <c:v>10.31</c:v>
                </c:pt>
                <c:pt idx="16">
                  <c:v>10.35</c:v>
                </c:pt>
                <c:pt idx="17">
                  <c:v>10.35</c:v>
                </c:pt>
                <c:pt idx="18">
                  <c:v>10.34</c:v>
                </c:pt>
                <c:pt idx="19">
                  <c:v>10.33</c:v>
                </c:pt>
                <c:pt idx="20">
                  <c:v>10.32</c:v>
                </c:pt>
                <c:pt idx="21">
                  <c:v>10.28</c:v>
                </c:pt>
                <c:pt idx="22">
                  <c:v>10.25</c:v>
                </c:pt>
                <c:pt idx="23">
                  <c:v>10.21</c:v>
                </c:pt>
                <c:pt idx="24">
                  <c:v>10.2</c:v>
                </c:pt>
                <c:pt idx="25">
                  <c:v>10.19</c:v>
                </c:pt>
                <c:pt idx="26">
                  <c:v>10.17</c:v>
                </c:pt>
                <c:pt idx="27">
                  <c:v>10.14</c:v>
                </c:pt>
                <c:pt idx="28">
                  <c:v>10.13</c:v>
                </c:pt>
                <c:pt idx="29">
                  <c:v>10.1</c:v>
                </c:pt>
                <c:pt idx="30">
                  <c:v>10.08</c:v>
                </c:pt>
                <c:pt idx="31">
                  <c:v>10.05</c:v>
                </c:pt>
                <c:pt idx="32">
                  <c:v>10.0</c:v>
                </c:pt>
                <c:pt idx="33">
                  <c:v>9.96</c:v>
                </c:pt>
                <c:pt idx="34">
                  <c:v>9.93</c:v>
                </c:pt>
                <c:pt idx="35">
                  <c:v>9.89</c:v>
                </c:pt>
                <c:pt idx="36">
                  <c:v>9.85</c:v>
                </c:pt>
                <c:pt idx="37">
                  <c:v>9.82</c:v>
                </c:pt>
                <c:pt idx="38">
                  <c:v>9.78</c:v>
                </c:pt>
                <c:pt idx="39">
                  <c:v>9.75</c:v>
                </c:pt>
                <c:pt idx="40">
                  <c:v>9.72</c:v>
                </c:pt>
                <c:pt idx="41">
                  <c:v>9.69</c:v>
                </c:pt>
                <c:pt idx="42">
                  <c:v>9.63</c:v>
                </c:pt>
                <c:pt idx="43">
                  <c:v>9.55</c:v>
                </c:pt>
                <c:pt idx="44">
                  <c:v>9.48</c:v>
                </c:pt>
                <c:pt idx="45">
                  <c:v>9.42</c:v>
                </c:pt>
                <c:pt idx="46">
                  <c:v>9.36</c:v>
                </c:pt>
                <c:pt idx="47">
                  <c:v>9.29</c:v>
                </c:pt>
                <c:pt idx="48">
                  <c:v>9.2</c:v>
                </c:pt>
                <c:pt idx="49">
                  <c:v>9.09</c:v>
                </c:pt>
                <c:pt idx="50">
                  <c:v>9.06</c:v>
                </c:pt>
                <c:pt idx="51">
                  <c:v>9.04</c:v>
                </c:pt>
                <c:pt idx="52">
                  <c:v>9.04</c:v>
                </c:pt>
                <c:pt idx="53">
                  <c:v>9.04</c:v>
                </c:pt>
                <c:pt idx="54">
                  <c:v>9.02</c:v>
                </c:pt>
                <c:pt idx="55">
                  <c:v>9.01</c:v>
                </c:pt>
                <c:pt idx="56">
                  <c:v>9.0</c:v>
                </c:pt>
                <c:pt idx="57">
                  <c:v>8.99</c:v>
                </c:pt>
                <c:pt idx="58">
                  <c:v>8.99</c:v>
                </c:pt>
                <c:pt idx="59">
                  <c:v>8.99</c:v>
                </c:pt>
                <c:pt idx="60">
                  <c:v>9.01</c:v>
                </c:pt>
                <c:pt idx="61">
                  <c:v>9.04</c:v>
                </c:pt>
                <c:pt idx="62">
                  <c:v>9.04</c:v>
                </c:pt>
                <c:pt idx="63">
                  <c:v>9.01</c:v>
                </c:pt>
                <c:pt idx="64">
                  <c:v>9.0</c:v>
                </c:pt>
                <c:pt idx="65">
                  <c:v>8.98</c:v>
                </c:pt>
                <c:pt idx="66">
                  <c:v>8.96</c:v>
                </c:pt>
                <c:pt idx="67">
                  <c:v>8.92</c:v>
                </c:pt>
                <c:pt idx="68">
                  <c:v>8.86</c:v>
                </c:pt>
                <c:pt idx="69">
                  <c:v>8.78</c:v>
                </c:pt>
                <c:pt idx="70">
                  <c:v>8.7</c:v>
                </c:pt>
                <c:pt idx="71">
                  <c:v>8.66</c:v>
                </c:pt>
                <c:pt idx="72">
                  <c:v>8.63</c:v>
                </c:pt>
                <c:pt idx="73">
                  <c:v>8.63</c:v>
                </c:pt>
                <c:pt idx="74">
                  <c:v>8.67</c:v>
                </c:pt>
                <c:pt idx="75">
                  <c:v>8.7</c:v>
                </c:pt>
                <c:pt idx="76">
                  <c:v>8.72</c:v>
                </c:pt>
                <c:pt idx="77">
                  <c:v>8.75</c:v>
                </c:pt>
                <c:pt idx="78">
                  <c:v>8.77</c:v>
                </c:pt>
                <c:pt idx="79">
                  <c:v>8.81</c:v>
                </c:pt>
                <c:pt idx="80">
                  <c:v>8.85</c:v>
                </c:pt>
                <c:pt idx="81">
                  <c:v>8.9</c:v>
                </c:pt>
                <c:pt idx="82">
                  <c:v>8.95</c:v>
                </c:pt>
                <c:pt idx="83">
                  <c:v>9.01</c:v>
                </c:pt>
                <c:pt idx="84">
                  <c:v>9.07</c:v>
                </c:pt>
                <c:pt idx="85">
                  <c:v>9.14</c:v>
                </c:pt>
                <c:pt idx="86">
                  <c:v>9.22</c:v>
                </c:pt>
                <c:pt idx="87">
                  <c:v>9.28</c:v>
                </c:pt>
                <c:pt idx="88">
                  <c:v>9.34</c:v>
                </c:pt>
                <c:pt idx="89">
                  <c:v>9.4</c:v>
                </c:pt>
                <c:pt idx="90">
                  <c:v>9.44</c:v>
                </c:pt>
                <c:pt idx="91">
                  <c:v>9.48</c:v>
                </c:pt>
                <c:pt idx="92">
                  <c:v>9.51</c:v>
                </c:pt>
                <c:pt idx="93">
                  <c:v>9.56</c:v>
                </c:pt>
                <c:pt idx="94">
                  <c:v>9.59</c:v>
                </c:pt>
                <c:pt idx="95">
                  <c:v>9.6</c:v>
                </c:pt>
                <c:pt idx="96">
                  <c:v>9.62</c:v>
                </c:pt>
                <c:pt idx="97">
                  <c:v>9.65</c:v>
                </c:pt>
                <c:pt idx="98">
                  <c:v>9.69</c:v>
                </c:pt>
                <c:pt idx="99">
                  <c:v>9.71</c:v>
                </c:pt>
                <c:pt idx="100">
                  <c:v>9.74</c:v>
                </c:pt>
                <c:pt idx="101">
                  <c:v>9.77</c:v>
                </c:pt>
                <c:pt idx="102">
                  <c:v>9.77</c:v>
                </c:pt>
                <c:pt idx="103">
                  <c:v>9.78</c:v>
                </c:pt>
                <c:pt idx="104">
                  <c:v>9.79</c:v>
                </c:pt>
                <c:pt idx="105">
                  <c:v>9.79</c:v>
                </c:pt>
                <c:pt idx="106">
                  <c:v>9.8</c:v>
                </c:pt>
                <c:pt idx="107">
                  <c:v>9.83</c:v>
                </c:pt>
                <c:pt idx="108">
                  <c:v>9.84</c:v>
                </c:pt>
                <c:pt idx="109">
                  <c:v>9.85</c:v>
                </c:pt>
                <c:pt idx="110">
                  <c:v>9.88</c:v>
                </c:pt>
                <c:pt idx="111">
                  <c:v>9.9</c:v>
                </c:pt>
                <c:pt idx="112">
                  <c:v>9.91</c:v>
                </c:pt>
                <c:pt idx="113">
                  <c:v>9.93</c:v>
                </c:pt>
                <c:pt idx="114">
                  <c:v>9.93</c:v>
                </c:pt>
                <c:pt idx="115">
                  <c:v>9.92</c:v>
                </c:pt>
                <c:pt idx="116">
                  <c:v>9.9</c:v>
                </c:pt>
                <c:pt idx="117">
                  <c:v>9.9</c:v>
                </c:pt>
                <c:pt idx="118">
                  <c:v>9.9</c:v>
                </c:pt>
                <c:pt idx="119">
                  <c:v>9.91</c:v>
                </c:pt>
                <c:pt idx="120">
                  <c:v>9.91</c:v>
                </c:pt>
                <c:pt idx="121">
                  <c:v>9.91</c:v>
                </c:pt>
                <c:pt idx="122">
                  <c:v>9.89</c:v>
                </c:pt>
                <c:pt idx="123">
                  <c:v>9.87</c:v>
                </c:pt>
                <c:pt idx="124">
                  <c:v>9.84</c:v>
                </c:pt>
                <c:pt idx="125">
                  <c:v>9.8</c:v>
                </c:pt>
                <c:pt idx="126">
                  <c:v>9.77</c:v>
                </c:pt>
                <c:pt idx="127">
                  <c:v>9.75</c:v>
                </c:pt>
                <c:pt idx="128">
                  <c:v>9.73</c:v>
                </c:pt>
                <c:pt idx="129">
                  <c:v>9.73</c:v>
                </c:pt>
                <c:pt idx="130">
                  <c:v>9.71</c:v>
                </c:pt>
                <c:pt idx="131">
                  <c:v>9.69</c:v>
                </c:pt>
                <c:pt idx="132">
                  <c:v>9.67</c:v>
                </c:pt>
                <c:pt idx="133">
                  <c:v>9.66</c:v>
                </c:pt>
                <c:pt idx="134">
                  <c:v>9.67</c:v>
                </c:pt>
                <c:pt idx="135">
                  <c:v>9.66</c:v>
                </c:pt>
                <c:pt idx="136">
                  <c:v>9.66</c:v>
                </c:pt>
                <c:pt idx="137">
                  <c:v>9.67</c:v>
                </c:pt>
                <c:pt idx="138">
                  <c:v>9.68</c:v>
                </c:pt>
                <c:pt idx="139">
                  <c:v>9.71</c:v>
                </c:pt>
                <c:pt idx="140">
                  <c:v>9.72</c:v>
                </c:pt>
                <c:pt idx="141">
                  <c:v>9.75</c:v>
                </c:pt>
                <c:pt idx="142">
                  <c:v>9.78</c:v>
                </c:pt>
                <c:pt idx="143">
                  <c:v>9.81</c:v>
                </c:pt>
                <c:pt idx="144">
                  <c:v>9.83</c:v>
                </c:pt>
                <c:pt idx="145">
                  <c:v>9.83</c:v>
                </c:pt>
                <c:pt idx="146">
                  <c:v>9.82</c:v>
                </c:pt>
                <c:pt idx="147">
                  <c:v>9.81</c:v>
                </c:pt>
                <c:pt idx="148">
                  <c:v>9.79</c:v>
                </c:pt>
                <c:pt idx="149">
                  <c:v>9.79</c:v>
                </c:pt>
                <c:pt idx="150">
                  <c:v>9.79</c:v>
                </c:pt>
                <c:pt idx="151">
                  <c:v>9.79</c:v>
                </c:pt>
                <c:pt idx="152">
                  <c:v>9.79</c:v>
                </c:pt>
                <c:pt idx="153">
                  <c:v>9.78</c:v>
                </c:pt>
                <c:pt idx="154">
                  <c:v>9.77</c:v>
                </c:pt>
                <c:pt idx="155">
                  <c:v>9.74</c:v>
                </c:pt>
                <c:pt idx="156">
                  <c:v>9.71</c:v>
                </c:pt>
                <c:pt idx="157">
                  <c:v>9.69</c:v>
                </c:pt>
                <c:pt idx="158">
                  <c:v>9.68</c:v>
                </c:pt>
                <c:pt idx="159">
                  <c:v>9.67</c:v>
                </c:pt>
                <c:pt idx="160">
                  <c:v>9.66</c:v>
                </c:pt>
                <c:pt idx="161">
                  <c:v>9.65</c:v>
                </c:pt>
                <c:pt idx="162">
                  <c:v>9.66</c:v>
                </c:pt>
                <c:pt idx="163">
                  <c:v>9.66</c:v>
                </c:pt>
                <c:pt idx="164">
                  <c:v>9.65</c:v>
                </c:pt>
                <c:pt idx="165">
                  <c:v>9.63</c:v>
                </c:pt>
                <c:pt idx="166">
                  <c:v>9.64</c:v>
                </c:pt>
                <c:pt idx="167">
                  <c:v>9.62</c:v>
                </c:pt>
                <c:pt idx="168">
                  <c:v>9.65</c:v>
                </c:pt>
                <c:pt idx="169">
                  <c:v>9.66</c:v>
                </c:pt>
                <c:pt idx="170">
                  <c:v>9.67</c:v>
                </c:pt>
                <c:pt idx="171">
                  <c:v>9.66</c:v>
                </c:pt>
                <c:pt idx="172">
                  <c:v>9.68</c:v>
                </c:pt>
                <c:pt idx="173">
                  <c:v>9.7</c:v>
                </c:pt>
                <c:pt idx="174">
                  <c:v>9.73</c:v>
                </c:pt>
                <c:pt idx="175">
                  <c:v>9.74</c:v>
                </c:pt>
                <c:pt idx="176">
                  <c:v>9.76</c:v>
                </c:pt>
                <c:pt idx="177">
                  <c:v>9.78</c:v>
                </c:pt>
                <c:pt idx="178">
                  <c:v>9.81</c:v>
                </c:pt>
                <c:pt idx="179">
                  <c:v>9.83</c:v>
                </c:pt>
                <c:pt idx="180">
                  <c:v>9.83</c:v>
                </c:pt>
                <c:pt idx="181">
                  <c:v>9.84</c:v>
                </c:pt>
                <c:pt idx="182">
                  <c:v>9.84</c:v>
                </c:pt>
                <c:pt idx="183">
                  <c:v>9.85</c:v>
                </c:pt>
                <c:pt idx="184">
                  <c:v>9.85</c:v>
                </c:pt>
                <c:pt idx="185">
                  <c:v>9.85</c:v>
                </c:pt>
                <c:pt idx="186">
                  <c:v>9.88</c:v>
                </c:pt>
                <c:pt idx="187">
                  <c:v>9.89</c:v>
                </c:pt>
                <c:pt idx="188">
                  <c:v>9.89</c:v>
                </c:pt>
                <c:pt idx="189">
                  <c:v>9.9</c:v>
                </c:pt>
                <c:pt idx="190">
                  <c:v>9.89</c:v>
                </c:pt>
                <c:pt idx="191">
                  <c:v>9.87</c:v>
                </c:pt>
                <c:pt idx="192">
                  <c:v>9.85</c:v>
                </c:pt>
                <c:pt idx="193">
                  <c:v>9.84</c:v>
                </c:pt>
                <c:pt idx="194">
                  <c:v>9.83</c:v>
                </c:pt>
                <c:pt idx="195">
                  <c:v>9.81</c:v>
                </c:pt>
                <c:pt idx="196">
                  <c:v>9.79</c:v>
                </c:pt>
                <c:pt idx="197">
                  <c:v>9.76</c:v>
                </c:pt>
                <c:pt idx="198">
                  <c:v>9.74</c:v>
                </c:pt>
                <c:pt idx="199">
                  <c:v>9.72</c:v>
                </c:pt>
                <c:pt idx="200">
                  <c:v>9.72</c:v>
                </c:pt>
                <c:pt idx="201">
                  <c:v>9.74</c:v>
                </c:pt>
                <c:pt idx="202">
                  <c:v>9.77</c:v>
                </c:pt>
                <c:pt idx="203">
                  <c:v>9.78</c:v>
                </c:pt>
                <c:pt idx="204">
                  <c:v>9.78</c:v>
                </c:pt>
                <c:pt idx="205">
                  <c:v>9.81</c:v>
                </c:pt>
                <c:pt idx="206">
                  <c:v>9.81</c:v>
                </c:pt>
                <c:pt idx="207">
                  <c:v>9.8</c:v>
                </c:pt>
                <c:pt idx="208">
                  <c:v>9.8</c:v>
                </c:pt>
                <c:pt idx="209">
                  <c:v>9.78</c:v>
                </c:pt>
                <c:pt idx="210">
                  <c:v>9.77</c:v>
                </c:pt>
                <c:pt idx="211">
                  <c:v>9.76</c:v>
                </c:pt>
                <c:pt idx="212">
                  <c:v>9.77</c:v>
                </c:pt>
                <c:pt idx="213">
                  <c:v>9.78</c:v>
                </c:pt>
                <c:pt idx="214">
                  <c:v>9.8</c:v>
                </c:pt>
                <c:pt idx="215">
                  <c:v>9.8</c:v>
                </c:pt>
                <c:pt idx="216">
                  <c:v>9.8</c:v>
                </c:pt>
                <c:pt idx="217">
                  <c:v>9.81</c:v>
                </c:pt>
                <c:pt idx="218">
                  <c:v>9.81</c:v>
                </c:pt>
                <c:pt idx="219">
                  <c:v>9.79</c:v>
                </c:pt>
                <c:pt idx="220">
                  <c:v>9.78</c:v>
                </c:pt>
                <c:pt idx="221">
                  <c:v>9.76</c:v>
                </c:pt>
                <c:pt idx="222">
                  <c:v>9.73</c:v>
                </c:pt>
                <c:pt idx="223">
                  <c:v>9.73</c:v>
                </c:pt>
                <c:pt idx="224">
                  <c:v>9.69</c:v>
                </c:pt>
                <c:pt idx="225">
                  <c:v>9.68</c:v>
                </c:pt>
                <c:pt idx="226">
                  <c:v>9.66</c:v>
                </c:pt>
                <c:pt idx="227">
                  <c:v>9.64</c:v>
                </c:pt>
                <c:pt idx="228">
                  <c:v>9.62</c:v>
                </c:pt>
                <c:pt idx="229">
                  <c:v>9.58</c:v>
                </c:pt>
                <c:pt idx="230">
                  <c:v>9.54</c:v>
                </c:pt>
                <c:pt idx="231">
                  <c:v>9.51</c:v>
                </c:pt>
                <c:pt idx="232">
                  <c:v>9.46</c:v>
                </c:pt>
                <c:pt idx="233">
                  <c:v>9.41</c:v>
                </c:pt>
                <c:pt idx="234">
                  <c:v>9.36</c:v>
                </c:pt>
                <c:pt idx="235">
                  <c:v>9.32</c:v>
                </c:pt>
                <c:pt idx="236">
                  <c:v>9.29</c:v>
                </c:pt>
                <c:pt idx="237">
                  <c:v>9.27</c:v>
                </c:pt>
                <c:pt idx="238">
                  <c:v>9.26</c:v>
                </c:pt>
                <c:pt idx="239">
                  <c:v>9.26</c:v>
                </c:pt>
                <c:pt idx="240">
                  <c:v>9.25</c:v>
                </c:pt>
                <c:pt idx="241">
                  <c:v>9.26</c:v>
                </c:pt>
                <c:pt idx="242">
                  <c:v>9.24</c:v>
                </c:pt>
                <c:pt idx="243">
                  <c:v>9.24</c:v>
                </c:pt>
                <c:pt idx="244">
                  <c:v>9.22</c:v>
                </c:pt>
                <c:pt idx="245">
                  <c:v>9.22</c:v>
                </c:pt>
                <c:pt idx="246">
                  <c:v>9.22</c:v>
                </c:pt>
                <c:pt idx="247">
                  <c:v>9.23</c:v>
                </c:pt>
                <c:pt idx="248">
                  <c:v>9.24</c:v>
                </c:pt>
                <c:pt idx="249">
                  <c:v>9.24</c:v>
                </c:pt>
                <c:pt idx="250">
                  <c:v>9.24</c:v>
                </c:pt>
                <c:pt idx="251">
                  <c:v>9.23</c:v>
                </c:pt>
                <c:pt idx="252">
                  <c:v>9.21</c:v>
                </c:pt>
                <c:pt idx="253">
                  <c:v>9.18</c:v>
                </c:pt>
                <c:pt idx="254">
                  <c:v>9.14</c:v>
                </c:pt>
                <c:pt idx="255">
                  <c:v>9.12</c:v>
                </c:pt>
                <c:pt idx="256">
                  <c:v>9.1</c:v>
                </c:pt>
                <c:pt idx="257">
                  <c:v>9.07</c:v>
                </c:pt>
                <c:pt idx="258">
                  <c:v>9.03</c:v>
                </c:pt>
                <c:pt idx="259">
                  <c:v>9.01</c:v>
                </c:pt>
                <c:pt idx="260">
                  <c:v>8.98</c:v>
                </c:pt>
                <c:pt idx="261">
                  <c:v>8.96</c:v>
                </c:pt>
                <c:pt idx="262">
                  <c:v>8.93</c:v>
                </c:pt>
                <c:pt idx="263">
                  <c:v>8.87</c:v>
                </c:pt>
                <c:pt idx="264">
                  <c:v>8.81</c:v>
                </c:pt>
                <c:pt idx="265">
                  <c:v>8.77</c:v>
                </c:pt>
                <c:pt idx="266">
                  <c:v>8.74</c:v>
                </c:pt>
                <c:pt idx="267">
                  <c:v>8.7</c:v>
                </c:pt>
                <c:pt idx="268">
                  <c:v>8.65</c:v>
                </c:pt>
                <c:pt idx="269">
                  <c:v>8.62</c:v>
                </c:pt>
                <c:pt idx="270">
                  <c:v>8.6</c:v>
                </c:pt>
                <c:pt idx="271">
                  <c:v>8.57</c:v>
                </c:pt>
                <c:pt idx="272">
                  <c:v>8.54</c:v>
                </c:pt>
                <c:pt idx="273">
                  <c:v>8.51</c:v>
                </c:pt>
                <c:pt idx="274">
                  <c:v>8.49</c:v>
                </c:pt>
                <c:pt idx="275">
                  <c:v>8.48</c:v>
                </c:pt>
                <c:pt idx="276">
                  <c:v>8.47</c:v>
                </c:pt>
                <c:pt idx="277">
                  <c:v>8.46</c:v>
                </c:pt>
                <c:pt idx="278">
                  <c:v>8.43</c:v>
                </c:pt>
                <c:pt idx="279">
                  <c:v>8.41</c:v>
                </c:pt>
              </c:numCache>
            </c:numRef>
          </c:yVal>
          <c:smooth val="0"/>
        </c:ser>
        <c:axId val="-2128940872"/>
        <c:axId val="-2129643912"/>
      </c:scatterChart>
      <c:valAx>
        <c:axId val="-2128940872"/>
        <c:scaling>
          <c:orientation val="minMax"/>
          <c:max val="10.0"/>
          <c:min val="0.0"/>
        </c:scaling>
        <c:delete val="0"/>
        <c:axPos val="b"/>
        <c:title>
          <c:tx>
            <c:rich>
              <a:bodyPr/>
              <a:lstStyle/>
              <a:p>
                <a:r>
                  <a:rPr sz="1100" b="0">
                    <a:solidFill>
                      <a:srgbClr val="5F6F7A"/>
                    </a:solidFill>
                  </a:rPr>
                  <a:t>time (s)</a:t>
                </a:r>
              </a:p>
            </c:rich>
          </c:tx>
          <c:layout/>
          <c:overlay val="0"/>
        </c:title>
        <c:numFmt formatCode="General" sourceLinked="1"/>
        <c:majorTickMark val="out"/>
        <c:minorTickMark val="none"/>
        <c:tickLblPos val="nextTo"/>
        <c:spPr>
          <a:ln>
            <a:solidFill>
              <a:srgbClr val="C8D0D6"/>
            </a:solidFill>
          </a:ln>
        </c:spPr>
        <c:txPr>
          <a:bodyPr/>
          <a:lstStyle/>
          <a:p>
            <a:pPr>
              <a:defRPr sz="1100">
                <a:solidFill>
                  <a:srgbClr val="5F6F7A"/>
                </a:solidFill>
              </a:defRPr>
            </a:pPr>
          </a:p>
        </c:txPr>
        <c:crossAx val="-2129643912"/>
        <c:crosses val="autoZero"/>
        <c:crossBetween val="midCat"/>
        <c:majorUnit val="2.0"/>
      </c:valAx>
      <c:valAx>
        <c:axId val="-2129643912"/>
        <c:scaling>
          <c:orientation val="minMax"/>
          <c:max val="30.0"/>
          <c:min val="0.0"/>
        </c:scaling>
        <c:delete val="0"/>
        <c:axPos val="l"/>
        <c:majorGridlines>
          <c:spPr>
            <a:ln>
              <a:solidFill>
                <a:srgbClr val="E3E8EB"/>
              </a:solidFill>
            </a:ln>
          </c:spPr>
        </c:majorGridlines>
        <c:numFmt formatCode="General" sourceLinked="1"/>
        <c:majorTickMark val="out"/>
        <c:minorTickMark val="none"/>
        <c:tickLblPos val="nextTo"/>
        <c:spPr>
          <a:ln>
            <a:noFill/>
          </a:ln>
        </c:spPr>
        <c:txPr>
          <a:bodyPr/>
          <a:lstStyle/>
          <a:p>
            <a:pPr>
              <a:defRPr sz="1100">
                <a:solidFill>
                  <a:srgbClr val="5F6F7A"/>
                </a:solidFill>
              </a:defRPr>
            </a:pPr>
          </a:p>
        </c:txPr>
        <c:crossAx val="-2128940872"/>
        <c:crosses val="autoZero"/>
        <c:crossBetween val="midCat"/>
        <c:majorUnit val="10.0"/>
      </c:valAx>
    </c:plotArea>
    <c:legend>
      <c:legendPos val="b"/>
      <c:layout/>
      <c:overlay val="0"/>
      <c:txPr>
        <a:bodyPr/>
        <a:lstStyle/>
        <a:p>
          <a:pPr>
            <a:defRPr sz="1100">
              <a:latin typeface="Calibri"/>
            </a:defRPr>
          </a:pPr>
        </a:p>
      </c:txPr>
    </c:legend>
    <c:plotVisOnly val="1"/>
    <c:dispBlanksAs val="gap"/>
    <c:showDLblsOverMax val="0"/>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Hello, I'm team 11 and I worked alone, with an AI coding assistant. The task is to estimate the car's x, y and yaw for every camera frame against a pre-built LiDAR map. I'll show the pipeline for Tracks 01 and 02 and how I used the leaderboard there; most of the time goes to Track 03, which has no GNSS.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There are three tracks. Tracks 01 and 02 have GNSS and IMU. Track 03 has no GNSS, the localization must be causal, and it is graded on a hidden private part, about 87 percent of the frames. The score adds position RMSE in metres and 0.2 times yaw RMSE in degrees, so one degree of yaw costs as much as 20 centimetres.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Tracks 01 and 02 the first finding was the scale: the baseline scaled the point clouds by 3, but the camera height above the road says about 9, so every frame is rescaled by the road height. Then GNSS goes through a Kalman filter and RTS smoother; GICP against the map refines the position, only within 20 metres because image depth gets worse with range; correlative map matching fixes the along-road position; and the yaw comes from the gyro, with the slow part from the map. Track 01 went from 1.79 to 0.51, Track 02 from 1.93 to 0.24.</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TA allowed using the leaderboard on Tracks 01 and 02. Because the score is an RMSE, adding a known change to a file and reading the new score measures how the hidden error projects onto that change. That showed that yaw was the larger error and that the pipeline yaw had a slow 30-second error, which I then fixed in the pipeline with map yaw. With probing, both tracks rank first, 0.36 and 0.11; the pipeline alone gives 0.51 and 0.24, and the report keeps the two apart; the one pipeline constant chosen against a probed file, the map-yaw time constant, is labelled too. I never did this on Track 03.</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Track 03 is built in three layers, and every output uses only the current and past frames. First, a LiDAR-map tracker: several yaw hypotheses at the start, an IMU speed filter, the gyro projected on gravity because the IMU is tilted 6 degrees, and scan matching on the map. Debugging it with physics instead of ground truth brought the public score to 0.80. The two layers on top use the cameras and took it to 0.28. Their constants were tuned on the public score, which the TA allows; the output files are never edited.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LiDAR map also stores intensity, and road paint is bright in it: lane lines, stop lines, crosswalks, accurate to a few centimetres. The bag contains three camera videos. For every frame I project the map's road surface into each fisheye image, keep only thin bright structures, and correlate this camera paint with the map paint over shifts of plus or minus 2 metres. That gives a likelihood for the car's position, which a causal error-state filter combines with the tracker. Here, at a red light, the tracker was 0.66 metres off; after matching, the waiting box lines up. Public score 0.80 to 0.33.</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problem remained. Lane lines fix the lateral position in every frame, but the along-road position is only fixed at dashes, stop lines and crosswalks. In between, the estimate followed the tracker's jitter: the implied speed jumped between 0 and 29 metres per second while the car drove a steady 9.5. So between markings the pose now moves with the IMU speed times a scale that the filter learns, because the odometry is 10 to 15 percent off. It is used only when the car is fast and nearly straight, and it stays on while braking to a stop. The speed is now smooth, and the public score went from 0.33 to 0.28.</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Results: Track 01 0.36 and Track 02 0.11, both first, with the pipeline alone at 0.51 and 0.24. Track 03 is second on the public part with 0.28, from a purely causal pipeline. What worked was physics: the right scale, short-range matching, the IMU mounting, and road paint as a landmark. Next I would use the map's 3D structure, like poles and curbs, for the along position. Thank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4242E"/>
        </a:solidFill>
        <a:effectLst/>
      </p:bgPr>
    </p:bg>
    <p:spTree>
      <p:nvGrpSpPr>
        <p:cNvPr id="1" name=""/>
        <p:cNvGrpSpPr/>
        <p:nvPr/>
      </p:nvGrpSpPr>
      <p:grpSpPr/>
      <p:sp>
        <p:nvSpPr>
          <p:cNvPr id="2" name="TextBox 1"/>
          <p:cNvSpPr txBox="1"/>
          <p:nvPr/>
        </p:nvSpPr>
        <p:spPr>
          <a:xfrm>
            <a:off x="731520" y="1828800"/>
            <a:ext cx="10515600" cy="1280160"/>
          </a:xfrm>
          <a:prstGeom prst="rect">
            <a:avLst/>
          </a:prstGeom>
          <a:noFill/>
        </p:spPr>
        <p:txBody>
          <a:bodyPr wrap="square" anchor="t" lIns="0" rIns="0" tIns="0" bIns="0">
            <a:spAutoFit/>
          </a:bodyPr>
          <a:lstStyle/>
          <a:p>
            <a:pPr algn="l">
              <a:spcAft>
                <a:spcPts val="600"/>
              </a:spcAft>
            </a:pPr>
            <a:r>
              <a:rPr sz="4400" b="1">
                <a:solidFill>
                  <a:srgbClr val="FFFFFF"/>
                </a:solidFill>
                <a:latin typeface="Cambria"/>
              </a:rPr>
              <a:t>Localizing a car against a LiDAR map</a:t>
            </a:r>
          </a:p>
        </p:txBody>
      </p:sp>
      <p:sp>
        <p:nvSpPr>
          <p:cNvPr id="3" name="TextBox 2"/>
          <p:cNvSpPr txBox="1"/>
          <p:nvPr/>
        </p:nvSpPr>
        <p:spPr>
          <a:xfrm>
            <a:off x="731520" y="3063240"/>
            <a:ext cx="10515600" cy="731520"/>
          </a:xfrm>
          <a:prstGeom prst="rect">
            <a:avLst/>
          </a:prstGeom>
          <a:noFill/>
        </p:spPr>
        <p:txBody>
          <a:bodyPr wrap="square" anchor="t" lIns="0" rIns="0" tIns="0" bIns="0">
            <a:spAutoFit/>
          </a:bodyPr>
          <a:lstStyle/>
          <a:p>
            <a:pPr algn="l">
              <a:spcAft>
                <a:spcPts val="600"/>
              </a:spcAft>
            </a:pPr>
            <a:r>
              <a:rPr sz="2000" b="0">
                <a:solidFill>
                  <a:srgbClr val="B9D9DE"/>
                </a:solidFill>
                <a:latin typeface="Calibri"/>
              </a:rPr>
              <a:t>Camera point clouds, road paint and the IMU — Tracks 01, 02 and the GNSS-free Track 03</a:t>
            </a:r>
          </a:p>
        </p:txBody>
      </p:sp>
      <p:sp>
        <p:nvSpPr>
          <p:cNvPr id="4" name="TextBox 3"/>
          <p:cNvSpPr txBox="1"/>
          <p:nvPr/>
        </p:nvSpPr>
        <p:spPr>
          <a:xfrm>
            <a:off x="731520" y="5120640"/>
            <a:ext cx="10515600" cy="457200"/>
          </a:xfrm>
          <a:prstGeom prst="rect">
            <a:avLst/>
          </a:prstGeom>
          <a:noFill/>
        </p:spPr>
        <p:txBody>
          <a:bodyPr wrap="square" anchor="t" lIns="0" rIns="0" tIns="0" bIns="0">
            <a:spAutoFit/>
          </a:bodyPr>
          <a:lstStyle/>
          <a:p>
            <a:pPr algn="l">
              <a:spcAft>
                <a:spcPts val="600"/>
              </a:spcAft>
            </a:pPr>
            <a:r>
              <a:rPr sz="1600" b="1">
                <a:solidFill>
                  <a:srgbClr val="E89B2B"/>
                </a:solidFill>
                <a:latin typeface="Calibri"/>
              </a:rPr>
              <a:t>SDC 2026 · Midterm01 · Team 11 (solo, AI-assisted)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anchor="t" lIns="0" rIns="0" tIns="0" bIns="0">
            <a:spAutoFit/>
          </a:bodyPr>
          <a:lstStyle/>
          <a:p>
            <a:pPr algn="l">
              <a:spcAft>
                <a:spcPts val="600"/>
              </a:spcAft>
            </a:pPr>
            <a:r>
              <a:rPr sz="3200" b="1">
                <a:solidFill>
                  <a:srgbClr val="14242E"/>
                </a:solidFill>
                <a:latin typeface="Cambria"/>
              </a:rPr>
              <a:t>The task and the score</a:t>
            </a:r>
          </a:p>
        </p:txBody>
      </p:sp>
      <p:sp>
        <p:nvSpPr>
          <p:cNvPr id="3" name="TextBox 2"/>
          <p:cNvSpPr txBox="1"/>
          <p:nvPr/>
        </p:nvSpPr>
        <p:spPr>
          <a:xfrm>
            <a:off x="548640" y="1069848"/>
            <a:ext cx="11064240" cy="457200"/>
          </a:xfrm>
          <a:prstGeom prst="rect">
            <a:avLst/>
          </a:prstGeom>
          <a:noFill/>
        </p:spPr>
        <p:txBody>
          <a:bodyPr wrap="square" anchor="t" lIns="0" rIns="0" tIns="0" bIns="0">
            <a:spAutoFit/>
          </a:bodyPr>
          <a:lstStyle/>
          <a:p>
            <a:pPr algn="l">
              <a:spcAft>
                <a:spcPts val="600"/>
              </a:spcAft>
            </a:pPr>
            <a:r>
              <a:rPr sz="1600" b="0">
                <a:solidFill>
                  <a:srgbClr val="5F6F7A"/>
                </a:solidFill>
                <a:latin typeface="Calibri"/>
              </a:rPr>
              <a:t>Score = position RMSE (m) + 0.2 × yaw RMSE (deg) — lower is better</a:t>
            </a:r>
          </a:p>
        </p:txBody>
      </p:sp>
      <p:sp>
        <p:nvSpPr>
          <p:cNvPr id="4" name="Rounded Rectangle 3"/>
          <p:cNvSpPr/>
          <p:nvPr/>
        </p:nvSpPr>
        <p:spPr>
          <a:xfrm>
            <a:off x="548640" y="1828800"/>
            <a:ext cx="6766560" cy="1097280"/>
          </a:xfrm>
          <a:prstGeom prst="roundRect">
            <a:avLst>
              <a:gd name="adj" fmla="val 8000"/>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777240" y="2093976"/>
            <a:ext cx="566928" cy="566928"/>
          </a:xfrm>
          <a:prstGeom prst="ellipse">
            <a:avLst/>
          </a:prstGeom>
          <a:solidFill>
            <a:srgbClr val="137C8B"/>
          </a:solidFill>
          <a:ln>
            <a:noFill/>
          </a:ln>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800" b="1">
                <a:solidFill>
                  <a:srgbClr val="FFFFFF"/>
                </a:solidFill>
                <a:latin typeface="Cambria"/>
              </a:rPr>
              <a:t>01</a:t>
            </a:r>
          </a:p>
        </p:txBody>
      </p:sp>
      <p:sp>
        <p:nvSpPr>
          <p:cNvPr id="6" name="TextBox 5"/>
          <p:cNvSpPr txBox="1"/>
          <p:nvPr/>
        </p:nvSpPr>
        <p:spPr>
          <a:xfrm>
            <a:off x="1600200" y="1993392"/>
            <a:ext cx="5486400" cy="365760"/>
          </a:xfrm>
          <a:prstGeom prst="rect">
            <a:avLst/>
          </a:prstGeom>
          <a:noFill/>
        </p:spPr>
        <p:txBody>
          <a:bodyPr wrap="square" anchor="t" lIns="0" rIns="0" tIns="0" bIns="0">
            <a:spAutoFit/>
          </a:bodyPr>
          <a:lstStyle/>
          <a:p>
            <a:pPr algn="l">
              <a:spcAft>
                <a:spcPts val="600"/>
              </a:spcAft>
            </a:pPr>
            <a:r>
              <a:rPr sz="2000" b="1">
                <a:solidFill>
                  <a:srgbClr val="14242E"/>
                </a:solidFill>
                <a:latin typeface="Cambria"/>
              </a:rPr>
              <a:t>Track 01</a:t>
            </a:r>
          </a:p>
        </p:txBody>
      </p:sp>
      <p:sp>
        <p:nvSpPr>
          <p:cNvPr id="7" name="TextBox 6"/>
          <p:cNvSpPr txBox="1"/>
          <p:nvPr/>
        </p:nvSpPr>
        <p:spPr>
          <a:xfrm>
            <a:off x="1600200" y="2377440"/>
            <a:ext cx="5486400" cy="457200"/>
          </a:xfrm>
          <a:prstGeom prst="rect">
            <a:avLst/>
          </a:prstGeom>
          <a:noFill/>
        </p:spPr>
        <p:txBody>
          <a:bodyPr wrap="square" anchor="t" lIns="0" rIns="0" tIns="0" bIns="0">
            <a:spAutoFit/>
          </a:bodyPr>
          <a:lstStyle/>
          <a:p>
            <a:pPr algn="l">
              <a:spcAft>
                <a:spcPts val="600"/>
              </a:spcAft>
            </a:pPr>
            <a:r>
              <a:rPr sz="1400" b="0">
                <a:solidFill>
                  <a:srgbClr val="5F6F7A"/>
                </a:solidFill>
                <a:latin typeface="Calibri"/>
              </a:rPr>
              <a:t>3011 frames · GNSS + IMU</a:t>
            </a:r>
          </a:p>
        </p:txBody>
      </p:sp>
      <p:sp>
        <p:nvSpPr>
          <p:cNvPr id="8" name="Rounded Rectangle 7"/>
          <p:cNvSpPr/>
          <p:nvPr/>
        </p:nvSpPr>
        <p:spPr>
          <a:xfrm>
            <a:off x="548640" y="3154680"/>
            <a:ext cx="6766560" cy="1097280"/>
          </a:xfrm>
          <a:prstGeom prst="roundRect">
            <a:avLst>
              <a:gd name="adj" fmla="val 8000"/>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777240" y="3419856"/>
            <a:ext cx="566928" cy="566928"/>
          </a:xfrm>
          <a:prstGeom prst="ellipse">
            <a:avLst/>
          </a:prstGeom>
          <a:solidFill>
            <a:srgbClr val="137C8B"/>
          </a:solidFill>
          <a:ln>
            <a:noFill/>
          </a:ln>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800" b="1">
                <a:solidFill>
                  <a:srgbClr val="FFFFFF"/>
                </a:solidFill>
                <a:latin typeface="Cambria"/>
              </a:rPr>
              <a:t>02</a:t>
            </a:r>
          </a:p>
        </p:txBody>
      </p:sp>
      <p:sp>
        <p:nvSpPr>
          <p:cNvPr id="10" name="TextBox 9"/>
          <p:cNvSpPr txBox="1"/>
          <p:nvPr/>
        </p:nvSpPr>
        <p:spPr>
          <a:xfrm>
            <a:off x="1600200" y="3319272"/>
            <a:ext cx="5486400" cy="365760"/>
          </a:xfrm>
          <a:prstGeom prst="rect">
            <a:avLst/>
          </a:prstGeom>
          <a:noFill/>
        </p:spPr>
        <p:txBody>
          <a:bodyPr wrap="square" anchor="t" lIns="0" rIns="0" tIns="0" bIns="0">
            <a:spAutoFit/>
          </a:bodyPr>
          <a:lstStyle/>
          <a:p>
            <a:pPr algn="l">
              <a:spcAft>
                <a:spcPts val="600"/>
              </a:spcAft>
            </a:pPr>
            <a:r>
              <a:rPr sz="2000" b="1">
                <a:solidFill>
                  <a:srgbClr val="14242E"/>
                </a:solidFill>
                <a:latin typeface="Cambria"/>
              </a:rPr>
              <a:t>Track 02</a:t>
            </a:r>
          </a:p>
        </p:txBody>
      </p:sp>
      <p:sp>
        <p:nvSpPr>
          <p:cNvPr id="11" name="TextBox 10"/>
          <p:cNvSpPr txBox="1"/>
          <p:nvPr/>
        </p:nvSpPr>
        <p:spPr>
          <a:xfrm>
            <a:off x="1600200" y="3703320"/>
            <a:ext cx="5486400" cy="457200"/>
          </a:xfrm>
          <a:prstGeom prst="rect">
            <a:avLst/>
          </a:prstGeom>
          <a:noFill/>
        </p:spPr>
        <p:txBody>
          <a:bodyPr wrap="square" anchor="t" lIns="0" rIns="0" tIns="0" bIns="0">
            <a:spAutoFit/>
          </a:bodyPr>
          <a:lstStyle/>
          <a:p>
            <a:pPr algn="l">
              <a:spcAft>
                <a:spcPts val="600"/>
              </a:spcAft>
            </a:pPr>
            <a:r>
              <a:rPr sz="1400" b="0">
                <a:solidFill>
                  <a:srgbClr val="5F6F7A"/>
                </a:solidFill>
                <a:latin typeface="Calibri"/>
              </a:rPr>
              <a:t>3299 frames · GNSS + IMU · 13 s standstill at the start</a:t>
            </a:r>
          </a:p>
        </p:txBody>
      </p:sp>
      <p:sp>
        <p:nvSpPr>
          <p:cNvPr id="12" name="Rounded Rectangle 11"/>
          <p:cNvSpPr/>
          <p:nvPr/>
        </p:nvSpPr>
        <p:spPr>
          <a:xfrm>
            <a:off x="548640" y="4480560"/>
            <a:ext cx="6766560" cy="1097280"/>
          </a:xfrm>
          <a:prstGeom prst="roundRect">
            <a:avLst>
              <a:gd name="adj" fmla="val 8000"/>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77240" y="4745736"/>
            <a:ext cx="566928" cy="566928"/>
          </a:xfrm>
          <a:prstGeom prst="ellipse">
            <a:avLst/>
          </a:prstGeom>
          <a:solidFill>
            <a:srgbClr val="137C8B"/>
          </a:solidFill>
          <a:ln>
            <a:noFill/>
          </a:ln>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800" b="1">
                <a:solidFill>
                  <a:srgbClr val="FFFFFF"/>
                </a:solidFill>
                <a:latin typeface="Cambria"/>
              </a:rPr>
              <a:t>03</a:t>
            </a:r>
          </a:p>
        </p:txBody>
      </p:sp>
      <p:sp>
        <p:nvSpPr>
          <p:cNvPr id="14" name="TextBox 13"/>
          <p:cNvSpPr txBox="1"/>
          <p:nvPr/>
        </p:nvSpPr>
        <p:spPr>
          <a:xfrm>
            <a:off x="1600200" y="4645152"/>
            <a:ext cx="5486400" cy="365760"/>
          </a:xfrm>
          <a:prstGeom prst="rect">
            <a:avLst/>
          </a:prstGeom>
          <a:noFill/>
        </p:spPr>
        <p:txBody>
          <a:bodyPr wrap="square" anchor="t" lIns="0" rIns="0" tIns="0" bIns="0">
            <a:spAutoFit/>
          </a:bodyPr>
          <a:lstStyle/>
          <a:p>
            <a:pPr algn="l">
              <a:spcAft>
                <a:spcPts val="600"/>
              </a:spcAft>
            </a:pPr>
            <a:r>
              <a:rPr sz="2000" b="1">
                <a:solidFill>
                  <a:srgbClr val="14242E"/>
                </a:solidFill>
                <a:latin typeface="Cambria"/>
              </a:rPr>
              <a:t>Track 03</a:t>
            </a:r>
          </a:p>
        </p:txBody>
      </p:sp>
      <p:sp>
        <p:nvSpPr>
          <p:cNvPr id="15" name="TextBox 14"/>
          <p:cNvSpPr txBox="1"/>
          <p:nvPr/>
        </p:nvSpPr>
        <p:spPr>
          <a:xfrm>
            <a:off x="1600200" y="5029200"/>
            <a:ext cx="5486400" cy="457200"/>
          </a:xfrm>
          <a:prstGeom prst="rect">
            <a:avLst/>
          </a:prstGeom>
          <a:noFill/>
        </p:spPr>
        <p:txBody>
          <a:bodyPr wrap="square" anchor="t" lIns="0" rIns="0" tIns="0" bIns="0">
            <a:spAutoFit/>
          </a:bodyPr>
          <a:lstStyle/>
          <a:p>
            <a:pPr algn="l">
              <a:spcAft>
                <a:spcPts val="600"/>
              </a:spcAft>
            </a:pPr>
            <a:r>
              <a:rPr sz="1400" b="0">
                <a:solidFill>
                  <a:srgbClr val="5F6F7A"/>
                </a:solidFill>
                <a:latin typeface="Calibri"/>
              </a:rPr>
              <a:t>3142 frames · no GNSS · causal only · graded on the hidden private part (~87 %)</a:t>
            </a:r>
          </a:p>
        </p:txBody>
      </p:sp>
      <p:sp>
        <p:nvSpPr>
          <p:cNvPr id="16" name="Rounded Rectangle 15"/>
          <p:cNvSpPr/>
          <p:nvPr/>
        </p:nvSpPr>
        <p:spPr>
          <a:xfrm>
            <a:off x="7772400" y="1828800"/>
            <a:ext cx="3840480" cy="3749039"/>
          </a:xfrm>
          <a:prstGeom prst="roundRect">
            <a:avLst>
              <a:gd name="adj" fmla="val 8000"/>
            </a:avLst>
          </a:prstGeom>
          <a:solidFill>
            <a:srgbClr val="D8EE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92440" y="2057400"/>
            <a:ext cx="3291840" cy="457200"/>
          </a:xfrm>
          <a:prstGeom prst="rect">
            <a:avLst/>
          </a:prstGeom>
          <a:noFill/>
        </p:spPr>
        <p:txBody>
          <a:bodyPr wrap="square" anchor="t" lIns="0" rIns="0" tIns="0" bIns="0">
            <a:spAutoFit/>
          </a:bodyPr>
          <a:lstStyle/>
          <a:p>
            <a:pPr algn="l">
              <a:spcAft>
                <a:spcPts val="600"/>
              </a:spcAft>
            </a:pPr>
            <a:r>
              <a:rPr sz="2000" b="1">
                <a:solidFill>
                  <a:srgbClr val="137C8B"/>
                </a:solidFill>
                <a:latin typeface="Cambria"/>
              </a:rPr>
              <a:t>Inputs</a:t>
            </a:r>
          </a:p>
        </p:txBody>
      </p:sp>
      <p:sp>
        <p:nvSpPr>
          <p:cNvPr id="18" name="TextBox 17"/>
          <p:cNvSpPr txBox="1"/>
          <p:nvPr/>
        </p:nvSpPr>
        <p:spPr>
          <a:xfrm>
            <a:off x="8092440" y="2606040"/>
            <a:ext cx="3291840" cy="2834640"/>
          </a:xfrm>
          <a:prstGeom prst="rect">
            <a:avLst/>
          </a:prstGeom>
          <a:noFill/>
        </p:spPr>
        <p:txBody>
          <a:bodyPr wrap="square" anchor="t" lIns="0" rIns="0" tIns="0" bIns="0">
            <a:spAutoFit/>
          </a:bodyPr>
          <a:lstStyle/>
          <a:p>
            <a:pPr algn="l">
              <a:spcAft>
                <a:spcPts val="600"/>
              </a:spcAft>
            </a:pPr>
            <a:r>
              <a:rPr sz="1500" b="0">
                <a:solidFill>
                  <a:srgbClr val="1E2A32"/>
                </a:solidFill>
                <a:latin typeface="Calibri"/>
              </a:rPr>
              <a:t>Point cloud per frame from images (LoGeR, unknown scale)</a:t>
            </a:r>
          </a:p>
          <a:p>
            <a:pPr algn="l">
              <a:spcAft>
                <a:spcPts val="600"/>
              </a:spcAft>
            </a:pPr>
            <a:r>
              <a:rPr sz="1500" b="0">
                <a:solidFill>
                  <a:srgbClr val="1E2A32"/>
                </a:solidFill>
                <a:latin typeface="Calibri"/>
              </a:rPr>
              <a:t>LiDAR map with intensity, 57 M points</a:t>
            </a:r>
          </a:p>
          <a:p>
            <a:pPr algn="l">
              <a:spcAft>
                <a:spcPts val="600"/>
              </a:spcAft>
            </a:pPr>
            <a:r>
              <a:rPr sz="1500" b="0">
                <a:solidFill>
                  <a:srgbClr val="1E2A32"/>
                </a:solidFill>
                <a:latin typeface="Calibri"/>
              </a:rPr>
              <a:t>3 cameras (h265 video in the bag)</a:t>
            </a:r>
          </a:p>
          <a:p>
            <a:pPr algn="l">
              <a:spcAft>
                <a:spcPts val="600"/>
              </a:spcAft>
            </a:pPr>
            <a:r>
              <a:rPr sz="1500" b="0">
                <a:solidFill>
                  <a:srgbClr val="1E2A32"/>
                </a:solidFill>
                <a:latin typeface="Calibri"/>
              </a:rPr>
              <a:t>IMU 100 Hz, noisy initial pose</a:t>
            </a:r>
          </a:p>
          <a:p>
            <a:pPr algn="l">
              <a:spcAft>
                <a:spcPts val="600"/>
              </a:spcAft>
            </a:pPr>
            <a:r>
              <a:rPr sz="1500" b="0">
                <a:solidFill>
                  <a:srgbClr val="1E2A32"/>
                </a:solidFill>
                <a:latin typeface="Calibri"/>
              </a:rPr>
              <a:t>GNSS (Tracks 01/02 only)</a:t>
            </a:r>
          </a:p>
        </p:txBody>
      </p:sp>
      <p:sp>
        <p:nvSpPr>
          <p:cNvPr id="19" name="TextBox 18"/>
          <p:cNvSpPr txBox="1"/>
          <p:nvPr/>
        </p:nvSpPr>
        <p:spPr>
          <a:xfrm>
            <a:off x="548640" y="6400800"/>
            <a:ext cx="7315200" cy="274320"/>
          </a:xfrm>
          <a:prstGeom prst="rect">
            <a:avLst/>
          </a:prstGeom>
          <a:noFill/>
        </p:spPr>
        <p:txBody>
          <a:bodyPr wrap="square" anchor="t" lIns="0" rIns="0" tIns="0" bIns="0">
            <a:spAutoFit/>
          </a:bodyPr>
          <a:lstStyle/>
          <a:p>
            <a:pPr algn="l">
              <a:spcAft>
                <a:spcPts val="600"/>
              </a:spcAft>
            </a:pPr>
            <a:r>
              <a:rPr sz="1000" b="0">
                <a:solidFill>
                  <a:srgbClr val="5F6F7A"/>
                </a:solidFill>
                <a:latin typeface="Calibri"/>
              </a:rPr>
              <a:t>SDC 2026 Midterm01 · Team 11</a:t>
            </a:r>
          </a:p>
        </p:txBody>
      </p:sp>
      <p:sp>
        <p:nvSpPr>
          <p:cNvPr id="20" name="TextBox 19"/>
          <p:cNvSpPr txBox="1"/>
          <p:nvPr/>
        </p:nvSpPr>
        <p:spPr>
          <a:xfrm>
            <a:off x="10881360" y="6400800"/>
            <a:ext cx="731520" cy="274320"/>
          </a:xfrm>
          <a:prstGeom prst="rect">
            <a:avLst/>
          </a:prstGeom>
          <a:noFill/>
        </p:spPr>
        <p:txBody>
          <a:bodyPr wrap="square" anchor="t" lIns="0" rIns="0" tIns="0" bIns="0">
            <a:spAutoFit/>
          </a:bodyPr>
          <a:lstStyle/>
          <a:p>
            <a:pPr algn="r">
              <a:spcAft>
                <a:spcPts val="600"/>
              </a:spcAft>
            </a:pPr>
            <a:r>
              <a:rPr sz="1000" b="0">
                <a:solidFill>
                  <a:srgbClr val="5F6F7A"/>
                </a:solidFill>
                <a:latin typeface="Calibri"/>
              </a:rPr>
              <a:t>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anchor="t" lIns="0" rIns="0" tIns="0" bIns="0">
            <a:spAutoFit/>
          </a:bodyPr>
          <a:lstStyle/>
          <a:p>
            <a:pPr algn="l">
              <a:spcAft>
                <a:spcPts val="600"/>
              </a:spcAft>
            </a:pPr>
            <a:r>
              <a:rPr sz="3200" b="1">
                <a:solidFill>
                  <a:srgbClr val="14242E"/>
                </a:solidFill>
                <a:latin typeface="Cambria"/>
              </a:rPr>
              <a:t>Tracks 01/02: GNSS gives the frame, the map refines it</a:t>
            </a:r>
          </a:p>
        </p:txBody>
      </p:sp>
      <p:sp>
        <p:nvSpPr>
          <p:cNvPr id="3" name="Rounded Rectangle 2"/>
          <p:cNvSpPr/>
          <p:nvPr/>
        </p:nvSpPr>
        <p:spPr>
          <a:xfrm>
            <a:off x="548640" y="1325880"/>
            <a:ext cx="4937760" cy="822960"/>
          </a:xfrm>
          <a:prstGeom prst="roundRect">
            <a:avLst>
              <a:gd name="adj" fmla="val 8000"/>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713232" y="1481328"/>
            <a:ext cx="512064" cy="512064"/>
          </a:xfrm>
          <a:prstGeom prst="ellipse">
            <a:avLst/>
          </a:prstGeom>
          <a:solidFill>
            <a:srgbClr val="E89B2B"/>
          </a:solidFill>
          <a:ln>
            <a:noFill/>
          </a:ln>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mbria"/>
              </a:rPr>
              <a:t>0</a:t>
            </a:r>
          </a:p>
        </p:txBody>
      </p:sp>
      <p:sp>
        <p:nvSpPr>
          <p:cNvPr id="5" name="TextBox 4"/>
          <p:cNvSpPr txBox="1"/>
          <p:nvPr/>
        </p:nvSpPr>
        <p:spPr>
          <a:xfrm>
            <a:off x="1417320" y="1417320"/>
            <a:ext cx="3931920" cy="365760"/>
          </a:xfrm>
          <a:prstGeom prst="rect">
            <a:avLst/>
          </a:prstGeom>
          <a:noFill/>
        </p:spPr>
        <p:txBody>
          <a:bodyPr wrap="square" anchor="t" lIns="0" rIns="0" tIns="0" bIns="0">
            <a:spAutoFit/>
          </a:bodyPr>
          <a:lstStyle/>
          <a:p>
            <a:pPr algn="l">
              <a:spcAft>
                <a:spcPts val="600"/>
              </a:spcAft>
            </a:pPr>
            <a:r>
              <a:rPr sz="1600" b="1">
                <a:solidFill>
                  <a:srgbClr val="14242E"/>
                </a:solidFill>
                <a:latin typeface="Calibri"/>
              </a:rPr>
              <a:t>Scale ×9, not ×3</a:t>
            </a:r>
          </a:p>
        </p:txBody>
      </p:sp>
      <p:sp>
        <p:nvSpPr>
          <p:cNvPr id="6" name="TextBox 5"/>
          <p:cNvSpPr txBox="1"/>
          <p:nvPr/>
        </p:nvSpPr>
        <p:spPr>
          <a:xfrm>
            <a:off x="1417320" y="1755648"/>
            <a:ext cx="3931920" cy="365760"/>
          </a:xfrm>
          <a:prstGeom prst="rect">
            <a:avLst/>
          </a:prstGeom>
          <a:noFill/>
        </p:spPr>
        <p:txBody>
          <a:bodyPr wrap="square" anchor="t" lIns="0" rIns="0" tIns="0" bIns="0">
            <a:spAutoFit/>
          </a:bodyPr>
          <a:lstStyle/>
          <a:p>
            <a:pPr algn="l">
              <a:spcAft>
                <a:spcPts val="600"/>
              </a:spcAft>
            </a:pPr>
            <a:r>
              <a:rPr sz="1300" b="0">
                <a:solidFill>
                  <a:srgbClr val="5F6F7A"/>
                </a:solidFill>
                <a:latin typeface="Calibri"/>
              </a:rPr>
              <a:t>camera height above the road = 1.646 m</a:t>
            </a:r>
          </a:p>
        </p:txBody>
      </p:sp>
      <p:sp>
        <p:nvSpPr>
          <p:cNvPr id="7" name="Rounded Rectangle 6"/>
          <p:cNvSpPr/>
          <p:nvPr/>
        </p:nvSpPr>
        <p:spPr>
          <a:xfrm>
            <a:off x="548640" y="2304288"/>
            <a:ext cx="4937760" cy="822960"/>
          </a:xfrm>
          <a:prstGeom prst="roundRect">
            <a:avLst>
              <a:gd name="adj" fmla="val 8000"/>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713232" y="2459736"/>
            <a:ext cx="512064" cy="512064"/>
          </a:xfrm>
          <a:prstGeom prst="ellipse">
            <a:avLst/>
          </a:prstGeom>
          <a:solidFill>
            <a:srgbClr val="137C8B"/>
          </a:solidFill>
          <a:ln>
            <a:noFill/>
          </a:ln>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mbria"/>
              </a:rPr>
              <a:t>1</a:t>
            </a:r>
          </a:p>
        </p:txBody>
      </p:sp>
      <p:sp>
        <p:nvSpPr>
          <p:cNvPr id="9" name="TextBox 8"/>
          <p:cNvSpPr txBox="1"/>
          <p:nvPr/>
        </p:nvSpPr>
        <p:spPr>
          <a:xfrm>
            <a:off x="1417320" y="2395728"/>
            <a:ext cx="3931920" cy="365760"/>
          </a:xfrm>
          <a:prstGeom prst="rect">
            <a:avLst/>
          </a:prstGeom>
          <a:noFill/>
        </p:spPr>
        <p:txBody>
          <a:bodyPr wrap="square" anchor="t" lIns="0" rIns="0" tIns="0" bIns="0">
            <a:spAutoFit/>
          </a:bodyPr>
          <a:lstStyle/>
          <a:p>
            <a:pPr algn="l">
              <a:spcAft>
                <a:spcPts val="600"/>
              </a:spcAft>
            </a:pPr>
            <a:r>
              <a:rPr sz="1600" b="1">
                <a:solidFill>
                  <a:srgbClr val="14242E"/>
                </a:solidFill>
                <a:latin typeface="Calibri"/>
              </a:rPr>
              <a:t>GNSS + Kalman (CTRV) + RTS</a:t>
            </a:r>
          </a:p>
        </p:txBody>
      </p:sp>
      <p:sp>
        <p:nvSpPr>
          <p:cNvPr id="10" name="TextBox 9"/>
          <p:cNvSpPr txBox="1"/>
          <p:nvPr/>
        </p:nvSpPr>
        <p:spPr>
          <a:xfrm>
            <a:off x="1417320" y="2734056"/>
            <a:ext cx="3931920" cy="365760"/>
          </a:xfrm>
          <a:prstGeom prst="rect">
            <a:avLst/>
          </a:prstGeom>
          <a:noFill/>
        </p:spPr>
        <p:txBody>
          <a:bodyPr wrap="square" anchor="t" lIns="0" rIns="0" tIns="0" bIns="0">
            <a:spAutoFit/>
          </a:bodyPr>
          <a:lstStyle/>
          <a:p>
            <a:pPr algn="l">
              <a:spcAft>
                <a:spcPts val="600"/>
              </a:spcAft>
            </a:pPr>
            <a:r>
              <a:rPr sz="1300" b="0">
                <a:solidFill>
                  <a:srgbClr val="5F6F7A"/>
                </a:solidFill>
                <a:latin typeface="Calibri"/>
              </a:rPr>
              <a:t>smooth, but GNSS heading lags 1.1–1.4 s</a:t>
            </a:r>
          </a:p>
        </p:txBody>
      </p:sp>
      <p:sp>
        <p:nvSpPr>
          <p:cNvPr id="11" name="Rounded Rectangle 10"/>
          <p:cNvSpPr/>
          <p:nvPr/>
        </p:nvSpPr>
        <p:spPr>
          <a:xfrm>
            <a:off x="548640" y="3282696"/>
            <a:ext cx="4937760" cy="822960"/>
          </a:xfrm>
          <a:prstGeom prst="roundRect">
            <a:avLst>
              <a:gd name="adj" fmla="val 8000"/>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13232" y="3438144"/>
            <a:ext cx="512064" cy="512064"/>
          </a:xfrm>
          <a:prstGeom prst="ellipse">
            <a:avLst/>
          </a:prstGeom>
          <a:solidFill>
            <a:srgbClr val="137C8B"/>
          </a:solidFill>
          <a:ln>
            <a:noFill/>
          </a:ln>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mbria"/>
              </a:rPr>
              <a:t>2</a:t>
            </a:r>
          </a:p>
        </p:txBody>
      </p:sp>
      <p:sp>
        <p:nvSpPr>
          <p:cNvPr id="13" name="TextBox 12"/>
          <p:cNvSpPr txBox="1"/>
          <p:nvPr/>
        </p:nvSpPr>
        <p:spPr>
          <a:xfrm>
            <a:off x="1417320" y="3374136"/>
            <a:ext cx="3931920" cy="365760"/>
          </a:xfrm>
          <a:prstGeom prst="rect">
            <a:avLst/>
          </a:prstGeom>
          <a:noFill/>
        </p:spPr>
        <p:txBody>
          <a:bodyPr wrap="square" anchor="t" lIns="0" rIns="0" tIns="0" bIns="0">
            <a:spAutoFit/>
          </a:bodyPr>
          <a:lstStyle/>
          <a:p>
            <a:pPr algn="l">
              <a:spcAft>
                <a:spcPts val="600"/>
              </a:spcAft>
            </a:pPr>
            <a:r>
              <a:rPr sz="1600" b="1">
                <a:solidFill>
                  <a:srgbClr val="14242E"/>
                </a:solidFill>
                <a:latin typeface="Calibri"/>
              </a:rPr>
              <a:t>GICP vs map, range ≤ 20 m</a:t>
            </a:r>
          </a:p>
        </p:txBody>
      </p:sp>
      <p:sp>
        <p:nvSpPr>
          <p:cNvPr id="14" name="TextBox 13"/>
          <p:cNvSpPr txBox="1"/>
          <p:nvPr/>
        </p:nvSpPr>
        <p:spPr>
          <a:xfrm>
            <a:off x="1417320" y="3712463"/>
            <a:ext cx="3931920" cy="365760"/>
          </a:xfrm>
          <a:prstGeom prst="rect">
            <a:avLst/>
          </a:prstGeom>
          <a:noFill/>
        </p:spPr>
        <p:txBody>
          <a:bodyPr wrap="square" anchor="t" lIns="0" rIns="0" tIns="0" bIns="0">
            <a:spAutoFit/>
          </a:bodyPr>
          <a:lstStyle/>
          <a:p>
            <a:pPr algn="l">
              <a:spcAft>
                <a:spcPts val="600"/>
              </a:spcAft>
            </a:pPr>
            <a:r>
              <a:rPr sz="1300" b="0">
                <a:solidFill>
                  <a:srgbClr val="5F6F7A"/>
                </a:solidFill>
                <a:latin typeface="Calibri"/>
              </a:rPr>
              <a:t>image depth degrades with range</a:t>
            </a:r>
          </a:p>
        </p:txBody>
      </p:sp>
      <p:sp>
        <p:nvSpPr>
          <p:cNvPr id="15" name="Rounded Rectangle 14"/>
          <p:cNvSpPr/>
          <p:nvPr/>
        </p:nvSpPr>
        <p:spPr>
          <a:xfrm>
            <a:off x="548640" y="4261104"/>
            <a:ext cx="4937760" cy="822960"/>
          </a:xfrm>
          <a:prstGeom prst="roundRect">
            <a:avLst>
              <a:gd name="adj" fmla="val 8000"/>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416552"/>
            <a:ext cx="512064" cy="512064"/>
          </a:xfrm>
          <a:prstGeom prst="ellipse">
            <a:avLst/>
          </a:prstGeom>
          <a:solidFill>
            <a:srgbClr val="137C8B"/>
          </a:solidFill>
          <a:ln>
            <a:noFill/>
          </a:ln>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mbria"/>
              </a:rPr>
              <a:t>3</a:t>
            </a:r>
          </a:p>
        </p:txBody>
      </p:sp>
      <p:sp>
        <p:nvSpPr>
          <p:cNvPr id="17" name="TextBox 16"/>
          <p:cNvSpPr txBox="1"/>
          <p:nvPr/>
        </p:nvSpPr>
        <p:spPr>
          <a:xfrm>
            <a:off x="1417320" y="4352544"/>
            <a:ext cx="3931920" cy="365760"/>
          </a:xfrm>
          <a:prstGeom prst="rect">
            <a:avLst/>
          </a:prstGeom>
          <a:noFill/>
        </p:spPr>
        <p:txBody>
          <a:bodyPr wrap="square" anchor="t" lIns="0" rIns="0" tIns="0" bIns="0">
            <a:spAutoFit/>
          </a:bodyPr>
          <a:lstStyle/>
          <a:p>
            <a:pPr algn="l">
              <a:spcAft>
                <a:spcPts val="600"/>
              </a:spcAft>
            </a:pPr>
            <a:r>
              <a:rPr sz="1600" b="1">
                <a:solidFill>
                  <a:srgbClr val="14242E"/>
                </a:solidFill>
                <a:latin typeface="Calibri"/>
              </a:rPr>
              <a:t>Correlative map matching</a:t>
            </a:r>
          </a:p>
        </p:txBody>
      </p:sp>
      <p:sp>
        <p:nvSpPr>
          <p:cNvPr id="18" name="TextBox 17"/>
          <p:cNvSpPr txBox="1"/>
          <p:nvPr/>
        </p:nvSpPr>
        <p:spPr>
          <a:xfrm>
            <a:off x="1417320" y="4690872"/>
            <a:ext cx="3931920" cy="365760"/>
          </a:xfrm>
          <a:prstGeom prst="rect">
            <a:avLst/>
          </a:prstGeom>
          <a:noFill/>
        </p:spPr>
        <p:txBody>
          <a:bodyPr wrap="square" anchor="t" lIns="0" rIns="0" tIns="0" bIns="0">
            <a:spAutoFit/>
          </a:bodyPr>
          <a:lstStyle/>
          <a:p>
            <a:pPr algn="l">
              <a:spcAft>
                <a:spcPts val="600"/>
              </a:spcAft>
            </a:pPr>
            <a:r>
              <a:rPr sz="1300" b="0">
                <a:solidFill>
                  <a:srgbClr val="5F6F7A"/>
                </a:solidFill>
                <a:latin typeface="Calibri"/>
              </a:rPr>
              <a:t>fixes the along-road position</a:t>
            </a:r>
          </a:p>
        </p:txBody>
      </p:sp>
      <p:sp>
        <p:nvSpPr>
          <p:cNvPr id="19" name="Rounded Rectangle 18"/>
          <p:cNvSpPr/>
          <p:nvPr/>
        </p:nvSpPr>
        <p:spPr>
          <a:xfrm>
            <a:off x="548640" y="5239512"/>
            <a:ext cx="4937760" cy="822960"/>
          </a:xfrm>
          <a:prstGeom prst="roundRect">
            <a:avLst>
              <a:gd name="adj" fmla="val 8000"/>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13232" y="5394960"/>
            <a:ext cx="512064" cy="512064"/>
          </a:xfrm>
          <a:prstGeom prst="ellipse">
            <a:avLst/>
          </a:prstGeom>
          <a:solidFill>
            <a:srgbClr val="137C8B"/>
          </a:solidFill>
          <a:ln>
            <a:noFill/>
          </a:ln>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mbria"/>
              </a:rPr>
              <a:t>4</a:t>
            </a:r>
          </a:p>
        </p:txBody>
      </p:sp>
      <p:sp>
        <p:nvSpPr>
          <p:cNvPr id="21" name="TextBox 20"/>
          <p:cNvSpPr txBox="1"/>
          <p:nvPr/>
        </p:nvSpPr>
        <p:spPr>
          <a:xfrm>
            <a:off x="1417320" y="5330952"/>
            <a:ext cx="3931920" cy="365760"/>
          </a:xfrm>
          <a:prstGeom prst="rect">
            <a:avLst/>
          </a:prstGeom>
          <a:noFill/>
        </p:spPr>
        <p:txBody>
          <a:bodyPr wrap="square" anchor="t" lIns="0" rIns="0" tIns="0" bIns="0">
            <a:spAutoFit/>
          </a:bodyPr>
          <a:lstStyle/>
          <a:p>
            <a:pPr algn="l">
              <a:spcAft>
                <a:spcPts val="600"/>
              </a:spcAft>
            </a:pPr>
            <a:r>
              <a:rPr sz="1600" b="1">
                <a:solidFill>
                  <a:srgbClr val="14242E"/>
                </a:solidFill>
                <a:latin typeface="Calibri"/>
              </a:rPr>
              <a:t>Yaw: gyro + map yaw</a:t>
            </a:r>
          </a:p>
        </p:txBody>
      </p:sp>
      <p:sp>
        <p:nvSpPr>
          <p:cNvPr id="22" name="TextBox 21"/>
          <p:cNvSpPr txBox="1"/>
          <p:nvPr/>
        </p:nvSpPr>
        <p:spPr>
          <a:xfrm>
            <a:off x="1417320" y="5669280"/>
            <a:ext cx="3931920" cy="365760"/>
          </a:xfrm>
          <a:prstGeom prst="rect">
            <a:avLst/>
          </a:prstGeom>
          <a:noFill/>
        </p:spPr>
        <p:txBody>
          <a:bodyPr wrap="square" anchor="t" lIns="0" rIns="0" tIns="0" bIns="0">
            <a:spAutoFit/>
          </a:bodyPr>
          <a:lstStyle/>
          <a:p>
            <a:pPr algn="l">
              <a:spcAft>
                <a:spcPts val="600"/>
              </a:spcAft>
            </a:pPr>
            <a:r>
              <a:rPr sz="1300" b="0">
                <a:solidFill>
                  <a:srgbClr val="5F6F7A"/>
                </a:solidFill>
                <a:latin typeface="Calibri"/>
              </a:rPr>
              <a:t>gyro for fast, map for slow changes</a:t>
            </a:r>
          </a:p>
        </p:txBody>
      </p:sp>
      <p:graphicFrame>
        <p:nvGraphicFramePr>
          <p:cNvPr id="23" name="Chart 22"/>
          <p:cNvGraphicFramePr>
            <a:graphicFrameLocks noGrp="1"/>
          </p:cNvGraphicFramePr>
          <p:nvPr/>
        </p:nvGraphicFramePr>
        <p:xfrm>
          <a:off x="5852160" y="1325880"/>
          <a:ext cx="5852160" cy="4846320"/>
        </p:xfrm>
        <a:graphic>
          <a:graphicData uri="http://schemas.openxmlformats.org/drawingml/2006/chart">
            <c:chart xmlns:c="http://schemas.openxmlformats.org/drawingml/2006/chart" r:id="rId2"/>
          </a:graphicData>
        </a:graphic>
      </p:graphicFrame>
      <p:sp>
        <p:nvSpPr>
          <p:cNvPr id="24" name="TextBox 23"/>
          <p:cNvSpPr txBox="1"/>
          <p:nvPr/>
        </p:nvSpPr>
        <p:spPr>
          <a:xfrm>
            <a:off x="548640" y="6400800"/>
            <a:ext cx="7315200" cy="274320"/>
          </a:xfrm>
          <a:prstGeom prst="rect">
            <a:avLst/>
          </a:prstGeom>
          <a:noFill/>
        </p:spPr>
        <p:txBody>
          <a:bodyPr wrap="square" anchor="t" lIns="0" rIns="0" tIns="0" bIns="0">
            <a:spAutoFit/>
          </a:bodyPr>
          <a:lstStyle/>
          <a:p>
            <a:pPr algn="l">
              <a:spcAft>
                <a:spcPts val="600"/>
              </a:spcAft>
            </a:pPr>
            <a:r>
              <a:rPr sz="1000" b="0">
                <a:solidFill>
                  <a:srgbClr val="5F6F7A"/>
                </a:solidFill>
                <a:latin typeface="Calibri"/>
              </a:rPr>
              <a:t>SDC 2026 Midterm01 · Team 11</a:t>
            </a:r>
          </a:p>
        </p:txBody>
      </p:sp>
      <p:sp>
        <p:nvSpPr>
          <p:cNvPr id="25" name="TextBox 24"/>
          <p:cNvSpPr txBox="1"/>
          <p:nvPr/>
        </p:nvSpPr>
        <p:spPr>
          <a:xfrm>
            <a:off x="10881360" y="6400800"/>
            <a:ext cx="731520" cy="274320"/>
          </a:xfrm>
          <a:prstGeom prst="rect">
            <a:avLst/>
          </a:prstGeom>
          <a:noFill/>
        </p:spPr>
        <p:txBody>
          <a:bodyPr wrap="square" anchor="t" lIns="0" rIns="0" tIns="0" bIns="0">
            <a:spAutoFit/>
          </a:bodyPr>
          <a:lstStyle/>
          <a:p>
            <a:pPr algn="r">
              <a:spcAft>
                <a:spcPts val="600"/>
              </a:spcAft>
            </a:pPr>
            <a:r>
              <a:rPr sz="1000" b="0">
                <a:solidFill>
                  <a:srgbClr val="5F6F7A"/>
                </a:solidFill>
                <a:latin typeface="Calibri"/>
              </a:rPr>
              <a:t>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anchor="t" lIns="0" rIns="0" tIns="0" bIns="0">
            <a:spAutoFit/>
          </a:bodyPr>
          <a:lstStyle/>
          <a:p>
            <a:pPr algn="l">
              <a:spcAft>
                <a:spcPts val="600"/>
              </a:spcAft>
            </a:pPr>
            <a:r>
              <a:rPr sz="3200" b="1">
                <a:solidFill>
                  <a:srgbClr val="14242E"/>
                </a:solidFill>
                <a:latin typeface="Cambria"/>
              </a:rPr>
              <a:t>Tracks 01/02: the leaderboard as a measurement</a:t>
            </a:r>
          </a:p>
        </p:txBody>
      </p:sp>
      <p:sp>
        <p:nvSpPr>
          <p:cNvPr id="3" name="TextBox 2"/>
          <p:cNvSpPr txBox="1"/>
          <p:nvPr/>
        </p:nvSpPr>
        <p:spPr>
          <a:xfrm>
            <a:off x="548640" y="1069848"/>
            <a:ext cx="11064240" cy="457200"/>
          </a:xfrm>
          <a:prstGeom prst="rect">
            <a:avLst/>
          </a:prstGeom>
          <a:noFill/>
        </p:spPr>
        <p:txBody>
          <a:bodyPr wrap="square" anchor="t" lIns="0" rIns="0" tIns="0" bIns="0">
            <a:spAutoFit/>
          </a:bodyPr>
          <a:lstStyle/>
          <a:p>
            <a:pPr algn="l">
              <a:spcAft>
                <a:spcPts val="600"/>
              </a:spcAft>
            </a:pPr>
            <a:r>
              <a:rPr sz="1600" b="0">
                <a:solidFill>
                  <a:srgbClr val="5F6F7A"/>
                </a:solidFill>
                <a:latin typeface="Calibri"/>
              </a:rPr>
              <a:t>Allowed by the TA for Tracks 01/02 only — never used on Track 03</a:t>
            </a:r>
          </a:p>
        </p:txBody>
      </p:sp>
      <p:sp>
        <p:nvSpPr>
          <p:cNvPr id="4" name="Rounded Rectangle 3"/>
          <p:cNvSpPr/>
          <p:nvPr/>
        </p:nvSpPr>
        <p:spPr>
          <a:xfrm>
            <a:off x="548640" y="1691640"/>
            <a:ext cx="5760720" cy="1874519"/>
          </a:xfrm>
          <a:prstGeom prst="roundRect">
            <a:avLst>
              <a:gd name="adj" fmla="val 8000"/>
            </a:avLst>
          </a:prstGeom>
          <a:solidFill>
            <a:srgbClr val="D8EE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874519"/>
            <a:ext cx="5303520" cy="457200"/>
          </a:xfrm>
          <a:prstGeom prst="rect">
            <a:avLst/>
          </a:prstGeom>
          <a:noFill/>
        </p:spPr>
        <p:txBody>
          <a:bodyPr wrap="square" anchor="t" lIns="0" rIns="0" tIns="0" bIns="0">
            <a:spAutoFit/>
          </a:bodyPr>
          <a:lstStyle/>
          <a:p>
            <a:pPr algn="l">
              <a:spcAft>
                <a:spcPts val="600"/>
              </a:spcAft>
            </a:pPr>
            <a:r>
              <a:rPr sz="2000" b="1">
                <a:solidFill>
                  <a:srgbClr val="137C8B"/>
                </a:solidFill>
                <a:latin typeface="Cambria"/>
              </a:rPr>
              <a:t>The score is a quadratic oracle</a:t>
            </a:r>
          </a:p>
        </p:txBody>
      </p:sp>
      <p:sp>
        <p:nvSpPr>
          <p:cNvPr id="6" name="TextBox 5"/>
          <p:cNvSpPr txBox="1"/>
          <p:nvPr/>
        </p:nvSpPr>
        <p:spPr>
          <a:xfrm>
            <a:off x="822960" y="2423160"/>
            <a:ext cx="5303520" cy="1097280"/>
          </a:xfrm>
          <a:prstGeom prst="rect">
            <a:avLst/>
          </a:prstGeom>
          <a:noFill/>
        </p:spPr>
        <p:txBody>
          <a:bodyPr wrap="square" anchor="t" lIns="0" rIns="0" tIns="0" bIns="0">
            <a:spAutoFit/>
          </a:bodyPr>
          <a:lstStyle/>
          <a:p>
            <a:pPr algn="l">
              <a:spcAft>
                <a:spcPts val="600"/>
              </a:spcAft>
            </a:pPr>
            <a:r>
              <a:rPr sz="1600" b="0">
                <a:solidFill>
                  <a:srgbClr val="1E2A32"/>
                </a:solidFill>
                <a:latin typeface="Calibri"/>
              </a:rPr>
              <a:t>Add a known change D to a file, read its score P_D:</a:t>
            </a:r>
          </a:p>
          <a:p>
            <a:pPr algn="l">
              <a:spcAft>
                <a:spcPts val="600"/>
              </a:spcAft>
            </a:pPr>
            <a:r>
              <a:rPr sz="1600" b="0">
                <a:solidFill>
                  <a:srgbClr val="1E2A32"/>
                </a:solidFill>
                <a:latin typeface="Calibri"/>
              </a:rPr>
              <a:t>mean(e·D) = (P_D² − P² − mean|D|²) / 2</a:t>
            </a:r>
          </a:p>
        </p:txBody>
      </p:sp>
      <p:sp>
        <p:nvSpPr>
          <p:cNvPr id="7" name="TextBox 6"/>
          <p:cNvSpPr txBox="1"/>
          <p:nvPr/>
        </p:nvSpPr>
        <p:spPr>
          <a:xfrm>
            <a:off x="548640" y="3840480"/>
            <a:ext cx="5760720" cy="2377440"/>
          </a:xfrm>
          <a:prstGeom prst="rect">
            <a:avLst/>
          </a:prstGeom>
          <a:noFill/>
        </p:spPr>
        <p:txBody>
          <a:bodyPr wrap="square" anchor="t" lIns="0" rIns="0" tIns="0" bIns="0">
            <a:spAutoFit/>
          </a:bodyPr>
          <a:lstStyle/>
          <a:p>
            <a:pPr algn="l">
              <a:spcAft>
                <a:spcPts val="600"/>
              </a:spcAft>
            </a:pPr>
            <a:r>
              <a:rPr sz="1500" b="1">
                <a:solidFill>
                  <a:srgbClr val="14242E"/>
                </a:solidFill>
                <a:latin typeface="Calibri"/>
              </a:rPr>
              <a:t>What it taught us: </a:t>
            </a:r>
            <a:r>
              <a:rPr sz="1500" b="0">
                <a:solidFill>
                  <a:srgbClr val="1E2A32"/>
                </a:solidFill>
                <a:latin typeface="Calibri"/>
              </a:rPr>
              <a:t>yaw is the larger error, and the pipeline yaw had a slow error with a ~30 s period → fixed in the pipeline with map yaw (0.55 → 0.51).</a:t>
            </a:r>
          </a:p>
          <a:p>
            <a:pPr algn="l">
              <a:spcAft>
                <a:spcPts val="600"/>
              </a:spcAft>
            </a:pPr>
            <a:r>
              <a:rPr sz="1500" b="1">
                <a:solidFill>
                  <a:srgbClr val="14242E"/>
                </a:solidFill>
                <a:latin typeface="Calibri"/>
              </a:rPr>
              <a:t>Kept apart: </a:t>
            </a:r>
            <a:r>
              <a:rPr sz="1500" b="0">
                <a:solidFill>
                  <a:srgbClr val="1E2A32"/>
                </a:solidFill>
                <a:latin typeface="Calibri"/>
              </a:rPr>
              <a:t>the probed files are labelled as such; the pipeline numbers are our algorithm's result.</a:t>
            </a:r>
          </a:p>
        </p:txBody>
      </p:sp>
      <p:graphicFrame>
        <p:nvGraphicFramePr>
          <p:cNvPr id="8" name="Chart 7"/>
          <p:cNvGraphicFramePr>
            <a:graphicFrameLocks noGrp="1"/>
          </p:cNvGraphicFramePr>
          <p:nvPr/>
        </p:nvGraphicFramePr>
        <p:xfrm>
          <a:off x="6675120" y="1691640"/>
          <a:ext cx="5029200" cy="4480560"/>
        </p:xfrm>
        <a:graphic>
          <a:graphicData uri="http://schemas.openxmlformats.org/drawingml/2006/chart">
            <c:chart xmlns:c="http://schemas.openxmlformats.org/drawingml/2006/chart" r:id="rId2"/>
          </a:graphicData>
        </a:graphic>
      </p:graphicFrame>
      <p:sp>
        <p:nvSpPr>
          <p:cNvPr id="9" name="TextBox 8"/>
          <p:cNvSpPr txBox="1"/>
          <p:nvPr/>
        </p:nvSpPr>
        <p:spPr>
          <a:xfrm>
            <a:off x="548640" y="6400800"/>
            <a:ext cx="7315200" cy="274320"/>
          </a:xfrm>
          <a:prstGeom prst="rect">
            <a:avLst/>
          </a:prstGeom>
          <a:noFill/>
        </p:spPr>
        <p:txBody>
          <a:bodyPr wrap="square" anchor="t" lIns="0" rIns="0" tIns="0" bIns="0">
            <a:spAutoFit/>
          </a:bodyPr>
          <a:lstStyle/>
          <a:p>
            <a:pPr algn="l">
              <a:spcAft>
                <a:spcPts val="600"/>
              </a:spcAft>
            </a:pPr>
            <a:r>
              <a:rPr sz="1000" b="0">
                <a:solidFill>
                  <a:srgbClr val="5F6F7A"/>
                </a:solidFill>
                <a:latin typeface="Calibri"/>
              </a:rPr>
              <a:t>SDC 2026 Midterm01 · Team 11</a:t>
            </a:r>
          </a:p>
        </p:txBody>
      </p:sp>
      <p:sp>
        <p:nvSpPr>
          <p:cNvPr id="10" name="TextBox 9"/>
          <p:cNvSpPr txBox="1"/>
          <p:nvPr/>
        </p:nvSpPr>
        <p:spPr>
          <a:xfrm>
            <a:off x="10881360" y="6400800"/>
            <a:ext cx="731520" cy="274320"/>
          </a:xfrm>
          <a:prstGeom prst="rect">
            <a:avLst/>
          </a:prstGeom>
          <a:noFill/>
        </p:spPr>
        <p:txBody>
          <a:bodyPr wrap="square" anchor="t" lIns="0" rIns="0" tIns="0" bIns="0">
            <a:spAutoFit/>
          </a:bodyPr>
          <a:lstStyle/>
          <a:p>
            <a:pPr algn="r">
              <a:spcAft>
                <a:spcPts val="600"/>
              </a:spcAft>
            </a:pPr>
            <a:r>
              <a:rPr sz="1000" b="0">
                <a:solidFill>
                  <a:srgbClr val="5F6F7A"/>
                </a:solidFill>
                <a:latin typeface="Calibri"/>
              </a:rPr>
              <a:t>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anchor="t" lIns="0" rIns="0" tIns="0" bIns="0">
            <a:spAutoFit/>
          </a:bodyPr>
          <a:lstStyle/>
          <a:p>
            <a:pPr algn="l">
              <a:spcAft>
                <a:spcPts val="600"/>
              </a:spcAft>
            </a:pPr>
            <a:r>
              <a:rPr sz="3200" b="1">
                <a:solidFill>
                  <a:srgbClr val="14242E"/>
                </a:solidFill>
                <a:latin typeface="Cambria"/>
              </a:rPr>
              <a:t>Track 03: no GNSS, causal — three layers</a:t>
            </a:r>
          </a:p>
        </p:txBody>
      </p:sp>
      <p:sp>
        <p:nvSpPr>
          <p:cNvPr id="3" name="TextBox 2"/>
          <p:cNvSpPr txBox="1"/>
          <p:nvPr/>
        </p:nvSpPr>
        <p:spPr>
          <a:xfrm>
            <a:off x="548640" y="1069848"/>
            <a:ext cx="11064240" cy="457200"/>
          </a:xfrm>
          <a:prstGeom prst="rect">
            <a:avLst/>
          </a:prstGeom>
          <a:noFill/>
        </p:spPr>
        <p:txBody>
          <a:bodyPr wrap="square" anchor="t" lIns="0" rIns="0" tIns="0" bIns="0">
            <a:spAutoFit/>
          </a:bodyPr>
          <a:lstStyle/>
          <a:p>
            <a:pPr algn="l">
              <a:spcAft>
                <a:spcPts val="600"/>
              </a:spcAft>
            </a:pPr>
            <a:r>
              <a:rPr sz="1600" b="0">
                <a:solidFill>
                  <a:srgbClr val="5F6F7A"/>
                </a:solidFill>
                <a:latin typeface="Calibri"/>
              </a:rPr>
              <a:t>Every output row uses only the current and past frames</a:t>
            </a:r>
          </a:p>
        </p:txBody>
      </p:sp>
      <p:sp>
        <p:nvSpPr>
          <p:cNvPr id="4" name="Rounded Rectangle 3"/>
          <p:cNvSpPr/>
          <p:nvPr/>
        </p:nvSpPr>
        <p:spPr>
          <a:xfrm>
            <a:off x="548640" y="1691640"/>
            <a:ext cx="5577840" cy="1280160"/>
          </a:xfrm>
          <a:prstGeom prst="roundRect">
            <a:avLst>
              <a:gd name="adj" fmla="val 8000"/>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749808" y="2048256"/>
            <a:ext cx="566928" cy="566928"/>
          </a:xfrm>
          <a:prstGeom prst="ellipse">
            <a:avLst/>
          </a:prstGeom>
          <a:solidFill>
            <a:srgbClr val="8A99A3"/>
          </a:solidFill>
          <a:ln>
            <a:noFill/>
          </a:ln>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800" b="1">
                <a:solidFill>
                  <a:srgbClr val="FFFFFF"/>
                </a:solidFill>
                <a:latin typeface="Cambria"/>
              </a:rPr>
              <a:t>1</a:t>
            </a:r>
          </a:p>
        </p:txBody>
      </p:sp>
      <p:sp>
        <p:nvSpPr>
          <p:cNvPr id="6" name="TextBox 5"/>
          <p:cNvSpPr txBox="1"/>
          <p:nvPr/>
        </p:nvSpPr>
        <p:spPr>
          <a:xfrm>
            <a:off x="1554480" y="1828800"/>
            <a:ext cx="3383280" cy="411480"/>
          </a:xfrm>
          <a:prstGeom prst="rect">
            <a:avLst/>
          </a:prstGeom>
          <a:noFill/>
        </p:spPr>
        <p:txBody>
          <a:bodyPr wrap="square" anchor="t" lIns="0" rIns="0" tIns="0" bIns="0">
            <a:spAutoFit/>
          </a:bodyPr>
          <a:lstStyle/>
          <a:p>
            <a:pPr algn="l">
              <a:spcAft>
                <a:spcPts val="600"/>
              </a:spcAft>
            </a:pPr>
            <a:r>
              <a:rPr sz="1800" b="1">
                <a:solidFill>
                  <a:srgbClr val="14242E"/>
                </a:solidFill>
                <a:latin typeface="Cambria"/>
              </a:rPr>
              <a:t>LiDAR-map tracker</a:t>
            </a:r>
          </a:p>
        </p:txBody>
      </p:sp>
      <p:sp>
        <p:nvSpPr>
          <p:cNvPr id="7" name="TextBox 6"/>
          <p:cNvSpPr txBox="1"/>
          <p:nvPr/>
        </p:nvSpPr>
        <p:spPr>
          <a:xfrm>
            <a:off x="1554480" y="2240280"/>
            <a:ext cx="3429000" cy="731520"/>
          </a:xfrm>
          <a:prstGeom prst="rect">
            <a:avLst/>
          </a:prstGeom>
          <a:noFill/>
        </p:spPr>
        <p:txBody>
          <a:bodyPr wrap="square" anchor="t" lIns="0" rIns="0" tIns="0" bIns="0">
            <a:spAutoFit/>
          </a:bodyPr>
          <a:lstStyle/>
          <a:p>
            <a:pPr algn="l">
              <a:spcAft>
                <a:spcPts val="600"/>
              </a:spcAft>
            </a:pPr>
            <a:r>
              <a:rPr sz="1300" b="0">
                <a:solidFill>
                  <a:srgbClr val="5F6F7A"/>
                </a:solidFill>
                <a:latin typeface="Calibri"/>
              </a:rPr>
              <a:t>yaw hypotheses at the start · IMU speed filter · gyro on gravity (IMU tilted 6°) · scan matching on the map ±15 m</a:t>
            </a:r>
          </a:p>
        </p:txBody>
      </p:sp>
      <p:sp>
        <p:nvSpPr>
          <p:cNvPr id="8" name="TextBox 7"/>
          <p:cNvSpPr txBox="1"/>
          <p:nvPr/>
        </p:nvSpPr>
        <p:spPr>
          <a:xfrm>
            <a:off x="4983480" y="1965960"/>
            <a:ext cx="1005840" cy="731520"/>
          </a:xfrm>
          <a:prstGeom prst="rect">
            <a:avLst/>
          </a:prstGeom>
          <a:noFill/>
        </p:spPr>
        <p:txBody>
          <a:bodyPr wrap="square" anchor="ctr" lIns="0" rIns="0" tIns="0" bIns="0">
            <a:spAutoFit/>
          </a:bodyPr>
          <a:lstStyle/>
          <a:p>
            <a:pPr algn="r">
              <a:spcAft>
                <a:spcPts val="600"/>
              </a:spcAft>
            </a:pPr>
            <a:r>
              <a:rPr sz="2800" b="1">
                <a:solidFill>
                  <a:srgbClr val="14242E"/>
                </a:solidFill>
                <a:latin typeface="Cambria"/>
              </a:rPr>
              <a:t>0.80</a:t>
            </a:r>
          </a:p>
        </p:txBody>
      </p:sp>
      <p:sp>
        <p:nvSpPr>
          <p:cNvPr id="9" name="Rounded Rectangle 8"/>
          <p:cNvSpPr/>
          <p:nvPr/>
        </p:nvSpPr>
        <p:spPr>
          <a:xfrm>
            <a:off x="548640" y="3154680"/>
            <a:ext cx="5577840" cy="1280160"/>
          </a:xfrm>
          <a:prstGeom prst="roundRect">
            <a:avLst>
              <a:gd name="adj" fmla="val 8000"/>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49808" y="3511296"/>
            <a:ext cx="566928" cy="566928"/>
          </a:xfrm>
          <a:prstGeom prst="ellipse">
            <a:avLst/>
          </a:prstGeom>
          <a:solidFill>
            <a:srgbClr val="008A9E"/>
          </a:solidFill>
          <a:ln>
            <a:noFill/>
          </a:ln>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800" b="1">
                <a:solidFill>
                  <a:srgbClr val="FFFFFF"/>
                </a:solidFill>
                <a:latin typeface="Cambria"/>
              </a:rPr>
              <a:t>2</a:t>
            </a:r>
          </a:p>
        </p:txBody>
      </p:sp>
      <p:sp>
        <p:nvSpPr>
          <p:cNvPr id="11" name="TextBox 10"/>
          <p:cNvSpPr txBox="1"/>
          <p:nvPr/>
        </p:nvSpPr>
        <p:spPr>
          <a:xfrm>
            <a:off x="1554480" y="3291840"/>
            <a:ext cx="3383280" cy="411480"/>
          </a:xfrm>
          <a:prstGeom prst="rect">
            <a:avLst/>
          </a:prstGeom>
          <a:noFill/>
        </p:spPr>
        <p:txBody>
          <a:bodyPr wrap="square" anchor="t" lIns="0" rIns="0" tIns="0" bIns="0">
            <a:spAutoFit/>
          </a:bodyPr>
          <a:lstStyle/>
          <a:p>
            <a:pPr algn="l">
              <a:spcAft>
                <a:spcPts val="600"/>
              </a:spcAft>
            </a:pPr>
            <a:r>
              <a:rPr sz="1800" b="1">
                <a:solidFill>
                  <a:srgbClr val="14242E"/>
                </a:solidFill>
                <a:latin typeface="Cambria"/>
              </a:rPr>
              <a:t>Road-paint matching</a:t>
            </a:r>
          </a:p>
        </p:txBody>
      </p:sp>
      <p:sp>
        <p:nvSpPr>
          <p:cNvPr id="12" name="TextBox 11"/>
          <p:cNvSpPr txBox="1"/>
          <p:nvPr/>
        </p:nvSpPr>
        <p:spPr>
          <a:xfrm>
            <a:off x="1554480" y="3703320"/>
            <a:ext cx="3429000" cy="731520"/>
          </a:xfrm>
          <a:prstGeom prst="rect">
            <a:avLst/>
          </a:prstGeom>
          <a:noFill/>
        </p:spPr>
        <p:txBody>
          <a:bodyPr wrap="square" anchor="t" lIns="0" rIns="0" tIns="0" bIns="0">
            <a:spAutoFit/>
          </a:bodyPr>
          <a:lstStyle/>
          <a:p>
            <a:pPr algn="l">
              <a:spcAft>
                <a:spcPts val="600"/>
              </a:spcAft>
            </a:pPr>
            <a:r>
              <a:rPr sz="1300" b="0">
                <a:solidFill>
                  <a:srgbClr val="5F6F7A"/>
                </a:solidFill>
                <a:latin typeface="Calibri"/>
              </a:rPr>
              <a:t>3 cameras vs the paint in the map's LiDAR intensity</a:t>
            </a:r>
          </a:p>
        </p:txBody>
      </p:sp>
      <p:sp>
        <p:nvSpPr>
          <p:cNvPr id="13" name="TextBox 12"/>
          <p:cNvSpPr txBox="1"/>
          <p:nvPr/>
        </p:nvSpPr>
        <p:spPr>
          <a:xfrm>
            <a:off x="4983480" y="3429000"/>
            <a:ext cx="1005840" cy="731520"/>
          </a:xfrm>
          <a:prstGeom prst="rect">
            <a:avLst/>
          </a:prstGeom>
          <a:noFill/>
        </p:spPr>
        <p:txBody>
          <a:bodyPr wrap="square" anchor="ctr" lIns="0" rIns="0" tIns="0" bIns="0">
            <a:spAutoFit/>
          </a:bodyPr>
          <a:lstStyle/>
          <a:p>
            <a:pPr algn="r">
              <a:spcAft>
                <a:spcPts val="600"/>
              </a:spcAft>
            </a:pPr>
            <a:r>
              <a:rPr sz="2800" b="1">
                <a:solidFill>
                  <a:srgbClr val="14242E"/>
                </a:solidFill>
                <a:latin typeface="Cambria"/>
              </a:rPr>
              <a:t>0.33</a:t>
            </a:r>
          </a:p>
        </p:txBody>
      </p:sp>
      <p:sp>
        <p:nvSpPr>
          <p:cNvPr id="14" name="Rounded Rectangle 13"/>
          <p:cNvSpPr/>
          <p:nvPr/>
        </p:nvSpPr>
        <p:spPr>
          <a:xfrm>
            <a:off x="548640" y="4617720"/>
            <a:ext cx="5577840" cy="1280160"/>
          </a:xfrm>
          <a:prstGeom prst="roundRect">
            <a:avLst>
              <a:gd name="adj" fmla="val 8000"/>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49808" y="4974336"/>
            <a:ext cx="566928" cy="566928"/>
          </a:xfrm>
          <a:prstGeom prst="ellipse">
            <a:avLst/>
          </a:prstGeom>
          <a:solidFill>
            <a:srgbClr val="C9781A"/>
          </a:solidFill>
          <a:ln>
            <a:noFill/>
          </a:ln>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800" b="1">
                <a:solidFill>
                  <a:srgbClr val="FFFFFF"/>
                </a:solidFill>
                <a:latin typeface="Cambria"/>
              </a:rPr>
              <a:t>3</a:t>
            </a:r>
          </a:p>
        </p:txBody>
      </p:sp>
      <p:sp>
        <p:nvSpPr>
          <p:cNvPr id="16" name="TextBox 15"/>
          <p:cNvSpPr txBox="1"/>
          <p:nvPr/>
        </p:nvSpPr>
        <p:spPr>
          <a:xfrm>
            <a:off x="1554480" y="4754880"/>
            <a:ext cx="3383280" cy="411480"/>
          </a:xfrm>
          <a:prstGeom prst="rect">
            <a:avLst/>
          </a:prstGeom>
          <a:noFill/>
        </p:spPr>
        <p:txBody>
          <a:bodyPr wrap="square" anchor="t" lIns="0" rIns="0" tIns="0" bIns="0">
            <a:spAutoFit/>
          </a:bodyPr>
          <a:lstStyle/>
          <a:p>
            <a:pPr algn="l">
              <a:spcAft>
                <a:spcPts val="600"/>
              </a:spcAft>
            </a:pPr>
            <a:r>
              <a:rPr sz="1800" b="1">
                <a:solidFill>
                  <a:srgbClr val="14242E"/>
                </a:solidFill>
                <a:latin typeface="Cambria"/>
              </a:rPr>
              <a:t>IMU along-motion</a:t>
            </a:r>
          </a:p>
        </p:txBody>
      </p:sp>
      <p:sp>
        <p:nvSpPr>
          <p:cNvPr id="17" name="TextBox 16"/>
          <p:cNvSpPr txBox="1"/>
          <p:nvPr/>
        </p:nvSpPr>
        <p:spPr>
          <a:xfrm>
            <a:off x="1554480" y="5166360"/>
            <a:ext cx="3429000" cy="731520"/>
          </a:xfrm>
          <a:prstGeom prst="rect">
            <a:avLst/>
          </a:prstGeom>
          <a:noFill/>
        </p:spPr>
        <p:txBody>
          <a:bodyPr wrap="square" anchor="t" lIns="0" rIns="0" tIns="0" bIns="0">
            <a:spAutoFit/>
          </a:bodyPr>
          <a:lstStyle/>
          <a:p>
            <a:pPr algn="l">
              <a:spcAft>
                <a:spcPts val="600"/>
              </a:spcAft>
            </a:pPr>
            <a:r>
              <a:rPr sz="1300" b="0">
                <a:solidFill>
                  <a:srgbClr val="5F6F7A"/>
                </a:solidFill>
                <a:latin typeface="Calibri"/>
              </a:rPr>
              <a:t>smooth speed × learnt scale between road markings</a:t>
            </a:r>
          </a:p>
        </p:txBody>
      </p:sp>
      <p:sp>
        <p:nvSpPr>
          <p:cNvPr id="18" name="TextBox 17"/>
          <p:cNvSpPr txBox="1"/>
          <p:nvPr/>
        </p:nvSpPr>
        <p:spPr>
          <a:xfrm>
            <a:off x="4983480" y="4892040"/>
            <a:ext cx="1005840" cy="731520"/>
          </a:xfrm>
          <a:prstGeom prst="rect">
            <a:avLst/>
          </a:prstGeom>
          <a:noFill/>
        </p:spPr>
        <p:txBody>
          <a:bodyPr wrap="square" anchor="ctr" lIns="0" rIns="0" tIns="0" bIns="0">
            <a:spAutoFit/>
          </a:bodyPr>
          <a:lstStyle/>
          <a:p>
            <a:pPr algn="r">
              <a:spcAft>
                <a:spcPts val="600"/>
              </a:spcAft>
            </a:pPr>
            <a:r>
              <a:rPr sz="2800" b="1">
                <a:solidFill>
                  <a:srgbClr val="14242E"/>
                </a:solidFill>
                <a:latin typeface="Cambria"/>
              </a:rPr>
              <a:t>0.28</a:t>
            </a:r>
          </a:p>
        </p:txBody>
      </p:sp>
      <p:sp>
        <p:nvSpPr>
          <p:cNvPr id="19" name="TextBox 18"/>
          <p:cNvSpPr txBox="1"/>
          <p:nvPr/>
        </p:nvSpPr>
        <p:spPr>
          <a:xfrm>
            <a:off x="548640" y="6053328"/>
            <a:ext cx="5577840" cy="274320"/>
          </a:xfrm>
          <a:prstGeom prst="rect">
            <a:avLst/>
          </a:prstGeom>
          <a:noFill/>
        </p:spPr>
        <p:txBody>
          <a:bodyPr wrap="square" anchor="t" lIns="0" rIns="0" tIns="0" bIns="0">
            <a:spAutoFit/>
          </a:bodyPr>
          <a:lstStyle/>
          <a:p>
            <a:pPr algn="l">
              <a:spcAft>
                <a:spcPts val="600"/>
              </a:spcAft>
            </a:pPr>
            <a:r>
              <a:rPr sz="1100" b="0">
                <a:solidFill>
                  <a:srgbClr val="5F6F7A"/>
                </a:solidFill>
                <a:latin typeface="Calibri"/>
              </a:rPr>
              <a:t>Public score after each layer · constants tuned on it (allowed) · outputs never edited</a:t>
            </a:r>
          </a:p>
        </p:txBody>
      </p:sp>
      <p:graphicFrame>
        <p:nvGraphicFramePr>
          <p:cNvPr id="20" name="Chart 19"/>
          <p:cNvGraphicFramePr>
            <a:graphicFrameLocks noGrp="1"/>
          </p:cNvGraphicFramePr>
          <p:nvPr/>
        </p:nvGraphicFramePr>
        <p:xfrm>
          <a:off x="6400800" y="1554480"/>
          <a:ext cx="5303520" cy="4663440"/>
        </p:xfrm>
        <a:graphic>
          <a:graphicData uri="http://schemas.openxmlformats.org/drawingml/2006/chart">
            <c:chart xmlns:c="http://schemas.openxmlformats.org/drawingml/2006/chart" r:id="rId2"/>
          </a:graphicData>
        </a:graphic>
      </p:graphicFrame>
      <p:sp>
        <p:nvSpPr>
          <p:cNvPr id="21" name="TextBox 20"/>
          <p:cNvSpPr txBox="1"/>
          <p:nvPr/>
        </p:nvSpPr>
        <p:spPr>
          <a:xfrm>
            <a:off x="548640" y="6400800"/>
            <a:ext cx="7315200" cy="274320"/>
          </a:xfrm>
          <a:prstGeom prst="rect">
            <a:avLst/>
          </a:prstGeom>
          <a:noFill/>
        </p:spPr>
        <p:txBody>
          <a:bodyPr wrap="square" anchor="t" lIns="0" rIns="0" tIns="0" bIns="0">
            <a:spAutoFit/>
          </a:bodyPr>
          <a:lstStyle/>
          <a:p>
            <a:pPr algn="l">
              <a:spcAft>
                <a:spcPts val="600"/>
              </a:spcAft>
            </a:pPr>
            <a:r>
              <a:rPr sz="1000" b="0">
                <a:solidFill>
                  <a:srgbClr val="5F6F7A"/>
                </a:solidFill>
                <a:latin typeface="Calibri"/>
              </a:rPr>
              <a:t>SDC 2026 Midterm01 · Team 11</a:t>
            </a:r>
          </a:p>
        </p:txBody>
      </p:sp>
      <p:sp>
        <p:nvSpPr>
          <p:cNvPr id="22" name="TextBox 21"/>
          <p:cNvSpPr txBox="1"/>
          <p:nvPr/>
        </p:nvSpPr>
        <p:spPr>
          <a:xfrm>
            <a:off x="10881360" y="6400800"/>
            <a:ext cx="731520" cy="274320"/>
          </a:xfrm>
          <a:prstGeom prst="rect">
            <a:avLst/>
          </a:prstGeom>
          <a:noFill/>
        </p:spPr>
        <p:txBody>
          <a:bodyPr wrap="square" anchor="t" lIns="0" rIns="0" tIns="0" bIns="0">
            <a:spAutoFit/>
          </a:bodyPr>
          <a:lstStyle/>
          <a:p>
            <a:pPr algn="r">
              <a:spcAft>
                <a:spcPts val="600"/>
              </a:spcAft>
            </a:pPr>
            <a:r>
              <a:rPr sz="1000" b="0">
                <a:solidFill>
                  <a:srgbClr val="5F6F7A"/>
                </a:solidFill>
                <a:latin typeface="Calibri"/>
              </a:rPr>
              <a:t>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anchor="t" lIns="0" rIns="0" tIns="0" bIns="0">
            <a:spAutoFit/>
          </a:bodyPr>
          <a:lstStyle/>
          <a:p>
            <a:pPr algn="l">
              <a:spcAft>
                <a:spcPts val="600"/>
              </a:spcAft>
            </a:pPr>
            <a:r>
              <a:rPr sz="3200" b="1">
                <a:solidFill>
                  <a:srgbClr val="14242E"/>
                </a:solidFill>
                <a:latin typeface="Cambria"/>
              </a:rPr>
              <a:t>Layer 2: the cameras see the paint that the LiDAR map stores</a:t>
            </a:r>
          </a:p>
        </p:txBody>
      </p:sp>
      <p:sp>
        <p:nvSpPr>
          <p:cNvPr id="3" name="Rounded Rectangle 2"/>
          <p:cNvSpPr/>
          <p:nvPr/>
        </p:nvSpPr>
        <p:spPr>
          <a:xfrm>
            <a:off x="548640" y="1371600"/>
            <a:ext cx="4754880" cy="786384"/>
          </a:xfrm>
          <a:prstGeom prst="roundRect">
            <a:avLst>
              <a:gd name="adj" fmla="val 8000"/>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713232" y="1517904"/>
            <a:ext cx="493776" cy="493776"/>
          </a:xfrm>
          <a:prstGeom prst="ellipse">
            <a:avLst/>
          </a:prstGeom>
          <a:solidFill>
            <a:srgbClr val="137C8B"/>
          </a:solidFill>
          <a:ln>
            <a:noFill/>
          </a:ln>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b="1">
                <a:solidFill>
                  <a:srgbClr val="FFFFFF"/>
                </a:solidFill>
                <a:latin typeface="Cambria"/>
              </a:rPr>
              <a:t>1</a:t>
            </a:r>
          </a:p>
        </p:txBody>
      </p:sp>
      <p:sp>
        <p:nvSpPr>
          <p:cNvPr id="5" name="TextBox 4"/>
          <p:cNvSpPr txBox="1"/>
          <p:nvPr/>
        </p:nvSpPr>
        <p:spPr>
          <a:xfrm>
            <a:off x="1371600" y="1453896"/>
            <a:ext cx="3840480" cy="365760"/>
          </a:xfrm>
          <a:prstGeom prst="rect">
            <a:avLst/>
          </a:prstGeom>
          <a:noFill/>
        </p:spPr>
        <p:txBody>
          <a:bodyPr wrap="square" anchor="t" lIns="0" rIns="0" tIns="0" bIns="0">
            <a:spAutoFit/>
          </a:bodyPr>
          <a:lstStyle/>
          <a:p>
            <a:pPr algn="l">
              <a:spcAft>
                <a:spcPts val="600"/>
              </a:spcAft>
            </a:pPr>
            <a:r>
              <a:rPr sz="1600" b="1">
                <a:solidFill>
                  <a:srgbClr val="14242E"/>
                </a:solidFill>
                <a:latin typeface="Calibri"/>
              </a:rPr>
              <a:t>Decode</a:t>
            </a:r>
          </a:p>
        </p:txBody>
      </p:sp>
      <p:sp>
        <p:nvSpPr>
          <p:cNvPr id="6" name="TextBox 5"/>
          <p:cNvSpPr txBox="1"/>
          <p:nvPr/>
        </p:nvSpPr>
        <p:spPr>
          <a:xfrm>
            <a:off x="1371600" y="1783080"/>
            <a:ext cx="3840480" cy="365760"/>
          </a:xfrm>
          <a:prstGeom prst="rect">
            <a:avLst/>
          </a:prstGeom>
          <a:noFill/>
        </p:spPr>
        <p:txBody>
          <a:bodyPr wrap="square" anchor="t" lIns="0" rIns="0" tIns="0" bIns="0">
            <a:spAutoFit/>
          </a:bodyPr>
          <a:lstStyle/>
          <a:p>
            <a:pPr algn="l">
              <a:spcAft>
                <a:spcPts val="600"/>
              </a:spcAft>
            </a:pPr>
            <a:r>
              <a:rPr sz="1300" b="0">
                <a:solidFill>
                  <a:srgbClr val="5F6F7A"/>
                </a:solidFill>
                <a:latin typeface="Calibri"/>
              </a:rPr>
              <a:t>front + front-left / front-right h265 video</a:t>
            </a:r>
          </a:p>
        </p:txBody>
      </p:sp>
      <p:sp>
        <p:nvSpPr>
          <p:cNvPr id="7" name="Rounded Rectangle 6"/>
          <p:cNvSpPr/>
          <p:nvPr/>
        </p:nvSpPr>
        <p:spPr>
          <a:xfrm>
            <a:off x="548640" y="2304288"/>
            <a:ext cx="4754880" cy="786384"/>
          </a:xfrm>
          <a:prstGeom prst="roundRect">
            <a:avLst>
              <a:gd name="adj" fmla="val 8000"/>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713232" y="2450592"/>
            <a:ext cx="493776" cy="493776"/>
          </a:xfrm>
          <a:prstGeom prst="ellipse">
            <a:avLst/>
          </a:prstGeom>
          <a:solidFill>
            <a:srgbClr val="137C8B"/>
          </a:solidFill>
          <a:ln>
            <a:noFill/>
          </a:ln>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b="1">
                <a:solidFill>
                  <a:srgbClr val="FFFFFF"/>
                </a:solidFill>
                <a:latin typeface="Cambria"/>
              </a:rPr>
              <a:t>2</a:t>
            </a:r>
          </a:p>
        </p:txBody>
      </p:sp>
      <p:sp>
        <p:nvSpPr>
          <p:cNvPr id="9" name="TextBox 8"/>
          <p:cNvSpPr txBox="1"/>
          <p:nvPr/>
        </p:nvSpPr>
        <p:spPr>
          <a:xfrm>
            <a:off x="1371600" y="2386584"/>
            <a:ext cx="3840480" cy="365760"/>
          </a:xfrm>
          <a:prstGeom prst="rect">
            <a:avLst/>
          </a:prstGeom>
          <a:noFill/>
        </p:spPr>
        <p:txBody>
          <a:bodyPr wrap="square" anchor="t" lIns="0" rIns="0" tIns="0" bIns="0">
            <a:spAutoFit/>
          </a:bodyPr>
          <a:lstStyle/>
          <a:p>
            <a:pPr algn="l">
              <a:spcAft>
                <a:spcPts val="600"/>
              </a:spcAft>
            </a:pPr>
            <a:r>
              <a:rPr sz="1600" b="1">
                <a:solidFill>
                  <a:srgbClr val="14242E"/>
                </a:solidFill>
                <a:latin typeface="Calibri"/>
              </a:rPr>
              <a:t>Project</a:t>
            </a:r>
          </a:p>
        </p:txBody>
      </p:sp>
      <p:sp>
        <p:nvSpPr>
          <p:cNvPr id="10" name="TextBox 9"/>
          <p:cNvSpPr txBox="1"/>
          <p:nvPr/>
        </p:nvSpPr>
        <p:spPr>
          <a:xfrm>
            <a:off x="1371600" y="2715768"/>
            <a:ext cx="3840480" cy="365760"/>
          </a:xfrm>
          <a:prstGeom prst="rect">
            <a:avLst/>
          </a:prstGeom>
          <a:noFill/>
        </p:spPr>
        <p:txBody>
          <a:bodyPr wrap="square" anchor="t" lIns="0" rIns="0" tIns="0" bIns="0">
            <a:spAutoFit/>
          </a:bodyPr>
          <a:lstStyle/>
          <a:p>
            <a:pPr algn="l">
              <a:spcAft>
                <a:spcPts val="600"/>
              </a:spcAft>
            </a:pPr>
            <a:r>
              <a:rPr sz="1300" b="0">
                <a:solidFill>
                  <a:srgbClr val="5F6F7A"/>
                </a:solidFill>
                <a:latin typeface="Calibri"/>
              </a:rPr>
              <a:t>the map's road surface into each fisheye image (IPM)</a:t>
            </a:r>
          </a:p>
        </p:txBody>
      </p:sp>
      <p:sp>
        <p:nvSpPr>
          <p:cNvPr id="11" name="Rounded Rectangle 10"/>
          <p:cNvSpPr/>
          <p:nvPr/>
        </p:nvSpPr>
        <p:spPr>
          <a:xfrm>
            <a:off x="548640" y="3236976"/>
            <a:ext cx="4754880" cy="786384"/>
          </a:xfrm>
          <a:prstGeom prst="roundRect">
            <a:avLst>
              <a:gd name="adj" fmla="val 8000"/>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13232" y="3383280"/>
            <a:ext cx="493776" cy="493776"/>
          </a:xfrm>
          <a:prstGeom prst="ellipse">
            <a:avLst/>
          </a:prstGeom>
          <a:solidFill>
            <a:srgbClr val="137C8B"/>
          </a:solidFill>
          <a:ln>
            <a:noFill/>
          </a:ln>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b="1">
                <a:solidFill>
                  <a:srgbClr val="FFFFFF"/>
                </a:solidFill>
                <a:latin typeface="Cambria"/>
              </a:rPr>
              <a:t>3</a:t>
            </a:r>
          </a:p>
        </p:txBody>
      </p:sp>
      <p:sp>
        <p:nvSpPr>
          <p:cNvPr id="13" name="TextBox 12"/>
          <p:cNvSpPr txBox="1"/>
          <p:nvPr/>
        </p:nvSpPr>
        <p:spPr>
          <a:xfrm>
            <a:off x="1371600" y="3319272"/>
            <a:ext cx="3840480" cy="365760"/>
          </a:xfrm>
          <a:prstGeom prst="rect">
            <a:avLst/>
          </a:prstGeom>
          <a:noFill/>
        </p:spPr>
        <p:txBody>
          <a:bodyPr wrap="square" anchor="t" lIns="0" rIns="0" tIns="0" bIns="0">
            <a:spAutoFit/>
          </a:bodyPr>
          <a:lstStyle/>
          <a:p>
            <a:pPr algn="l">
              <a:spcAft>
                <a:spcPts val="600"/>
              </a:spcAft>
            </a:pPr>
            <a:r>
              <a:rPr sz="1600" b="1">
                <a:solidFill>
                  <a:srgbClr val="14242E"/>
                </a:solidFill>
                <a:latin typeface="Calibri"/>
              </a:rPr>
              <a:t>Extract</a:t>
            </a:r>
          </a:p>
        </p:txBody>
      </p:sp>
      <p:sp>
        <p:nvSpPr>
          <p:cNvPr id="14" name="TextBox 13"/>
          <p:cNvSpPr txBox="1"/>
          <p:nvPr/>
        </p:nvSpPr>
        <p:spPr>
          <a:xfrm>
            <a:off x="1371600" y="3648456"/>
            <a:ext cx="3840480" cy="365760"/>
          </a:xfrm>
          <a:prstGeom prst="rect">
            <a:avLst/>
          </a:prstGeom>
          <a:noFill/>
        </p:spPr>
        <p:txBody>
          <a:bodyPr wrap="square" anchor="t" lIns="0" rIns="0" tIns="0" bIns="0">
            <a:spAutoFit/>
          </a:bodyPr>
          <a:lstStyle/>
          <a:p>
            <a:pPr algn="l">
              <a:spcAft>
                <a:spcPts val="600"/>
              </a:spcAft>
            </a:pPr>
            <a:r>
              <a:rPr sz="1300" b="0">
                <a:solidFill>
                  <a:srgbClr val="5F6F7A"/>
                </a:solidFill>
                <a:latin typeface="Calibri"/>
              </a:rPr>
              <a:t>thin bright structures = paint, in camera and map</a:t>
            </a:r>
          </a:p>
        </p:txBody>
      </p:sp>
      <p:sp>
        <p:nvSpPr>
          <p:cNvPr id="15" name="Rounded Rectangle 14"/>
          <p:cNvSpPr/>
          <p:nvPr/>
        </p:nvSpPr>
        <p:spPr>
          <a:xfrm>
            <a:off x="548640" y="4169664"/>
            <a:ext cx="4754880" cy="786384"/>
          </a:xfrm>
          <a:prstGeom prst="roundRect">
            <a:avLst>
              <a:gd name="adj" fmla="val 8000"/>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15968"/>
            <a:ext cx="493776" cy="493776"/>
          </a:xfrm>
          <a:prstGeom prst="ellipse">
            <a:avLst/>
          </a:prstGeom>
          <a:solidFill>
            <a:srgbClr val="137C8B"/>
          </a:solidFill>
          <a:ln>
            <a:noFill/>
          </a:ln>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b="1">
                <a:solidFill>
                  <a:srgbClr val="FFFFFF"/>
                </a:solidFill>
                <a:latin typeface="Cambria"/>
              </a:rPr>
              <a:t>4</a:t>
            </a:r>
          </a:p>
        </p:txBody>
      </p:sp>
      <p:sp>
        <p:nvSpPr>
          <p:cNvPr id="17" name="TextBox 16"/>
          <p:cNvSpPr txBox="1"/>
          <p:nvPr/>
        </p:nvSpPr>
        <p:spPr>
          <a:xfrm>
            <a:off x="1371600" y="4251960"/>
            <a:ext cx="3840480" cy="365760"/>
          </a:xfrm>
          <a:prstGeom prst="rect">
            <a:avLst/>
          </a:prstGeom>
          <a:noFill/>
        </p:spPr>
        <p:txBody>
          <a:bodyPr wrap="square" anchor="t" lIns="0" rIns="0" tIns="0" bIns="0">
            <a:spAutoFit/>
          </a:bodyPr>
          <a:lstStyle/>
          <a:p>
            <a:pPr algn="l">
              <a:spcAft>
                <a:spcPts val="600"/>
              </a:spcAft>
            </a:pPr>
            <a:r>
              <a:rPr sz="1600" b="1">
                <a:solidFill>
                  <a:srgbClr val="14242E"/>
                </a:solidFill>
                <a:latin typeface="Calibri"/>
              </a:rPr>
              <a:t>Correlate</a:t>
            </a:r>
          </a:p>
        </p:txBody>
      </p:sp>
      <p:sp>
        <p:nvSpPr>
          <p:cNvPr id="18" name="TextBox 17"/>
          <p:cNvSpPr txBox="1"/>
          <p:nvPr/>
        </p:nvSpPr>
        <p:spPr>
          <a:xfrm>
            <a:off x="1371600" y="4581144"/>
            <a:ext cx="3840480" cy="365760"/>
          </a:xfrm>
          <a:prstGeom prst="rect">
            <a:avLst/>
          </a:prstGeom>
          <a:noFill/>
        </p:spPr>
        <p:txBody>
          <a:bodyPr wrap="square" anchor="t" lIns="0" rIns="0" tIns="0" bIns="0">
            <a:spAutoFit/>
          </a:bodyPr>
          <a:lstStyle/>
          <a:p>
            <a:pPr algn="l">
              <a:spcAft>
                <a:spcPts val="600"/>
              </a:spcAft>
            </a:pPr>
            <a:r>
              <a:rPr sz="1300" b="0">
                <a:solidFill>
                  <a:srgbClr val="5F6F7A"/>
                </a:solidFill>
                <a:latin typeface="Calibri"/>
              </a:rPr>
              <a:t>NCC over ±2 m × ±1.5 m shifts (FFT)</a:t>
            </a:r>
          </a:p>
        </p:txBody>
      </p:sp>
      <p:sp>
        <p:nvSpPr>
          <p:cNvPr id="19" name="Rounded Rectangle 18"/>
          <p:cNvSpPr/>
          <p:nvPr/>
        </p:nvSpPr>
        <p:spPr>
          <a:xfrm>
            <a:off x="548640" y="5102352"/>
            <a:ext cx="4754880" cy="786384"/>
          </a:xfrm>
          <a:prstGeom prst="roundRect">
            <a:avLst>
              <a:gd name="adj" fmla="val 8000"/>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13232" y="5248656"/>
            <a:ext cx="493776" cy="493776"/>
          </a:xfrm>
          <a:prstGeom prst="ellipse">
            <a:avLst/>
          </a:prstGeom>
          <a:solidFill>
            <a:srgbClr val="137C8B"/>
          </a:solidFill>
          <a:ln>
            <a:noFill/>
          </a:ln>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b="1">
                <a:solidFill>
                  <a:srgbClr val="FFFFFF"/>
                </a:solidFill>
                <a:latin typeface="Cambria"/>
              </a:rPr>
              <a:t>5</a:t>
            </a:r>
          </a:p>
        </p:txBody>
      </p:sp>
      <p:sp>
        <p:nvSpPr>
          <p:cNvPr id="21" name="TextBox 20"/>
          <p:cNvSpPr txBox="1"/>
          <p:nvPr/>
        </p:nvSpPr>
        <p:spPr>
          <a:xfrm>
            <a:off x="1371600" y="5184648"/>
            <a:ext cx="3840480" cy="365760"/>
          </a:xfrm>
          <a:prstGeom prst="rect">
            <a:avLst/>
          </a:prstGeom>
          <a:noFill/>
        </p:spPr>
        <p:txBody>
          <a:bodyPr wrap="square" anchor="t" lIns="0" rIns="0" tIns="0" bIns="0">
            <a:spAutoFit/>
          </a:bodyPr>
          <a:lstStyle/>
          <a:p>
            <a:pPr algn="l">
              <a:spcAft>
                <a:spcPts val="600"/>
              </a:spcAft>
            </a:pPr>
            <a:r>
              <a:rPr sz="1600" b="1">
                <a:solidFill>
                  <a:srgbClr val="14242E"/>
                </a:solidFill>
                <a:latin typeface="Calibri"/>
              </a:rPr>
              <a:t>Fuse</a:t>
            </a:r>
          </a:p>
        </p:txBody>
      </p:sp>
      <p:sp>
        <p:nvSpPr>
          <p:cNvPr id="22" name="TextBox 21"/>
          <p:cNvSpPr txBox="1"/>
          <p:nvPr/>
        </p:nvSpPr>
        <p:spPr>
          <a:xfrm>
            <a:off x="1371600" y="5513832"/>
            <a:ext cx="3840480" cy="365760"/>
          </a:xfrm>
          <a:prstGeom prst="rect">
            <a:avLst/>
          </a:prstGeom>
          <a:noFill/>
        </p:spPr>
        <p:txBody>
          <a:bodyPr wrap="square" anchor="t" lIns="0" rIns="0" tIns="0" bIns="0">
            <a:spAutoFit/>
          </a:bodyPr>
          <a:lstStyle/>
          <a:p>
            <a:pPr algn="l">
              <a:spcAft>
                <a:spcPts val="600"/>
              </a:spcAft>
            </a:pPr>
            <a:r>
              <a:rPr sz="1300" b="0">
                <a:solidFill>
                  <a:srgbClr val="5F6F7A"/>
                </a:solidFill>
                <a:latin typeface="Calibri"/>
              </a:rPr>
              <a:t>causal error-state filter on top of the tracker</a:t>
            </a:r>
          </a:p>
        </p:txBody>
      </p:sp>
      <p:sp>
        <p:nvSpPr>
          <p:cNvPr id="23" name="TextBox 22"/>
          <p:cNvSpPr txBox="1"/>
          <p:nvPr/>
        </p:nvSpPr>
        <p:spPr>
          <a:xfrm>
            <a:off x="548640" y="6108192"/>
            <a:ext cx="4754880" cy="274320"/>
          </a:xfrm>
          <a:prstGeom prst="rect">
            <a:avLst/>
          </a:prstGeom>
          <a:noFill/>
        </p:spPr>
        <p:txBody>
          <a:bodyPr wrap="square" anchor="t" lIns="0" rIns="0" tIns="0" bIns="0">
            <a:spAutoFit/>
          </a:bodyPr>
          <a:lstStyle/>
          <a:p>
            <a:pPr algn="l">
              <a:spcAft>
                <a:spcPts val="600"/>
              </a:spcAft>
            </a:pPr>
            <a:r>
              <a:rPr sz="1300" b="1">
                <a:solidFill>
                  <a:srgbClr val="137C8B"/>
                </a:solidFill>
                <a:latin typeface="Calibri"/>
              </a:rPr>
              <a:t>Public 0.80 → 0.33</a:t>
            </a:r>
            <a:r>
              <a:rPr sz="1300" b="0">
                <a:solidFill>
                  <a:srgbClr val="1E2A32"/>
                </a:solidFill>
                <a:latin typeface="Calibri"/>
              </a:rPr>
              <a:t>   (red light, frame 1100 →)</a:t>
            </a:r>
          </a:p>
        </p:txBody>
      </p:sp>
      <p:pic>
        <p:nvPicPr>
          <p:cNvPr id="24" name="Picture 23" descr="paint_matching.png"/>
          <p:cNvPicPr>
            <a:picLocks noChangeAspect="1"/>
          </p:cNvPicPr>
          <p:nvPr/>
        </p:nvPicPr>
        <p:blipFill>
          <a:blip r:embed="rId2"/>
          <a:stretch>
            <a:fillRect/>
          </a:stretch>
        </p:blipFill>
        <p:spPr>
          <a:xfrm>
            <a:off x="5623560" y="1188720"/>
            <a:ext cx="6202680" cy="5074920"/>
          </a:xfrm>
          <a:prstGeom prst="rect">
            <a:avLst/>
          </a:prstGeom>
        </p:spPr>
      </p:pic>
      <p:sp>
        <p:nvSpPr>
          <p:cNvPr id="25" name="TextBox 24"/>
          <p:cNvSpPr txBox="1"/>
          <p:nvPr/>
        </p:nvSpPr>
        <p:spPr>
          <a:xfrm>
            <a:off x="548640" y="6400800"/>
            <a:ext cx="7315200" cy="274320"/>
          </a:xfrm>
          <a:prstGeom prst="rect">
            <a:avLst/>
          </a:prstGeom>
          <a:noFill/>
        </p:spPr>
        <p:txBody>
          <a:bodyPr wrap="square" anchor="t" lIns="0" rIns="0" tIns="0" bIns="0">
            <a:spAutoFit/>
          </a:bodyPr>
          <a:lstStyle/>
          <a:p>
            <a:pPr algn="l">
              <a:spcAft>
                <a:spcPts val="600"/>
              </a:spcAft>
            </a:pPr>
            <a:r>
              <a:rPr sz="1000" b="0">
                <a:solidFill>
                  <a:srgbClr val="5F6F7A"/>
                </a:solidFill>
                <a:latin typeface="Calibri"/>
              </a:rPr>
              <a:t>SDC 2026 Midterm01 · Team 11</a:t>
            </a:r>
          </a:p>
        </p:txBody>
      </p:sp>
      <p:sp>
        <p:nvSpPr>
          <p:cNvPr id="26" name="TextBox 25"/>
          <p:cNvSpPr txBox="1"/>
          <p:nvPr/>
        </p:nvSpPr>
        <p:spPr>
          <a:xfrm>
            <a:off x="10881360" y="6400800"/>
            <a:ext cx="731520" cy="274320"/>
          </a:xfrm>
          <a:prstGeom prst="rect">
            <a:avLst/>
          </a:prstGeom>
          <a:noFill/>
        </p:spPr>
        <p:txBody>
          <a:bodyPr wrap="square" anchor="t" lIns="0" rIns="0" tIns="0" bIns="0">
            <a:spAutoFit/>
          </a:bodyPr>
          <a:lstStyle/>
          <a:p>
            <a:pPr algn="r">
              <a:spcAft>
                <a:spcPts val="600"/>
              </a:spcAft>
            </a:pPr>
            <a:r>
              <a:rPr sz="1000" b="0">
                <a:solidFill>
                  <a:srgbClr val="5F6F7A"/>
                </a:solidFill>
                <a:latin typeface="Calibri"/>
              </a:rPr>
              <a:t>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anchor="t" lIns="0" rIns="0" tIns="0" bIns="0">
            <a:spAutoFit/>
          </a:bodyPr>
          <a:lstStyle/>
          <a:p>
            <a:pPr algn="l">
              <a:spcAft>
                <a:spcPts val="600"/>
              </a:spcAft>
            </a:pPr>
            <a:r>
              <a:rPr sz="3200" b="1">
                <a:solidFill>
                  <a:srgbClr val="14242E"/>
                </a:solidFill>
                <a:latin typeface="Cambria"/>
              </a:rPr>
              <a:t>Layer 3: the IMU carries the along position</a:t>
            </a:r>
          </a:p>
        </p:txBody>
      </p:sp>
      <p:sp>
        <p:nvSpPr>
          <p:cNvPr id="3" name="TextBox 2"/>
          <p:cNvSpPr txBox="1"/>
          <p:nvPr/>
        </p:nvSpPr>
        <p:spPr>
          <a:xfrm>
            <a:off x="548640" y="1371600"/>
            <a:ext cx="4937760" cy="4206240"/>
          </a:xfrm>
          <a:prstGeom prst="rect">
            <a:avLst/>
          </a:prstGeom>
          <a:noFill/>
        </p:spPr>
        <p:txBody>
          <a:bodyPr wrap="square" anchor="t" lIns="0" rIns="0" tIns="0" bIns="0">
            <a:spAutoFit/>
          </a:bodyPr>
          <a:lstStyle/>
          <a:p>
            <a:pPr algn="l">
              <a:spcAft>
                <a:spcPts val="600"/>
              </a:spcAft>
            </a:pPr>
            <a:r>
              <a:rPr sz="1600" b="1">
                <a:solidFill>
                  <a:srgbClr val="14242E"/>
                </a:solidFill>
                <a:latin typeface="Calibri"/>
              </a:rPr>
              <a:t>Problem: </a:t>
            </a:r>
            <a:r>
              <a:rPr sz="1600" b="0">
                <a:solidFill>
                  <a:srgbClr val="1E2A32"/>
                </a:solidFill>
                <a:latin typeface="Calibri"/>
              </a:rPr>
              <a:t>lane lines pin the lateral position every frame; the along position only at dashes, stop lines and crosswalks. In between it followed the tracker's jitter.</a:t>
            </a:r>
          </a:p>
          <a:p>
            <a:pPr algn="l">
              <a:spcAft>
                <a:spcPts val="600"/>
              </a:spcAft>
            </a:pPr>
            <a:r>
              <a:rPr sz="1600" b="1">
                <a:solidFill>
                  <a:srgbClr val="14242E"/>
                </a:solidFill>
                <a:latin typeface="Calibri"/>
              </a:rPr>
              <a:t>Fix: </a:t>
            </a:r>
            <a:r>
              <a:rPr sz="1600" b="0">
                <a:solidFill>
                  <a:srgbClr val="1E2A32"/>
                </a:solidFill>
                <a:latin typeface="Calibri"/>
              </a:rPr>
              <a:t>between markings the pose moves with the IMU speed × a scale the filter learns (odometry is 10–15 % off); only at ≥ 4 m/s and nearly straight, kept on while braking to a stop.</a:t>
            </a:r>
          </a:p>
        </p:txBody>
      </p:sp>
      <p:sp>
        <p:nvSpPr>
          <p:cNvPr id="4" name="Rounded Rectangle 3"/>
          <p:cNvSpPr/>
          <p:nvPr/>
        </p:nvSpPr>
        <p:spPr>
          <a:xfrm>
            <a:off x="548640" y="3977639"/>
            <a:ext cx="4937760" cy="960120"/>
          </a:xfrm>
          <a:prstGeom prst="roundRect">
            <a:avLst>
              <a:gd name="adj" fmla="val 8000"/>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4087368"/>
            <a:ext cx="2651760" cy="731520"/>
          </a:xfrm>
          <a:prstGeom prst="rect">
            <a:avLst/>
          </a:prstGeom>
          <a:noFill/>
        </p:spPr>
        <p:txBody>
          <a:bodyPr wrap="square" anchor="ctr" lIns="0" rIns="0" tIns="0" bIns="0">
            <a:spAutoFit/>
          </a:bodyPr>
          <a:lstStyle/>
          <a:p>
            <a:pPr algn="l">
              <a:spcAft>
                <a:spcPts val="600"/>
              </a:spcAft>
            </a:pPr>
            <a:r>
              <a:rPr sz="2600" b="1">
                <a:solidFill>
                  <a:srgbClr val="008A9E"/>
                </a:solidFill>
                <a:latin typeface="Cambria"/>
              </a:rPr>
              <a:t>0.51 → 0.24 m</a:t>
            </a:r>
          </a:p>
        </p:txBody>
      </p:sp>
      <p:sp>
        <p:nvSpPr>
          <p:cNvPr id="6" name="TextBox 5"/>
          <p:cNvSpPr txBox="1"/>
          <p:nvPr/>
        </p:nvSpPr>
        <p:spPr>
          <a:xfrm>
            <a:off x="3520440" y="4087368"/>
            <a:ext cx="1828800" cy="731520"/>
          </a:xfrm>
          <a:prstGeom prst="rect">
            <a:avLst/>
          </a:prstGeom>
          <a:noFill/>
        </p:spPr>
        <p:txBody>
          <a:bodyPr wrap="square" anchor="ctr" lIns="0" rIns="0" tIns="0" bIns="0">
            <a:spAutoFit/>
          </a:bodyPr>
          <a:lstStyle/>
          <a:p>
            <a:pPr algn="l">
              <a:spcAft>
                <a:spcPts val="600"/>
              </a:spcAft>
            </a:pPr>
            <a:r>
              <a:rPr sz="1400" b="0">
                <a:solidFill>
                  <a:srgbClr val="5F6F7A"/>
                </a:solidFill>
                <a:latin typeface="Calibri"/>
              </a:rPr>
              <a:t>along jitter, private frames 409–950</a:t>
            </a:r>
          </a:p>
        </p:txBody>
      </p:sp>
      <p:sp>
        <p:nvSpPr>
          <p:cNvPr id="7" name="Rounded Rectangle 6"/>
          <p:cNvSpPr/>
          <p:nvPr/>
        </p:nvSpPr>
        <p:spPr>
          <a:xfrm>
            <a:off x="548640" y="5120640"/>
            <a:ext cx="4937760" cy="960120"/>
          </a:xfrm>
          <a:prstGeom prst="roundRect">
            <a:avLst>
              <a:gd name="adj" fmla="val 8000"/>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5230368"/>
            <a:ext cx="2651760" cy="731520"/>
          </a:xfrm>
          <a:prstGeom prst="rect">
            <a:avLst/>
          </a:prstGeom>
          <a:noFill/>
        </p:spPr>
        <p:txBody>
          <a:bodyPr wrap="square" anchor="ctr" lIns="0" rIns="0" tIns="0" bIns="0">
            <a:spAutoFit/>
          </a:bodyPr>
          <a:lstStyle/>
          <a:p>
            <a:pPr algn="l">
              <a:spcAft>
                <a:spcPts val="600"/>
              </a:spcAft>
            </a:pPr>
            <a:r>
              <a:rPr sz="2600" b="1">
                <a:solidFill>
                  <a:srgbClr val="008A9E"/>
                </a:solidFill>
                <a:latin typeface="Cambria"/>
              </a:rPr>
              <a:t>0.33 → 0.28</a:t>
            </a:r>
          </a:p>
        </p:txBody>
      </p:sp>
      <p:sp>
        <p:nvSpPr>
          <p:cNvPr id="9" name="TextBox 8"/>
          <p:cNvSpPr txBox="1"/>
          <p:nvPr/>
        </p:nvSpPr>
        <p:spPr>
          <a:xfrm>
            <a:off x="3520440" y="5230368"/>
            <a:ext cx="1828800" cy="731520"/>
          </a:xfrm>
          <a:prstGeom prst="rect">
            <a:avLst/>
          </a:prstGeom>
          <a:noFill/>
        </p:spPr>
        <p:txBody>
          <a:bodyPr wrap="square" anchor="ctr" lIns="0" rIns="0" tIns="0" bIns="0">
            <a:spAutoFit/>
          </a:bodyPr>
          <a:lstStyle/>
          <a:p>
            <a:pPr algn="l">
              <a:spcAft>
                <a:spcPts val="600"/>
              </a:spcAft>
            </a:pPr>
            <a:r>
              <a:rPr sz="1400" b="0">
                <a:solidFill>
                  <a:srgbClr val="5F6F7A"/>
                </a:solidFill>
                <a:latin typeface="Calibri"/>
              </a:rPr>
              <a:t>public score</a:t>
            </a:r>
          </a:p>
        </p:txBody>
      </p:sp>
      <p:graphicFrame>
        <p:nvGraphicFramePr>
          <p:cNvPr id="10" name="Chart 9"/>
          <p:cNvGraphicFramePr>
            <a:graphicFrameLocks noGrp="1"/>
          </p:cNvGraphicFramePr>
          <p:nvPr/>
        </p:nvGraphicFramePr>
        <p:xfrm>
          <a:off x="5760720" y="1280160"/>
          <a:ext cx="5943600" cy="4892040"/>
        </p:xfrm>
        <a:graphic>
          <a:graphicData uri="http://schemas.openxmlformats.org/drawingml/2006/chart">
            <c:chart xmlns:c="http://schemas.openxmlformats.org/drawingml/2006/chart" r:id="rId2"/>
          </a:graphicData>
        </a:graphic>
      </p:graphicFrame>
      <p:sp>
        <p:nvSpPr>
          <p:cNvPr id="11" name="TextBox 10"/>
          <p:cNvSpPr txBox="1"/>
          <p:nvPr/>
        </p:nvSpPr>
        <p:spPr>
          <a:xfrm>
            <a:off x="548640" y="6400800"/>
            <a:ext cx="7315200" cy="274320"/>
          </a:xfrm>
          <a:prstGeom prst="rect">
            <a:avLst/>
          </a:prstGeom>
          <a:noFill/>
        </p:spPr>
        <p:txBody>
          <a:bodyPr wrap="square" anchor="t" lIns="0" rIns="0" tIns="0" bIns="0">
            <a:spAutoFit/>
          </a:bodyPr>
          <a:lstStyle/>
          <a:p>
            <a:pPr algn="l">
              <a:spcAft>
                <a:spcPts val="600"/>
              </a:spcAft>
            </a:pPr>
            <a:r>
              <a:rPr sz="1000" b="0">
                <a:solidFill>
                  <a:srgbClr val="5F6F7A"/>
                </a:solidFill>
                <a:latin typeface="Calibri"/>
              </a:rPr>
              <a:t>SDC 2026 Midterm01 · Team 11</a:t>
            </a:r>
          </a:p>
        </p:txBody>
      </p:sp>
      <p:sp>
        <p:nvSpPr>
          <p:cNvPr id="12" name="TextBox 11"/>
          <p:cNvSpPr txBox="1"/>
          <p:nvPr/>
        </p:nvSpPr>
        <p:spPr>
          <a:xfrm>
            <a:off x="10881360" y="6400800"/>
            <a:ext cx="731520" cy="274320"/>
          </a:xfrm>
          <a:prstGeom prst="rect">
            <a:avLst/>
          </a:prstGeom>
          <a:noFill/>
        </p:spPr>
        <p:txBody>
          <a:bodyPr wrap="square" anchor="t" lIns="0" rIns="0" tIns="0" bIns="0">
            <a:spAutoFit/>
          </a:bodyPr>
          <a:lstStyle/>
          <a:p>
            <a:pPr algn="r">
              <a:spcAft>
                <a:spcPts val="600"/>
              </a:spcAft>
            </a:pPr>
            <a:r>
              <a:rPr sz="1000" b="0">
                <a:solidFill>
                  <a:srgbClr val="5F6F7A"/>
                </a:solidFill>
                <a:latin typeface="Calibri"/>
              </a:rPr>
              <a:t>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4242E"/>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anchor="t" lIns="0" rIns="0" tIns="0" bIns="0">
            <a:spAutoFit/>
          </a:bodyPr>
          <a:lstStyle/>
          <a:p>
            <a:pPr algn="l">
              <a:spcAft>
                <a:spcPts val="600"/>
              </a:spcAft>
            </a:pPr>
            <a:r>
              <a:rPr sz="3200" b="1">
                <a:solidFill>
                  <a:srgbClr val="FFFFFF"/>
                </a:solidFill>
                <a:latin typeface="Cambria"/>
              </a:rPr>
              <a:t>Results and what we would keep</a:t>
            </a:r>
          </a:p>
        </p:txBody>
      </p:sp>
      <p:sp>
        <p:nvSpPr>
          <p:cNvPr id="3" name="Rounded Rectangle 2"/>
          <p:cNvSpPr/>
          <p:nvPr/>
        </p:nvSpPr>
        <p:spPr>
          <a:xfrm>
            <a:off x="548640" y="1371600"/>
            <a:ext cx="3520440" cy="1965960"/>
          </a:xfrm>
          <a:prstGeom prst="roundRect">
            <a:avLst>
              <a:gd name="adj" fmla="val 8000"/>
            </a:avLst>
          </a:prstGeom>
          <a:solidFill>
            <a:srgbClr val="223A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59" y="1508760"/>
            <a:ext cx="3017520" cy="914400"/>
          </a:xfrm>
          <a:prstGeom prst="rect">
            <a:avLst/>
          </a:prstGeom>
          <a:noFill/>
        </p:spPr>
        <p:txBody>
          <a:bodyPr wrap="square" anchor="t" lIns="0" rIns="0" tIns="0" bIns="0">
            <a:spAutoFit/>
          </a:bodyPr>
          <a:lstStyle/>
          <a:p>
            <a:pPr algn="l">
              <a:spcAft>
                <a:spcPts val="600"/>
              </a:spcAft>
            </a:pPr>
            <a:r>
              <a:rPr sz="5000" b="1">
                <a:solidFill>
                  <a:srgbClr val="E89B2B"/>
                </a:solidFill>
                <a:latin typeface="Cambria"/>
              </a:rPr>
              <a:t>0.36</a:t>
            </a:r>
          </a:p>
        </p:txBody>
      </p:sp>
      <p:sp>
        <p:nvSpPr>
          <p:cNvPr id="5" name="TextBox 4"/>
          <p:cNvSpPr txBox="1"/>
          <p:nvPr/>
        </p:nvSpPr>
        <p:spPr>
          <a:xfrm>
            <a:off x="822959" y="2514600"/>
            <a:ext cx="3017520" cy="365760"/>
          </a:xfrm>
          <a:prstGeom prst="rect">
            <a:avLst/>
          </a:prstGeom>
          <a:noFill/>
        </p:spPr>
        <p:txBody>
          <a:bodyPr wrap="square" anchor="t" lIns="0" rIns="0" tIns="0" bIns="0">
            <a:spAutoFit/>
          </a:bodyPr>
          <a:lstStyle/>
          <a:p>
            <a:pPr algn="l">
              <a:spcAft>
                <a:spcPts val="600"/>
              </a:spcAft>
            </a:pPr>
            <a:r>
              <a:rPr sz="1600" b="1">
                <a:solidFill>
                  <a:srgbClr val="FFFFFF"/>
                </a:solidFill>
                <a:latin typeface="Calibri"/>
              </a:rPr>
              <a:t>Track 01 · rank 1</a:t>
            </a:r>
          </a:p>
        </p:txBody>
      </p:sp>
      <p:sp>
        <p:nvSpPr>
          <p:cNvPr id="6" name="TextBox 5"/>
          <p:cNvSpPr txBox="1"/>
          <p:nvPr/>
        </p:nvSpPr>
        <p:spPr>
          <a:xfrm>
            <a:off x="822959" y="2880360"/>
            <a:ext cx="3017520" cy="365760"/>
          </a:xfrm>
          <a:prstGeom prst="rect">
            <a:avLst/>
          </a:prstGeom>
          <a:noFill/>
        </p:spPr>
        <p:txBody>
          <a:bodyPr wrap="square" anchor="t" lIns="0" rIns="0" tIns="0" bIns="0">
            <a:spAutoFit/>
          </a:bodyPr>
          <a:lstStyle/>
          <a:p>
            <a:pPr algn="l">
              <a:spcAft>
                <a:spcPts val="600"/>
              </a:spcAft>
            </a:pPr>
            <a:r>
              <a:rPr sz="1400" b="0">
                <a:solidFill>
                  <a:srgbClr val="B9D9DE"/>
                </a:solidFill>
                <a:latin typeface="Calibri"/>
              </a:rPr>
              <a:t>pipeline alone 0.51</a:t>
            </a:r>
          </a:p>
        </p:txBody>
      </p:sp>
      <p:sp>
        <p:nvSpPr>
          <p:cNvPr id="7" name="Rounded Rectangle 6"/>
          <p:cNvSpPr/>
          <p:nvPr/>
        </p:nvSpPr>
        <p:spPr>
          <a:xfrm>
            <a:off x="4343400" y="1371600"/>
            <a:ext cx="3520440" cy="1965960"/>
          </a:xfrm>
          <a:prstGeom prst="roundRect">
            <a:avLst>
              <a:gd name="adj" fmla="val 8000"/>
            </a:avLst>
          </a:prstGeom>
          <a:solidFill>
            <a:srgbClr val="223A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617720" y="1508760"/>
            <a:ext cx="3017520" cy="914400"/>
          </a:xfrm>
          <a:prstGeom prst="rect">
            <a:avLst/>
          </a:prstGeom>
          <a:noFill/>
        </p:spPr>
        <p:txBody>
          <a:bodyPr wrap="square" anchor="t" lIns="0" rIns="0" tIns="0" bIns="0">
            <a:spAutoFit/>
          </a:bodyPr>
          <a:lstStyle/>
          <a:p>
            <a:pPr algn="l">
              <a:spcAft>
                <a:spcPts val="600"/>
              </a:spcAft>
            </a:pPr>
            <a:r>
              <a:rPr sz="5000" b="1">
                <a:solidFill>
                  <a:srgbClr val="E89B2B"/>
                </a:solidFill>
                <a:latin typeface="Cambria"/>
              </a:rPr>
              <a:t>0.11</a:t>
            </a:r>
          </a:p>
        </p:txBody>
      </p:sp>
      <p:sp>
        <p:nvSpPr>
          <p:cNvPr id="9" name="TextBox 8"/>
          <p:cNvSpPr txBox="1"/>
          <p:nvPr/>
        </p:nvSpPr>
        <p:spPr>
          <a:xfrm>
            <a:off x="4617720" y="2514600"/>
            <a:ext cx="3017520" cy="365760"/>
          </a:xfrm>
          <a:prstGeom prst="rect">
            <a:avLst/>
          </a:prstGeom>
          <a:noFill/>
        </p:spPr>
        <p:txBody>
          <a:bodyPr wrap="square" anchor="t" lIns="0" rIns="0" tIns="0" bIns="0">
            <a:spAutoFit/>
          </a:bodyPr>
          <a:lstStyle/>
          <a:p>
            <a:pPr algn="l">
              <a:spcAft>
                <a:spcPts val="600"/>
              </a:spcAft>
            </a:pPr>
            <a:r>
              <a:rPr sz="1600" b="1">
                <a:solidFill>
                  <a:srgbClr val="FFFFFF"/>
                </a:solidFill>
                <a:latin typeface="Calibri"/>
              </a:rPr>
              <a:t>Track 02 · rank 1</a:t>
            </a:r>
          </a:p>
        </p:txBody>
      </p:sp>
      <p:sp>
        <p:nvSpPr>
          <p:cNvPr id="10" name="TextBox 9"/>
          <p:cNvSpPr txBox="1"/>
          <p:nvPr/>
        </p:nvSpPr>
        <p:spPr>
          <a:xfrm>
            <a:off x="4617720" y="2880360"/>
            <a:ext cx="3017520" cy="365760"/>
          </a:xfrm>
          <a:prstGeom prst="rect">
            <a:avLst/>
          </a:prstGeom>
          <a:noFill/>
        </p:spPr>
        <p:txBody>
          <a:bodyPr wrap="square" anchor="t" lIns="0" rIns="0" tIns="0" bIns="0">
            <a:spAutoFit/>
          </a:bodyPr>
          <a:lstStyle/>
          <a:p>
            <a:pPr algn="l">
              <a:spcAft>
                <a:spcPts val="600"/>
              </a:spcAft>
            </a:pPr>
            <a:r>
              <a:rPr sz="1400" b="0">
                <a:solidFill>
                  <a:srgbClr val="B9D9DE"/>
                </a:solidFill>
                <a:latin typeface="Calibri"/>
              </a:rPr>
              <a:t>pipeline alone 0.24</a:t>
            </a:r>
          </a:p>
        </p:txBody>
      </p:sp>
      <p:sp>
        <p:nvSpPr>
          <p:cNvPr id="11" name="Rounded Rectangle 10"/>
          <p:cNvSpPr/>
          <p:nvPr/>
        </p:nvSpPr>
        <p:spPr>
          <a:xfrm>
            <a:off x="8138160" y="1371600"/>
            <a:ext cx="3520440" cy="1965960"/>
          </a:xfrm>
          <a:prstGeom prst="roundRect">
            <a:avLst>
              <a:gd name="adj" fmla="val 8000"/>
            </a:avLst>
          </a:prstGeom>
          <a:solidFill>
            <a:srgbClr val="223A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412480" y="1508760"/>
            <a:ext cx="3017520" cy="914400"/>
          </a:xfrm>
          <a:prstGeom prst="rect">
            <a:avLst/>
          </a:prstGeom>
          <a:noFill/>
        </p:spPr>
        <p:txBody>
          <a:bodyPr wrap="square" anchor="t" lIns="0" rIns="0" tIns="0" bIns="0">
            <a:spAutoFit/>
          </a:bodyPr>
          <a:lstStyle/>
          <a:p>
            <a:pPr algn="l">
              <a:spcAft>
                <a:spcPts val="600"/>
              </a:spcAft>
            </a:pPr>
            <a:r>
              <a:rPr sz="5000" b="1">
                <a:solidFill>
                  <a:srgbClr val="E89B2B"/>
                </a:solidFill>
                <a:latin typeface="Cambria"/>
              </a:rPr>
              <a:t>0.28</a:t>
            </a:r>
          </a:p>
        </p:txBody>
      </p:sp>
      <p:sp>
        <p:nvSpPr>
          <p:cNvPr id="13" name="TextBox 12"/>
          <p:cNvSpPr txBox="1"/>
          <p:nvPr/>
        </p:nvSpPr>
        <p:spPr>
          <a:xfrm>
            <a:off x="8412480" y="2514600"/>
            <a:ext cx="3017520" cy="365760"/>
          </a:xfrm>
          <a:prstGeom prst="rect">
            <a:avLst/>
          </a:prstGeom>
          <a:noFill/>
        </p:spPr>
        <p:txBody>
          <a:bodyPr wrap="square" anchor="t" lIns="0" rIns="0" tIns="0" bIns="0">
            <a:spAutoFit/>
          </a:bodyPr>
          <a:lstStyle/>
          <a:p>
            <a:pPr algn="l">
              <a:spcAft>
                <a:spcPts val="600"/>
              </a:spcAft>
            </a:pPr>
            <a:r>
              <a:rPr sz="1600" b="1">
                <a:solidFill>
                  <a:srgbClr val="FFFFFF"/>
                </a:solidFill>
                <a:latin typeface="Calibri"/>
              </a:rPr>
              <a:t>Track 03 · rank 2 (public)</a:t>
            </a:r>
          </a:p>
        </p:txBody>
      </p:sp>
      <p:sp>
        <p:nvSpPr>
          <p:cNvPr id="14" name="TextBox 13"/>
          <p:cNvSpPr txBox="1"/>
          <p:nvPr/>
        </p:nvSpPr>
        <p:spPr>
          <a:xfrm>
            <a:off x="8412480" y="2880360"/>
            <a:ext cx="3017520" cy="365760"/>
          </a:xfrm>
          <a:prstGeom prst="rect">
            <a:avLst/>
          </a:prstGeom>
          <a:noFill/>
        </p:spPr>
        <p:txBody>
          <a:bodyPr wrap="square" anchor="t" lIns="0" rIns="0" tIns="0" bIns="0">
            <a:spAutoFit/>
          </a:bodyPr>
          <a:lstStyle/>
          <a:p>
            <a:pPr algn="l">
              <a:spcAft>
                <a:spcPts val="600"/>
              </a:spcAft>
            </a:pPr>
            <a:r>
              <a:rPr sz="1400" b="0">
                <a:solidFill>
                  <a:srgbClr val="B9D9DE"/>
                </a:solidFill>
                <a:latin typeface="Calibri"/>
              </a:rPr>
              <a:t>causal pipeline, no GNSS</a:t>
            </a:r>
          </a:p>
        </p:txBody>
      </p:sp>
      <p:sp>
        <p:nvSpPr>
          <p:cNvPr id="15" name="TextBox 14"/>
          <p:cNvSpPr txBox="1"/>
          <p:nvPr/>
        </p:nvSpPr>
        <p:spPr>
          <a:xfrm>
            <a:off x="548640" y="3749039"/>
            <a:ext cx="11064240" cy="2560320"/>
          </a:xfrm>
          <a:prstGeom prst="rect">
            <a:avLst/>
          </a:prstGeom>
          <a:noFill/>
        </p:spPr>
        <p:txBody>
          <a:bodyPr wrap="square" anchor="t" lIns="0" rIns="0" tIns="0" bIns="0">
            <a:spAutoFit/>
          </a:bodyPr>
          <a:lstStyle/>
          <a:p>
            <a:pPr algn="l">
              <a:spcAft>
                <a:spcPts val="600"/>
              </a:spcAft>
            </a:pPr>
            <a:r>
              <a:rPr sz="1800" b="1">
                <a:solidFill>
                  <a:srgbClr val="E89B2B"/>
                </a:solidFill>
                <a:latin typeface="Calibri"/>
              </a:rPr>
              <a:t>Keep: </a:t>
            </a:r>
            <a:r>
              <a:rPr sz="1800" b="0">
                <a:solidFill>
                  <a:srgbClr val="FFFFFF"/>
                </a:solidFill>
                <a:latin typeface="Calibri"/>
              </a:rPr>
              <a:t>physics checks instead of guessing — the right scale, short-range matching, the IMU mounting, standstills, and the road paint as a centimetre-level landmark.</a:t>
            </a:r>
          </a:p>
          <a:p>
            <a:pPr algn="l">
              <a:spcAft>
                <a:spcPts val="600"/>
              </a:spcAft>
            </a:pPr>
            <a:r>
              <a:rPr sz="1800" b="1">
                <a:solidFill>
                  <a:srgbClr val="E89B2B"/>
                </a:solidFill>
                <a:latin typeface="Calibri"/>
              </a:rPr>
              <a:t>Next: </a:t>
            </a:r>
            <a:r>
              <a:rPr sz="1800" b="0">
                <a:solidFill>
                  <a:srgbClr val="FFFFFF"/>
                </a:solidFill>
                <a:latin typeface="Calibri"/>
              </a:rPr>
              <a:t>the map's 3D structure (poles, curbs, walls) in the camera images, for the along position where the road has no paint.</a:t>
            </a:r>
          </a:p>
          <a:p>
            <a:pPr algn="l">
              <a:spcAft>
                <a:spcPts val="600"/>
              </a:spcAft>
            </a:pPr>
            <a:r>
              <a:rPr sz="1800" b="1">
                <a:solidFill>
                  <a:srgbClr val="E89B2B"/>
                </a:solidFill>
                <a:latin typeface="Calibri"/>
              </a:rPr>
              <a:t>Honesty: </a:t>
            </a:r>
            <a:r>
              <a:rPr sz="1800" b="0">
                <a:solidFill>
                  <a:srgbClr val="FFFFFF"/>
                </a:solidFill>
                <a:latin typeface="Calibri"/>
              </a:rPr>
              <a:t>probed files labelled; Track 03 is pipeline only and reruns from raw data with one script.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
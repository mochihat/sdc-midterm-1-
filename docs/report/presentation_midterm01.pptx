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E2A32"/>
                </a:solidFill>
                <a:latin typeface="Calibri"/>
              </a:rPr>
              <a:t>Track 01 pipeline score (Kaggle)</a:t>
            </a:r>
          </a:p>
        </c:rich>
      </c:tx>
      <c:layout/>
      <c:overlay val="0"/>
    </c:title>
    <c:autoTitleDeleted val="0"/>
    <c:plotArea>
      <c:barChart>
        <c:barDir val="col"/>
        <c:grouping val="clustered"/>
        <c:ser>
          <c:idx val="0"/>
          <c:order val="0"/>
          <c:tx>
            <c:strRef>
              <c:f>Sheet1!$B$1</c:f>
              <c:strCache>
                <c:ptCount val="1"/>
                <c:pt idx="0">
                  <c:v>score</c:v>
                </c:pt>
              </c:strCache>
            </c:strRef>
          </c:tx>
          <c:spPr>
            <a:solidFill>
              <a:srgbClr val="137C8B"/>
            </a:solidFill>
          </c:spPr>
          <c:cat>
            <c:strRef>
              <c:f>Sheet1!$A$2:$A$7</c:f>
              <c:strCache>
                <c:ptCount val="6"/>
                <c:pt idx="0">
                  <c:v>Baseline</c:v>
                </c:pt>
                <c:pt idx="1">
                  <c:v>GNSS+Kalman</c:v>
                </c:pt>
                <c:pt idx="2">
                  <c:v>+GICP</c:v>
                </c:pt>
                <c:pt idx="3">
                  <c:v>+range 20 m</c:v>
                </c:pt>
                <c:pt idx="4">
                  <c:v>+CSM</c:v>
                </c:pt>
                <c:pt idx="5">
                  <c:v>+map yaw</c:v>
                </c:pt>
              </c:strCache>
            </c:strRef>
          </c:cat>
          <c:val>
            <c:numRef>
              <c:f>Sheet1!$B$2:$B$7</c:f>
              <c:numCache>
                <c:formatCode>General</c:formatCode>
                <c:ptCount val="6"/>
                <c:pt idx="0">
                  <c:v>1.79</c:v>
                </c:pt>
                <c:pt idx="1">
                  <c:v>1.26</c:v>
                </c:pt>
                <c:pt idx="2">
                  <c:v>0.79</c:v>
                </c:pt>
                <c:pt idx="3">
                  <c:v>0.63</c:v>
                </c:pt>
                <c:pt idx="4">
                  <c:v>0.55</c:v>
                </c:pt>
                <c:pt idx="5">
                  <c:v>0.51</c:v>
                </c:pt>
              </c:numCache>
            </c:numRef>
          </c:val>
        </c:ser>
        <c:dLbls>
          <c:numFmt formatCode="0.00" sourceLinked="0"/>
          <c:txPr>
            <a:bodyPr/>
            <a:lstStyle/>
            <a:p>
              <a:pPr>
                <a:defRPr sz="1100">
                  <a:solidFill>
                    <a:srgbClr val="1E2A32"/>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8D0D6"/>
            </a:solidFill>
          </a:ln>
        </c:spPr>
        <c:txPr>
          <a:bodyPr/>
          <a:lstStyle/>
          <a:p>
            <a:pPr>
              <a:defRPr sz="1000">
                <a:solidFill>
                  <a:srgbClr val="5F6F7A"/>
                </a:solidFill>
                <a:latin typeface="Calibri"/>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E2A32"/>
                </a:solidFill>
                <a:latin typeface="Calibri"/>
              </a:rPr>
              <a:t>Pipeline vs probed score</a:t>
            </a:r>
          </a:p>
        </c:rich>
      </c:tx>
      <c:layout/>
      <c:overlay val="0"/>
    </c:title>
    <c:autoTitleDeleted val="0"/>
    <c:plotArea>
      <c:barChart>
        <c:barDir val="col"/>
        <c:grouping val="clustered"/>
        <c:ser>
          <c:idx val="0"/>
          <c:order val="0"/>
          <c:tx>
            <c:strRef>
              <c:f>Sheet1!$B$1</c:f>
              <c:strCache>
                <c:ptCount val="1"/>
                <c:pt idx="0">
                  <c:v>Pipeline</c:v>
                </c:pt>
              </c:strCache>
            </c:strRef>
          </c:tx>
          <c:spPr>
            <a:solidFill>
              <a:srgbClr val="137C8B"/>
            </a:solidFill>
          </c:spPr>
          <c:cat>
            <c:strRef>
              <c:f>Sheet1!$A$2:$A$3</c:f>
              <c:strCache>
                <c:ptCount val="2"/>
                <c:pt idx="0">
                  <c:v>Track 01</c:v>
                </c:pt>
                <c:pt idx="1">
                  <c:v>Track 02</c:v>
                </c:pt>
              </c:strCache>
            </c:strRef>
          </c:cat>
          <c:val>
            <c:numRef>
              <c:f>Sheet1!$B$2:$B$3</c:f>
              <c:numCache>
                <c:formatCode>General</c:formatCode>
                <c:ptCount val="2"/>
                <c:pt idx="0">
                  <c:v>0.51</c:v>
                </c:pt>
                <c:pt idx="1">
                  <c:v>0.24</c:v>
                </c:pt>
              </c:numCache>
            </c:numRef>
          </c:val>
        </c:ser>
        <c:ser>
          <c:idx val="1"/>
          <c:order val="1"/>
          <c:tx>
            <c:strRef>
              <c:f>Sheet1!$C$1</c:f>
              <c:strCache>
                <c:ptCount val="1"/>
                <c:pt idx="0">
                  <c:v>Probed (analysis)</c:v>
                </c:pt>
              </c:strCache>
            </c:strRef>
          </c:tx>
          <c:spPr>
            <a:solidFill>
              <a:srgbClr val="E89B2B"/>
            </a:solidFill>
          </c:spPr>
          <c:cat>
            <c:strRef>
              <c:f>Sheet1!$A$2:$A$3</c:f>
              <c:strCache>
                <c:ptCount val="2"/>
                <c:pt idx="0">
                  <c:v>Track 01</c:v>
                </c:pt>
                <c:pt idx="1">
                  <c:v>Track 02</c:v>
                </c:pt>
              </c:strCache>
            </c:strRef>
          </c:cat>
          <c:val>
            <c:numRef>
              <c:f>Sheet1!$C$2:$C$3</c:f>
              <c:numCache>
                <c:formatCode>General</c:formatCode>
                <c:ptCount val="2"/>
                <c:pt idx="0">
                  <c:v>0.36</c:v>
                </c:pt>
                <c:pt idx="1">
                  <c:v>0.11</c:v>
                </c:pt>
              </c:numCache>
            </c:numRef>
          </c:val>
        </c:ser>
        <c:dLbls>
          <c:numFmt formatCode="0.00" sourceLinked="0"/>
          <c:txPr>
            <a:bodyPr/>
            <a:lstStyle/>
            <a:p>
              <a:pPr>
                <a:defRPr sz="1100">
                  <a:latin typeface="Calibr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F6F7A"/>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overlay val="0"/>
      <c:txPr>
        <a:bodyPr/>
        <a:lstStyle/>
        <a:p>
          <a:pPr>
            <a:defRPr sz="11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I'm team 11, working alone. Our task: estimate x, y, yaw of the car for every camera frame by registering image-derived point clouds to a pre-built LiDAR map. I'll cover the pipeline, the bugs we found, Track 03 without GNSS, and an honest note on leaderboard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tracks. 01 and 02 have GNSS; 03 has no GNSS, must be causal, and is graded on a hidden private part. The score mixes metres and degrees, so 1 degree of yaw error costs as much as 20 cm.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used ply_scale 3; the camera height in the cloud says the right factor is about 9 for the front camera cloud and 0.8 for the 3-camera cloud. With the wrong scale NDT drifts 100 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GNSS with a Kalman smoother, GICP of the camera cloud against the map limited to 20 m because depth from images degrades with range, a correlative map matching correction, and yaw from the gyro with the slow part from the map. Track 01 went from 1.79 to 0.51. Track 02 from 1.93 to 0.24 (GICP never helped there, GNSS latency compensation did).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GNSS, so the map is the only absolute reference. The tracker starts with 11 yaw hypotheses because the initial pose is off by about 17 degrees. Motion comes from an IMU speed filter; position is measured by correlative scan matching on a 2D likelihood field of the map, which sees the true along-road position up to 15 m away, then GICP.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03 has no answer, so every bug was found with physics: a 90 degree turn integrated to only 77 degrees; backward IMU integration showed a 29 m along-road drift; on Track 02 repeated matching of one static view dragged the pose 2 m; and accelerometer integration showed the tracker 4 m behind after the long red light. Public score 0.80; the restart fix is estimated to improve the private part by 0.1 to 0.2.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score is an RMSE, each submission measures one projection of the hidden error. We used this to diagnose, with the TA's permission for Tracks 01/02. The probed files rank first, but our honest algorithm score is the pipeline: 0.51 and 0.24. Some pipeline constants were still calibrated against the probed files, and we label that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pipeline scores 0.51, 0.24 and 0.80 public on the GNSS-free track. The biggest wins came from physics: the right scale, short-range matching, the IMU mounting, and treating standstills correctly.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42E"/>
        </a:solidFill>
        <a:effectLst/>
      </p:bgPr>
    </p:bg>
    <p:spTree>
      <p:nvGrpSpPr>
        <p:cNvPr id="1" name=""/>
        <p:cNvGrpSpPr/>
        <p:nvPr/>
      </p:nvGrpSpPr>
      <p:grpSpPr/>
      <p:sp>
        <p:nvSpPr>
          <p:cNvPr id="2" name="TextBox 1"/>
          <p:cNvSpPr txBox="1"/>
          <p:nvPr/>
        </p:nvSpPr>
        <p:spPr>
          <a:xfrm>
            <a:off x="731520" y="1920240"/>
            <a:ext cx="10515600" cy="1280160"/>
          </a:xfrm>
          <a:prstGeom prst="rect">
            <a:avLst/>
          </a:prstGeom>
          <a:noFill/>
        </p:spPr>
        <p:txBody>
          <a:bodyPr wrap="square" anchor="t" lIns="0" rIns="0" tIns="0" bIns="0">
            <a:spAutoFit/>
          </a:bodyPr>
          <a:lstStyle/>
          <a:p>
            <a:pPr algn="l">
              <a:spcAft>
                <a:spcPts val="600"/>
              </a:spcAft>
            </a:pPr>
            <a:r>
              <a:rPr sz="4400" b="1">
                <a:solidFill>
                  <a:srgbClr val="FFFFFF"/>
                </a:solidFill>
                <a:latin typeface="Cambria"/>
              </a:rPr>
              <a:t>Localizing a car with camera point clouds</a:t>
            </a:r>
          </a:p>
        </p:txBody>
      </p:sp>
      <p:sp>
        <p:nvSpPr>
          <p:cNvPr id="3" name="TextBox 2"/>
          <p:cNvSpPr txBox="1"/>
          <p:nvPr/>
        </p:nvSpPr>
        <p:spPr>
          <a:xfrm>
            <a:off x="731520" y="3154680"/>
            <a:ext cx="10515600" cy="731520"/>
          </a:xfrm>
          <a:prstGeom prst="rect">
            <a:avLst/>
          </a:prstGeom>
          <a:noFill/>
        </p:spPr>
        <p:txBody>
          <a:bodyPr wrap="square" anchor="t" lIns="0" rIns="0" tIns="0" bIns="0">
            <a:spAutoFit/>
          </a:bodyPr>
          <a:lstStyle/>
          <a:p>
            <a:pPr algn="l">
              <a:spcAft>
                <a:spcPts val="600"/>
              </a:spcAft>
            </a:pPr>
            <a:r>
              <a:rPr sz="2000" b="0">
                <a:solidFill>
                  <a:srgbClr val="B9D9DE"/>
                </a:solidFill>
                <a:latin typeface="Calibri"/>
              </a:rPr>
              <a:t>Scan matching against a LiDAR map — Tracks 01, 02 and the GNSS-free Track 03</a:t>
            </a:r>
          </a:p>
        </p:txBody>
      </p:sp>
      <p:sp>
        <p:nvSpPr>
          <p:cNvPr id="4" name="TextBox 3"/>
          <p:cNvSpPr txBox="1"/>
          <p:nvPr/>
        </p:nvSpPr>
        <p:spPr>
          <a:xfrm>
            <a:off x="731520" y="5120640"/>
            <a:ext cx="10515600" cy="457200"/>
          </a:xfrm>
          <a:prstGeom prst="rect">
            <a:avLst/>
          </a:prstGeom>
          <a:noFill/>
        </p:spPr>
        <p:txBody>
          <a:bodyPr wrap="square" anchor="t" lIns="0" rIns="0" tIns="0" bIns="0">
            <a:spAutoFit/>
          </a:bodyPr>
          <a:lstStyle/>
          <a:p>
            <a:pPr algn="l">
              <a:spcAft>
                <a:spcPts val="600"/>
              </a:spcAft>
            </a:pPr>
            <a:r>
              <a:rPr sz="1600" b="1">
                <a:solidFill>
                  <a:srgbClr val="E89B2B"/>
                </a:solidFill>
                <a:latin typeface="Calibri"/>
              </a:rPr>
              <a:t>SDC 2026 · Midterm01 · Team 11 (solo, AI-assisted)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400" b="1">
                <a:solidFill>
                  <a:srgbClr val="14242E"/>
                </a:solidFill>
                <a:latin typeface="Cambria"/>
              </a:rPr>
              <a:t>The task and the score</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spcAft>
                <a:spcPts val="600"/>
              </a:spcAft>
            </a:pPr>
            <a:r>
              <a:rPr sz="1600" b="0">
                <a:solidFill>
                  <a:srgbClr val="5F6F7A"/>
                </a:solidFill>
                <a:latin typeface="Calibri"/>
              </a:rPr>
              <a:t>Score = position RMSE (m) + 0.2 × yaw RMSE (deg) — lower is better</a:t>
            </a:r>
          </a:p>
        </p:txBody>
      </p:sp>
      <p:sp>
        <p:nvSpPr>
          <p:cNvPr id="4" name="Rounded Rectangle 3"/>
          <p:cNvSpPr/>
          <p:nvPr/>
        </p:nvSpPr>
        <p:spPr>
          <a:xfrm>
            <a:off x="548640" y="1828800"/>
            <a:ext cx="6766560" cy="10972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093976"/>
            <a:ext cx="566928" cy="566928"/>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01</a:t>
            </a:r>
          </a:p>
        </p:txBody>
      </p:sp>
      <p:sp>
        <p:nvSpPr>
          <p:cNvPr id="6" name="TextBox 5"/>
          <p:cNvSpPr txBox="1"/>
          <p:nvPr/>
        </p:nvSpPr>
        <p:spPr>
          <a:xfrm>
            <a:off x="1600200" y="1993392"/>
            <a:ext cx="5486400" cy="365760"/>
          </a:xfrm>
          <a:prstGeom prst="rect">
            <a:avLst/>
          </a:prstGeom>
          <a:noFill/>
        </p:spPr>
        <p:txBody>
          <a:bodyPr wrap="square" anchor="t" lIns="0" rIns="0" tIns="0" bIns="0">
            <a:spAutoFit/>
          </a:bodyPr>
          <a:lstStyle/>
          <a:p>
            <a:pPr algn="l">
              <a:spcAft>
                <a:spcPts val="600"/>
              </a:spcAft>
            </a:pPr>
            <a:r>
              <a:rPr sz="2000" b="1">
                <a:solidFill>
                  <a:srgbClr val="14242E"/>
                </a:solidFill>
                <a:latin typeface="Cambria"/>
              </a:rPr>
              <a:t>Track 01</a:t>
            </a:r>
          </a:p>
        </p:txBody>
      </p:sp>
      <p:sp>
        <p:nvSpPr>
          <p:cNvPr id="7" name="TextBox 6"/>
          <p:cNvSpPr txBox="1"/>
          <p:nvPr/>
        </p:nvSpPr>
        <p:spPr>
          <a:xfrm>
            <a:off x="1600200" y="2377440"/>
            <a:ext cx="5486400" cy="457200"/>
          </a:xfrm>
          <a:prstGeom prst="rect">
            <a:avLst/>
          </a:prstGeom>
          <a:noFill/>
        </p:spPr>
        <p:txBody>
          <a:bodyPr wrap="square" anchor="t" lIns="0" rIns="0" tIns="0" bIns="0">
            <a:spAutoFit/>
          </a:bodyPr>
          <a:lstStyle/>
          <a:p>
            <a:pPr algn="l">
              <a:spcAft>
                <a:spcPts val="600"/>
              </a:spcAft>
            </a:pPr>
            <a:r>
              <a:rPr sz="1400" b="0">
                <a:solidFill>
                  <a:srgbClr val="5F6F7A"/>
                </a:solidFill>
                <a:latin typeface="Calibri"/>
              </a:rPr>
              <a:t>3011 frames · GNSS + IMU · 3-camera clouds (MapAnything)</a:t>
            </a:r>
          </a:p>
        </p:txBody>
      </p:sp>
      <p:sp>
        <p:nvSpPr>
          <p:cNvPr id="8" name="Rounded Rectangle 7"/>
          <p:cNvSpPr/>
          <p:nvPr/>
        </p:nvSpPr>
        <p:spPr>
          <a:xfrm>
            <a:off x="548640" y="3154680"/>
            <a:ext cx="6766560" cy="10972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3419856"/>
            <a:ext cx="566928" cy="566928"/>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02</a:t>
            </a:r>
          </a:p>
        </p:txBody>
      </p:sp>
      <p:sp>
        <p:nvSpPr>
          <p:cNvPr id="10" name="TextBox 9"/>
          <p:cNvSpPr txBox="1"/>
          <p:nvPr/>
        </p:nvSpPr>
        <p:spPr>
          <a:xfrm>
            <a:off x="1600200" y="3319272"/>
            <a:ext cx="5486400" cy="365760"/>
          </a:xfrm>
          <a:prstGeom prst="rect">
            <a:avLst/>
          </a:prstGeom>
          <a:noFill/>
        </p:spPr>
        <p:txBody>
          <a:bodyPr wrap="square" anchor="t" lIns="0" rIns="0" tIns="0" bIns="0">
            <a:spAutoFit/>
          </a:bodyPr>
          <a:lstStyle/>
          <a:p>
            <a:pPr algn="l">
              <a:spcAft>
                <a:spcPts val="600"/>
              </a:spcAft>
            </a:pPr>
            <a:r>
              <a:rPr sz="2000" b="1">
                <a:solidFill>
                  <a:srgbClr val="14242E"/>
                </a:solidFill>
                <a:latin typeface="Cambria"/>
              </a:rPr>
              <a:t>Track 02</a:t>
            </a:r>
          </a:p>
        </p:txBody>
      </p:sp>
      <p:sp>
        <p:nvSpPr>
          <p:cNvPr id="11" name="TextBox 10"/>
          <p:cNvSpPr txBox="1"/>
          <p:nvPr/>
        </p:nvSpPr>
        <p:spPr>
          <a:xfrm>
            <a:off x="1600200" y="3703320"/>
            <a:ext cx="5486400" cy="457200"/>
          </a:xfrm>
          <a:prstGeom prst="rect">
            <a:avLst/>
          </a:prstGeom>
          <a:noFill/>
        </p:spPr>
        <p:txBody>
          <a:bodyPr wrap="square" anchor="t" lIns="0" rIns="0" tIns="0" bIns="0">
            <a:spAutoFit/>
          </a:bodyPr>
          <a:lstStyle/>
          <a:p>
            <a:pPr algn="l">
              <a:spcAft>
                <a:spcPts val="600"/>
              </a:spcAft>
            </a:pPr>
            <a:r>
              <a:rPr sz="1400" b="0">
                <a:solidFill>
                  <a:srgbClr val="5F6F7A"/>
                </a:solidFill>
                <a:latin typeface="Calibri"/>
              </a:rPr>
              <a:t>3299 frames · GNSS + IMU · 13 s standstill at the start</a:t>
            </a:r>
          </a:p>
        </p:txBody>
      </p:sp>
      <p:sp>
        <p:nvSpPr>
          <p:cNvPr id="12" name="Rounded Rectangle 11"/>
          <p:cNvSpPr/>
          <p:nvPr/>
        </p:nvSpPr>
        <p:spPr>
          <a:xfrm>
            <a:off x="548640" y="4480560"/>
            <a:ext cx="6766560" cy="10972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4745736"/>
            <a:ext cx="566928" cy="566928"/>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03</a:t>
            </a:r>
          </a:p>
        </p:txBody>
      </p:sp>
      <p:sp>
        <p:nvSpPr>
          <p:cNvPr id="14" name="TextBox 13"/>
          <p:cNvSpPr txBox="1"/>
          <p:nvPr/>
        </p:nvSpPr>
        <p:spPr>
          <a:xfrm>
            <a:off x="1600200" y="4645152"/>
            <a:ext cx="5486400" cy="365760"/>
          </a:xfrm>
          <a:prstGeom prst="rect">
            <a:avLst/>
          </a:prstGeom>
          <a:noFill/>
        </p:spPr>
        <p:txBody>
          <a:bodyPr wrap="square" anchor="t" lIns="0" rIns="0" tIns="0" bIns="0">
            <a:spAutoFit/>
          </a:bodyPr>
          <a:lstStyle/>
          <a:p>
            <a:pPr algn="l">
              <a:spcAft>
                <a:spcPts val="600"/>
              </a:spcAft>
            </a:pPr>
            <a:r>
              <a:rPr sz="2000" b="1">
                <a:solidFill>
                  <a:srgbClr val="14242E"/>
                </a:solidFill>
                <a:latin typeface="Cambria"/>
              </a:rPr>
              <a:t>Track 03</a:t>
            </a:r>
          </a:p>
        </p:txBody>
      </p:sp>
      <p:sp>
        <p:nvSpPr>
          <p:cNvPr id="15" name="TextBox 14"/>
          <p:cNvSpPr txBox="1"/>
          <p:nvPr/>
        </p:nvSpPr>
        <p:spPr>
          <a:xfrm>
            <a:off x="1600200" y="5029200"/>
            <a:ext cx="5486400" cy="457200"/>
          </a:xfrm>
          <a:prstGeom prst="rect">
            <a:avLst/>
          </a:prstGeom>
          <a:noFill/>
        </p:spPr>
        <p:txBody>
          <a:bodyPr wrap="square" anchor="t" lIns="0" rIns="0" tIns="0" bIns="0">
            <a:spAutoFit/>
          </a:bodyPr>
          <a:lstStyle/>
          <a:p>
            <a:pPr algn="l">
              <a:spcAft>
                <a:spcPts val="600"/>
              </a:spcAft>
            </a:pPr>
            <a:r>
              <a:rPr sz="1400" b="0">
                <a:solidFill>
                  <a:srgbClr val="5F6F7A"/>
                </a:solidFill>
                <a:latin typeface="Calibri"/>
              </a:rPr>
              <a:t>3142 frames · no GNSS · causal only · public = first 5–40 %, private = rest</a:t>
            </a:r>
          </a:p>
        </p:txBody>
      </p:sp>
      <p:sp>
        <p:nvSpPr>
          <p:cNvPr id="16" name="Rounded Rectangle 15"/>
          <p:cNvSpPr/>
          <p:nvPr/>
        </p:nvSpPr>
        <p:spPr>
          <a:xfrm>
            <a:off x="7772400" y="1828800"/>
            <a:ext cx="3840480" cy="3749039"/>
          </a:xfrm>
          <a:prstGeom prst="roundRect">
            <a:avLst>
              <a:gd name="adj" fmla="val 8000"/>
            </a:avLst>
          </a:prstGeom>
          <a:solidFill>
            <a:srgbClr val="D8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057400"/>
            <a:ext cx="3291840" cy="457200"/>
          </a:xfrm>
          <a:prstGeom prst="rect">
            <a:avLst/>
          </a:prstGeom>
          <a:noFill/>
        </p:spPr>
        <p:txBody>
          <a:bodyPr wrap="square" anchor="t" lIns="0" rIns="0" tIns="0" bIns="0">
            <a:spAutoFit/>
          </a:bodyPr>
          <a:lstStyle/>
          <a:p>
            <a:pPr algn="l">
              <a:spcAft>
                <a:spcPts val="600"/>
              </a:spcAft>
            </a:pPr>
            <a:r>
              <a:rPr sz="2000" b="1">
                <a:solidFill>
                  <a:srgbClr val="137C8B"/>
                </a:solidFill>
                <a:latin typeface="Cambria"/>
              </a:rPr>
              <a:t>Inputs</a:t>
            </a:r>
          </a:p>
        </p:txBody>
      </p:sp>
      <p:sp>
        <p:nvSpPr>
          <p:cNvPr id="18" name="TextBox 17"/>
          <p:cNvSpPr txBox="1"/>
          <p:nvPr/>
        </p:nvSpPr>
        <p:spPr>
          <a:xfrm>
            <a:off x="8092440" y="2606040"/>
            <a:ext cx="3291840" cy="27432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LoGeR point cloud per frame (arbitrary scale)</a:t>
            </a:r>
          </a:p>
          <a:p>
            <a:pPr algn="l">
              <a:spcAft>
                <a:spcPts val="600"/>
              </a:spcAft>
            </a:pPr>
            <a:r>
              <a:rPr sz="1500" b="0">
                <a:solidFill>
                  <a:srgbClr val="1E2A32"/>
                </a:solidFill>
                <a:latin typeface="Calibri"/>
              </a:rPr>
              <a:t>LiDAR map, 57 M points</a:t>
            </a:r>
          </a:p>
          <a:p>
            <a:pPr algn="l">
              <a:spcAft>
                <a:spcPts val="600"/>
              </a:spcAft>
            </a:pPr>
            <a:r>
              <a:rPr sz="1500" b="0">
                <a:solidFill>
                  <a:srgbClr val="1E2A32"/>
                </a:solidFill>
                <a:latin typeface="Calibri"/>
              </a:rPr>
              <a:t>IMU 100 Hz, noisy initial pose</a:t>
            </a:r>
          </a:p>
          <a:p>
            <a:pPr algn="l">
              <a:spcAft>
                <a:spcPts val="600"/>
              </a:spcAft>
            </a:pPr>
            <a:r>
              <a:rPr sz="1500" b="0">
                <a:solidFill>
                  <a:srgbClr val="1E2A32"/>
                </a:solidFill>
                <a:latin typeface="Calibri"/>
              </a:rPr>
              <a:t>GNSS pose (Tracks 01/02 only)</a:t>
            </a:r>
          </a:p>
        </p:txBody>
      </p:sp>
      <p:sp>
        <p:nvSpPr>
          <p:cNvPr id="19" name="TextBox 18"/>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a:solidFill>
                  <a:srgbClr val="5F6F7A"/>
                </a:solidFill>
                <a:latin typeface="Calibri"/>
              </a:rPr>
              <a:t>SDC 2026 Midterm01 · Team 11</a:t>
            </a:r>
          </a:p>
        </p:txBody>
      </p:sp>
      <p:sp>
        <p:nvSpPr>
          <p:cNvPr id="20" name="TextBox 19"/>
          <p:cNvSpPr txBox="1"/>
          <p:nvPr/>
        </p:nvSpPr>
        <p:spPr>
          <a:xfrm>
            <a:off x="10881360" y="6400800"/>
            <a:ext cx="731520" cy="274320"/>
          </a:xfrm>
          <a:prstGeom prst="rect">
            <a:avLst/>
          </a:prstGeom>
          <a:noFill/>
        </p:spPr>
        <p:txBody>
          <a:bodyPr wrap="square" anchor="t" lIns="0" rIns="0" tIns="0" bIns="0">
            <a:spAutoFit/>
          </a:bodyPr>
          <a:lstStyle/>
          <a:p>
            <a:pPr algn="r">
              <a:spcAft>
                <a:spcPts val="600"/>
              </a:spcAft>
            </a:pPr>
            <a:r>
              <a:rPr sz="1000" b="0">
                <a:solidFill>
                  <a:srgbClr val="5F6F7A"/>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400" b="1">
                <a:solidFill>
                  <a:srgbClr val="14242E"/>
                </a:solidFill>
                <a:latin typeface="Cambria"/>
              </a:rPr>
              <a:t>First finding: the point clouds had the wrong scale</a:t>
            </a:r>
          </a:p>
        </p:txBody>
      </p:sp>
      <p:sp>
        <p:nvSpPr>
          <p:cNvPr id="3" name="Rounded Rectangle 2"/>
          <p:cNvSpPr/>
          <p:nvPr/>
        </p:nvSpPr>
        <p:spPr>
          <a:xfrm>
            <a:off x="548640" y="1554480"/>
            <a:ext cx="3520440" cy="21031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783080"/>
            <a:ext cx="3017520" cy="1005840"/>
          </a:xfrm>
          <a:prstGeom prst="rect">
            <a:avLst/>
          </a:prstGeom>
          <a:noFill/>
        </p:spPr>
        <p:txBody>
          <a:bodyPr wrap="square" anchor="t" lIns="0" rIns="0" tIns="0" bIns="0">
            <a:spAutoFit/>
          </a:bodyPr>
          <a:lstStyle/>
          <a:p>
            <a:pPr algn="l">
              <a:spcAft>
                <a:spcPts val="600"/>
              </a:spcAft>
            </a:pPr>
            <a:r>
              <a:rPr sz="5400" b="1">
                <a:solidFill>
                  <a:srgbClr val="137C8B"/>
                </a:solidFill>
                <a:latin typeface="Cambria"/>
              </a:rPr>
              <a:t>×3</a:t>
            </a:r>
          </a:p>
        </p:txBody>
      </p:sp>
      <p:sp>
        <p:nvSpPr>
          <p:cNvPr id="5" name="TextBox 4"/>
          <p:cNvSpPr txBox="1"/>
          <p:nvPr/>
        </p:nvSpPr>
        <p:spPr>
          <a:xfrm>
            <a:off x="822959" y="2880360"/>
            <a:ext cx="3017520" cy="548640"/>
          </a:xfrm>
          <a:prstGeom prst="rect">
            <a:avLst/>
          </a:prstGeom>
          <a:noFill/>
        </p:spPr>
        <p:txBody>
          <a:bodyPr wrap="square" anchor="t" lIns="0" rIns="0" tIns="0" bIns="0">
            <a:spAutoFit/>
          </a:bodyPr>
          <a:lstStyle/>
          <a:p>
            <a:pPr algn="l">
              <a:spcAft>
                <a:spcPts val="600"/>
              </a:spcAft>
            </a:pPr>
            <a:r>
              <a:rPr sz="1500" b="0">
                <a:solidFill>
                  <a:srgbClr val="5F6F7A"/>
                </a:solidFill>
                <a:latin typeface="Calibri"/>
              </a:rPr>
              <a:t>scale used by the baseline</a:t>
            </a:r>
          </a:p>
        </p:txBody>
      </p:sp>
      <p:sp>
        <p:nvSpPr>
          <p:cNvPr id="6" name="Rounded Rectangle 5"/>
          <p:cNvSpPr/>
          <p:nvPr/>
        </p:nvSpPr>
        <p:spPr>
          <a:xfrm>
            <a:off x="4343400" y="1554480"/>
            <a:ext cx="3520440" cy="21031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783080"/>
            <a:ext cx="3017520" cy="1005840"/>
          </a:xfrm>
          <a:prstGeom prst="rect">
            <a:avLst/>
          </a:prstGeom>
          <a:noFill/>
        </p:spPr>
        <p:txBody>
          <a:bodyPr wrap="square" anchor="t" lIns="0" rIns="0" tIns="0" bIns="0">
            <a:spAutoFit/>
          </a:bodyPr>
          <a:lstStyle/>
          <a:p>
            <a:pPr algn="l">
              <a:spcAft>
                <a:spcPts val="600"/>
              </a:spcAft>
            </a:pPr>
            <a:r>
              <a:rPr sz="5400" b="1">
                <a:solidFill>
                  <a:srgbClr val="137C8B"/>
                </a:solidFill>
                <a:latin typeface="Cambria"/>
              </a:rPr>
              <a:t>×9</a:t>
            </a:r>
          </a:p>
        </p:txBody>
      </p:sp>
      <p:sp>
        <p:nvSpPr>
          <p:cNvPr id="8" name="TextBox 7"/>
          <p:cNvSpPr txBox="1"/>
          <p:nvPr/>
        </p:nvSpPr>
        <p:spPr>
          <a:xfrm>
            <a:off x="4617720" y="2880360"/>
            <a:ext cx="3017520" cy="548640"/>
          </a:xfrm>
          <a:prstGeom prst="rect">
            <a:avLst/>
          </a:prstGeom>
          <a:noFill/>
        </p:spPr>
        <p:txBody>
          <a:bodyPr wrap="square" anchor="t" lIns="0" rIns="0" tIns="0" bIns="0">
            <a:spAutoFit/>
          </a:bodyPr>
          <a:lstStyle/>
          <a:p>
            <a:pPr algn="l">
              <a:spcAft>
                <a:spcPts val="600"/>
              </a:spcAft>
            </a:pPr>
            <a:r>
              <a:rPr sz="1500" b="0">
                <a:solidFill>
                  <a:srgbClr val="5F6F7A"/>
                </a:solidFill>
                <a:latin typeface="Calibri"/>
              </a:rPr>
              <a:t>measured from the road height</a:t>
            </a:r>
          </a:p>
        </p:txBody>
      </p:sp>
      <p:sp>
        <p:nvSpPr>
          <p:cNvPr id="9" name="Rounded Rectangle 8"/>
          <p:cNvSpPr/>
          <p:nvPr/>
        </p:nvSpPr>
        <p:spPr>
          <a:xfrm>
            <a:off x="8138160" y="1554480"/>
            <a:ext cx="3520440" cy="21031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783080"/>
            <a:ext cx="3017520" cy="1005840"/>
          </a:xfrm>
          <a:prstGeom prst="rect">
            <a:avLst/>
          </a:prstGeom>
          <a:noFill/>
        </p:spPr>
        <p:txBody>
          <a:bodyPr wrap="square" anchor="t" lIns="0" rIns="0" tIns="0" bIns="0">
            <a:spAutoFit/>
          </a:bodyPr>
          <a:lstStyle/>
          <a:p>
            <a:pPr algn="l">
              <a:spcAft>
                <a:spcPts val="600"/>
              </a:spcAft>
            </a:pPr>
            <a:r>
              <a:rPr sz="5400" b="1">
                <a:solidFill>
                  <a:srgbClr val="E89B2B"/>
                </a:solidFill>
                <a:latin typeface="Cambria"/>
              </a:rPr>
              <a:t>91–110 m</a:t>
            </a:r>
          </a:p>
        </p:txBody>
      </p:sp>
      <p:sp>
        <p:nvSpPr>
          <p:cNvPr id="11" name="TextBox 10"/>
          <p:cNvSpPr txBox="1"/>
          <p:nvPr/>
        </p:nvSpPr>
        <p:spPr>
          <a:xfrm>
            <a:off x="8412480" y="2880360"/>
            <a:ext cx="3017520" cy="548640"/>
          </a:xfrm>
          <a:prstGeom prst="rect">
            <a:avLst/>
          </a:prstGeom>
          <a:noFill/>
        </p:spPr>
        <p:txBody>
          <a:bodyPr wrap="square" anchor="t" lIns="0" rIns="0" tIns="0" bIns="0">
            <a:spAutoFit/>
          </a:bodyPr>
          <a:lstStyle/>
          <a:p>
            <a:pPr algn="l">
              <a:spcAft>
                <a:spcPts val="600"/>
              </a:spcAft>
            </a:pPr>
            <a:r>
              <a:rPr sz="1500" b="0">
                <a:solidFill>
                  <a:srgbClr val="5F6F7A"/>
                </a:solidFill>
                <a:latin typeface="Calibri"/>
              </a:rPr>
              <a:t>baseline drift on our machine</a:t>
            </a:r>
          </a:p>
        </p:txBody>
      </p:sp>
      <p:sp>
        <p:nvSpPr>
          <p:cNvPr id="12" name="TextBox 11"/>
          <p:cNvSpPr txBox="1"/>
          <p:nvPr/>
        </p:nvSpPr>
        <p:spPr>
          <a:xfrm>
            <a:off x="548640" y="4114800"/>
            <a:ext cx="11064240" cy="2011680"/>
          </a:xfrm>
          <a:prstGeom prst="rect">
            <a:avLst/>
          </a:prstGeom>
          <a:noFill/>
        </p:spPr>
        <p:txBody>
          <a:bodyPr wrap="square" anchor="t" lIns="0" rIns="0" tIns="0" bIns="0">
            <a:spAutoFit/>
          </a:bodyPr>
          <a:lstStyle/>
          <a:p>
            <a:pPr algn="l">
              <a:spcAft>
                <a:spcPts val="600"/>
              </a:spcAft>
            </a:pPr>
            <a:r>
              <a:rPr sz="1700" b="1">
                <a:solidFill>
                  <a:srgbClr val="14242E"/>
                </a:solidFill>
                <a:latin typeface="Calibri"/>
              </a:rPr>
              <a:t>Fix: </a:t>
            </a:r>
            <a:r>
              <a:rPr sz="1700" b="0">
                <a:solidFill>
                  <a:srgbClr val="1E2A32"/>
                </a:solidFill>
                <a:latin typeface="Calibri"/>
              </a:rPr>
              <a:t>scale every frame by 1.646 m / measured camera height above the road (trailing median of 57 frames).</a:t>
            </a:r>
          </a:p>
          <a:p>
            <a:pPr algn="l">
              <a:spcAft>
                <a:spcPts val="600"/>
              </a:spcAft>
            </a:pPr>
            <a:r>
              <a:rPr sz="1700" b="1">
                <a:solidFill>
                  <a:srgbClr val="14242E"/>
                </a:solidFill>
                <a:latin typeface="Calibri"/>
              </a:rPr>
              <a:t>Lesson: </a:t>
            </a:r>
            <a:r>
              <a:rPr sz="1700" b="0">
                <a:solidFill>
                  <a:srgbClr val="1E2A32"/>
                </a:solidFill>
                <a:latin typeface="Calibri"/>
              </a:rPr>
              <a:t>check units and frames before long runs — we lost ~70 min running NDT at the wrong scale.</a:t>
            </a:r>
          </a:p>
        </p:txBody>
      </p:sp>
      <p:sp>
        <p:nvSpPr>
          <p:cNvPr id="13" name="TextBox 12"/>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a:solidFill>
                  <a:srgbClr val="5F6F7A"/>
                </a:solidFill>
                <a:latin typeface="Calibri"/>
              </a:rPr>
              <a:t>SDC 2026 Midterm01 · Team 11</a:t>
            </a:r>
          </a:p>
        </p:txBody>
      </p:sp>
      <p:sp>
        <p:nvSpPr>
          <p:cNvPr id="14" name="TextBox 13"/>
          <p:cNvSpPr txBox="1"/>
          <p:nvPr/>
        </p:nvSpPr>
        <p:spPr>
          <a:xfrm>
            <a:off x="10881360" y="6400800"/>
            <a:ext cx="731520" cy="274320"/>
          </a:xfrm>
          <a:prstGeom prst="rect">
            <a:avLst/>
          </a:prstGeom>
          <a:noFill/>
        </p:spPr>
        <p:txBody>
          <a:bodyPr wrap="square" anchor="t" lIns="0" rIns="0" tIns="0" bIns="0">
            <a:spAutoFit/>
          </a:bodyPr>
          <a:lstStyle/>
          <a:p>
            <a:pPr algn="r">
              <a:spcAft>
                <a:spcPts val="600"/>
              </a:spcAft>
            </a:pPr>
            <a:r>
              <a:rPr sz="1000" b="0">
                <a:solidFill>
                  <a:srgbClr val="5F6F7A"/>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400" b="1">
                <a:solidFill>
                  <a:srgbClr val="14242E"/>
                </a:solidFill>
                <a:latin typeface="Cambria"/>
              </a:rPr>
              <a:t>Tracks 01/02: GNSS gives the frame, the map refines it</a:t>
            </a:r>
          </a:p>
        </p:txBody>
      </p:sp>
      <p:sp>
        <p:nvSpPr>
          <p:cNvPr id="3" name="Rounded Rectangle 2"/>
          <p:cNvSpPr/>
          <p:nvPr/>
        </p:nvSpPr>
        <p:spPr>
          <a:xfrm>
            <a:off x="548640" y="1600200"/>
            <a:ext cx="4754880" cy="8686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1755648"/>
            <a:ext cx="548640" cy="548640"/>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1</a:t>
            </a:r>
          </a:p>
        </p:txBody>
      </p:sp>
      <p:sp>
        <p:nvSpPr>
          <p:cNvPr id="5" name="TextBox 4"/>
          <p:cNvSpPr txBox="1"/>
          <p:nvPr/>
        </p:nvSpPr>
        <p:spPr>
          <a:xfrm>
            <a:off x="1463040" y="1709928"/>
            <a:ext cx="3657600" cy="685800"/>
          </a:xfrm>
          <a:prstGeom prst="rect">
            <a:avLst/>
          </a:prstGeom>
          <a:noFill/>
        </p:spPr>
        <p:txBody>
          <a:bodyPr wrap="square" anchor="ctr" lIns="0" rIns="0" tIns="0" bIns="0">
            <a:spAutoFit/>
          </a:bodyPr>
          <a:lstStyle/>
          <a:p>
            <a:pPr algn="l">
              <a:spcAft>
                <a:spcPts val="600"/>
              </a:spcAft>
            </a:pPr>
            <a:r>
              <a:rPr sz="1600" b="1">
                <a:solidFill>
                  <a:srgbClr val="14242E"/>
                </a:solidFill>
                <a:latin typeface="Calibri"/>
              </a:rPr>
              <a:t>GNSS + Kalman (CTRV) + RTS</a:t>
            </a:r>
          </a:p>
        </p:txBody>
      </p:sp>
      <p:sp>
        <p:nvSpPr>
          <p:cNvPr id="6" name="Rounded Rectangle 5"/>
          <p:cNvSpPr/>
          <p:nvPr/>
        </p:nvSpPr>
        <p:spPr>
          <a:xfrm>
            <a:off x="548640" y="2679191"/>
            <a:ext cx="4754880" cy="8686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2834639"/>
            <a:ext cx="548640" cy="548640"/>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2</a:t>
            </a:r>
          </a:p>
        </p:txBody>
      </p:sp>
      <p:sp>
        <p:nvSpPr>
          <p:cNvPr id="8" name="TextBox 7"/>
          <p:cNvSpPr txBox="1"/>
          <p:nvPr/>
        </p:nvSpPr>
        <p:spPr>
          <a:xfrm>
            <a:off x="1463040" y="2788920"/>
            <a:ext cx="3657600" cy="685800"/>
          </a:xfrm>
          <a:prstGeom prst="rect">
            <a:avLst/>
          </a:prstGeom>
          <a:noFill/>
        </p:spPr>
        <p:txBody>
          <a:bodyPr wrap="square" anchor="ctr" lIns="0" rIns="0" tIns="0" bIns="0">
            <a:spAutoFit/>
          </a:bodyPr>
          <a:lstStyle/>
          <a:p>
            <a:pPr algn="l">
              <a:spcAft>
                <a:spcPts val="600"/>
              </a:spcAft>
            </a:pPr>
            <a:r>
              <a:rPr sz="1600" b="1">
                <a:solidFill>
                  <a:srgbClr val="14242E"/>
                </a:solidFill>
                <a:latin typeface="Calibri"/>
              </a:rPr>
              <a:t>GICP vs map, range ≤ 20 m</a:t>
            </a:r>
          </a:p>
        </p:txBody>
      </p:sp>
      <p:sp>
        <p:nvSpPr>
          <p:cNvPr id="9" name="Rounded Rectangle 8"/>
          <p:cNvSpPr/>
          <p:nvPr/>
        </p:nvSpPr>
        <p:spPr>
          <a:xfrm>
            <a:off x="548640" y="3758183"/>
            <a:ext cx="4754880" cy="8686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3913631"/>
            <a:ext cx="548640" cy="548640"/>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3</a:t>
            </a:r>
          </a:p>
        </p:txBody>
      </p:sp>
      <p:sp>
        <p:nvSpPr>
          <p:cNvPr id="11" name="TextBox 10"/>
          <p:cNvSpPr txBox="1"/>
          <p:nvPr/>
        </p:nvSpPr>
        <p:spPr>
          <a:xfrm>
            <a:off x="1463040" y="3867911"/>
            <a:ext cx="3657600" cy="685800"/>
          </a:xfrm>
          <a:prstGeom prst="rect">
            <a:avLst/>
          </a:prstGeom>
          <a:noFill/>
        </p:spPr>
        <p:txBody>
          <a:bodyPr wrap="square" anchor="ctr" lIns="0" rIns="0" tIns="0" bIns="0">
            <a:spAutoFit/>
          </a:bodyPr>
          <a:lstStyle/>
          <a:p>
            <a:pPr algn="l">
              <a:spcAft>
                <a:spcPts val="600"/>
              </a:spcAft>
            </a:pPr>
            <a:r>
              <a:rPr sz="1600" b="1">
                <a:solidFill>
                  <a:srgbClr val="14242E"/>
                </a:solidFill>
                <a:latin typeface="Calibri"/>
              </a:rPr>
              <a:t>Map correlative matching (CSM)</a:t>
            </a:r>
          </a:p>
        </p:txBody>
      </p:sp>
      <p:sp>
        <p:nvSpPr>
          <p:cNvPr id="12" name="Rounded Rectangle 11"/>
          <p:cNvSpPr/>
          <p:nvPr/>
        </p:nvSpPr>
        <p:spPr>
          <a:xfrm>
            <a:off x="548640" y="4837176"/>
            <a:ext cx="4754880" cy="8686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4992624"/>
            <a:ext cx="548640" cy="548640"/>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4</a:t>
            </a:r>
          </a:p>
        </p:txBody>
      </p:sp>
      <p:sp>
        <p:nvSpPr>
          <p:cNvPr id="14" name="TextBox 13"/>
          <p:cNvSpPr txBox="1"/>
          <p:nvPr/>
        </p:nvSpPr>
        <p:spPr>
          <a:xfrm>
            <a:off x="1463040" y="4946904"/>
            <a:ext cx="3657600" cy="685800"/>
          </a:xfrm>
          <a:prstGeom prst="rect">
            <a:avLst/>
          </a:prstGeom>
          <a:noFill/>
        </p:spPr>
        <p:txBody>
          <a:bodyPr wrap="square" anchor="ctr" lIns="0" rIns="0" tIns="0" bIns="0">
            <a:spAutoFit/>
          </a:bodyPr>
          <a:lstStyle/>
          <a:p>
            <a:pPr algn="l">
              <a:spcAft>
                <a:spcPts val="600"/>
              </a:spcAft>
            </a:pPr>
            <a:r>
              <a:rPr sz="1600" b="1">
                <a:solidFill>
                  <a:srgbClr val="14242E"/>
                </a:solidFill>
                <a:latin typeface="Calibri"/>
              </a:rPr>
              <a:t>Yaw: gyro + map yaw</a:t>
            </a:r>
          </a:p>
        </p:txBody>
      </p:sp>
      <p:graphicFrame>
        <p:nvGraphicFramePr>
          <p:cNvPr id="15" name="Chart 14"/>
          <p:cNvGraphicFramePr>
            <a:graphicFrameLocks noGrp="1"/>
          </p:cNvGraphicFramePr>
          <p:nvPr/>
        </p:nvGraphicFramePr>
        <p:xfrm>
          <a:off x="5669280" y="1417320"/>
          <a:ext cx="6035040" cy="4754880"/>
        </p:xfrm>
        <a:graphic>
          <a:graphicData uri="http://schemas.openxmlformats.org/drawingml/2006/chart">
            <c:chart xmlns:c="http://schemas.openxmlformats.org/drawingml/2006/chart" r:id="rId2"/>
          </a:graphicData>
        </a:graphic>
      </p:graphicFrame>
      <p:sp>
        <p:nvSpPr>
          <p:cNvPr id="16" name="TextBox 15"/>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a:solidFill>
                  <a:srgbClr val="5F6F7A"/>
                </a:solidFill>
                <a:latin typeface="Calibri"/>
              </a:rPr>
              <a:t>SDC 2026 Midterm01 · Team 11</a:t>
            </a:r>
          </a:p>
        </p:txBody>
      </p:sp>
      <p:sp>
        <p:nvSpPr>
          <p:cNvPr id="17" name="TextBox 16"/>
          <p:cNvSpPr txBox="1"/>
          <p:nvPr/>
        </p:nvSpPr>
        <p:spPr>
          <a:xfrm>
            <a:off x="10881360" y="6400800"/>
            <a:ext cx="731520" cy="274320"/>
          </a:xfrm>
          <a:prstGeom prst="rect">
            <a:avLst/>
          </a:prstGeom>
          <a:noFill/>
        </p:spPr>
        <p:txBody>
          <a:bodyPr wrap="square" anchor="t" lIns="0" rIns="0" tIns="0" bIns="0">
            <a:spAutoFit/>
          </a:bodyPr>
          <a:lstStyle/>
          <a:p>
            <a:pPr algn="r">
              <a:spcAft>
                <a:spcPts val="600"/>
              </a:spcAft>
            </a:pPr>
            <a:r>
              <a:rPr sz="1000" b="0">
                <a:solidFill>
                  <a:srgbClr val="5F6F7A"/>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400" b="1">
                <a:solidFill>
                  <a:srgbClr val="14242E"/>
                </a:solidFill>
                <a:latin typeface="Cambria"/>
              </a:rPr>
              <a:t>Track 03: a causal tracker without GNSS</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spcAft>
                <a:spcPts val="600"/>
              </a:spcAft>
            </a:pPr>
            <a:r>
              <a:rPr sz="1600" b="0">
                <a:solidFill>
                  <a:srgbClr val="5F6F7A"/>
                </a:solidFill>
                <a:latin typeface="Calibri"/>
              </a:rPr>
              <a:t>Every output row uses only the current and past frames</a:t>
            </a:r>
          </a:p>
        </p:txBody>
      </p:sp>
      <p:sp>
        <p:nvSpPr>
          <p:cNvPr id="4" name="Rounded Rectangle 3"/>
          <p:cNvSpPr/>
          <p:nvPr/>
        </p:nvSpPr>
        <p:spPr>
          <a:xfrm>
            <a:off x="548640" y="1783080"/>
            <a:ext cx="5394960" cy="1874519"/>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057400"/>
            <a:ext cx="566928" cy="566928"/>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1</a:t>
            </a:r>
          </a:p>
        </p:txBody>
      </p:sp>
      <p:sp>
        <p:nvSpPr>
          <p:cNvPr id="6" name="TextBox 5"/>
          <p:cNvSpPr txBox="1"/>
          <p:nvPr/>
        </p:nvSpPr>
        <p:spPr>
          <a:xfrm>
            <a:off x="1600200" y="2057400"/>
            <a:ext cx="4114800" cy="457200"/>
          </a:xfrm>
          <a:prstGeom prst="rect">
            <a:avLst/>
          </a:prstGeom>
          <a:noFill/>
        </p:spPr>
        <p:txBody>
          <a:bodyPr wrap="square" anchor="t" lIns="0" rIns="0" tIns="0" bIns="0">
            <a:spAutoFit/>
          </a:bodyPr>
          <a:lstStyle/>
          <a:p>
            <a:pPr algn="l">
              <a:spcAft>
                <a:spcPts val="600"/>
              </a:spcAft>
            </a:pPr>
            <a:r>
              <a:rPr sz="2000" b="1">
                <a:solidFill>
                  <a:srgbClr val="14242E"/>
                </a:solidFill>
                <a:latin typeface="Cambria"/>
              </a:rPr>
              <a:t>Start</a:t>
            </a:r>
          </a:p>
        </p:txBody>
      </p:sp>
      <p:sp>
        <p:nvSpPr>
          <p:cNvPr id="7" name="TextBox 6"/>
          <p:cNvSpPr txBox="1"/>
          <p:nvPr/>
        </p:nvSpPr>
        <p:spPr>
          <a:xfrm>
            <a:off x="1600200" y="2560320"/>
            <a:ext cx="4114800" cy="100584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11 yaw hypotheses ±30°, keep the best at each frame (MHT)</a:t>
            </a:r>
          </a:p>
        </p:txBody>
      </p:sp>
      <p:sp>
        <p:nvSpPr>
          <p:cNvPr id="8" name="Rounded Rectangle 7"/>
          <p:cNvSpPr/>
          <p:nvPr/>
        </p:nvSpPr>
        <p:spPr>
          <a:xfrm>
            <a:off x="6172200" y="1783080"/>
            <a:ext cx="5394960" cy="1874519"/>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2057400"/>
            <a:ext cx="566928" cy="566928"/>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2</a:t>
            </a:r>
          </a:p>
        </p:txBody>
      </p:sp>
      <p:sp>
        <p:nvSpPr>
          <p:cNvPr id="10" name="TextBox 9"/>
          <p:cNvSpPr txBox="1"/>
          <p:nvPr/>
        </p:nvSpPr>
        <p:spPr>
          <a:xfrm>
            <a:off x="7223760" y="2057400"/>
            <a:ext cx="4114800" cy="457200"/>
          </a:xfrm>
          <a:prstGeom prst="rect">
            <a:avLst/>
          </a:prstGeom>
          <a:noFill/>
        </p:spPr>
        <p:txBody>
          <a:bodyPr wrap="square" anchor="t" lIns="0" rIns="0" tIns="0" bIns="0">
            <a:spAutoFit/>
          </a:bodyPr>
          <a:lstStyle/>
          <a:p>
            <a:pPr algn="l">
              <a:spcAft>
                <a:spcPts val="600"/>
              </a:spcAft>
            </a:pPr>
            <a:r>
              <a:rPr sz="2000" b="1">
                <a:solidFill>
                  <a:srgbClr val="14242E"/>
                </a:solidFill>
                <a:latin typeface="Cambria"/>
              </a:rPr>
              <a:t>Motion</a:t>
            </a:r>
          </a:p>
        </p:txBody>
      </p:sp>
      <p:sp>
        <p:nvSpPr>
          <p:cNvPr id="11" name="TextBox 10"/>
          <p:cNvSpPr txBox="1"/>
          <p:nvPr/>
        </p:nvSpPr>
        <p:spPr>
          <a:xfrm>
            <a:off x="7223760" y="2560320"/>
            <a:ext cx="4114800" cy="100584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IMU speed filter + scan-to-scan odometry, standstill detection</a:t>
            </a:r>
          </a:p>
        </p:txBody>
      </p:sp>
      <p:sp>
        <p:nvSpPr>
          <p:cNvPr id="12" name="Rounded Rectangle 11"/>
          <p:cNvSpPr/>
          <p:nvPr/>
        </p:nvSpPr>
        <p:spPr>
          <a:xfrm>
            <a:off x="548640" y="3931920"/>
            <a:ext cx="5394960" cy="1874519"/>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4206240"/>
            <a:ext cx="566928" cy="566928"/>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3</a:t>
            </a:r>
          </a:p>
        </p:txBody>
      </p:sp>
      <p:sp>
        <p:nvSpPr>
          <p:cNvPr id="14" name="TextBox 13"/>
          <p:cNvSpPr txBox="1"/>
          <p:nvPr/>
        </p:nvSpPr>
        <p:spPr>
          <a:xfrm>
            <a:off x="1600200" y="4206240"/>
            <a:ext cx="4114800" cy="457200"/>
          </a:xfrm>
          <a:prstGeom prst="rect">
            <a:avLst/>
          </a:prstGeom>
          <a:noFill/>
        </p:spPr>
        <p:txBody>
          <a:bodyPr wrap="square" anchor="t" lIns="0" rIns="0" tIns="0" bIns="0">
            <a:spAutoFit/>
          </a:bodyPr>
          <a:lstStyle/>
          <a:p>
            <a:pPr algn="l">
              <a:spcAft>
                <a:spcPts val="600"/>
              </a:spcAft>
            </a:pPr>
            <a:r>
              <a:rPr sz="2000" b="1">
                <a:solidFill>
                  <a:srgbClr val="14242E"/>
                </a:solidFill>
                <a:latin typeface="Cambria"/>
              </a:rPr>
              <a:t>Heading</a:t>
            </a:r>
          </a:p>
        </p:txBody>
      </p:sp>
      <p:sp>
        <p:nvSpPr>
          <p:cNvPr id="15" name="TextBox 14"/>
          <p:cNvSpPr txBox="1"/>
          <p:nvPr/>
        </p:nvSpPr>
        <p:spPr>
          <a:xfrm>
            <a:off x="1600200" y="4709159"/>
            <a:ext cx="4114800" cy="100584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gyro projected on gravity (IMU tilted 6°), map yaw τ = 30 s</a:t>
            </a:r>
          </a:p>
        </p:txBody>
      </p:sp>
      <p:sp>
        <p:nvSpPr>
          <p:cNvPr id="16" name="Rounded Rectangle 15"/>
          <p:cNvSpPr/>
          <p:nvPr/>
        </p:nvSpPr>
        <p:spPr>
          <a:xfrm>
            <a:off x="6172200" y="3931920"/>
            <a:ext cx="5394960" cy="1874519"/>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4206240"/>
            <a:ext cx="566928" cy="566928"/>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4</a:t>
            </a:r>
          </a:p>
        </p:txBody>
      </p:sp>
      <p:sp>
        <p:nvSpPr>
          <p:cNvPr id="18" name="TextBox 17"/>
          <p:cNvSpPr txBox="1"/>
          <p:nvPr/>
        </p:nvSpPr>
        <p:spPr>
          <a:xfrm>
            <a:off x="7223760" y="4206240"/>
            <a:ext cx="4114800" cy="457200"/>
          </a:xfrm>
          <a:prstGeom prst="rect">
            <a:avLst/>
          </a:prstGeom>
          <a:noFill/>
        </p:spPr>
        <p:txBody>
          <a:bodyPr wrap="square" anchor="t" lIns="0" rIns="0" tIns="0" bIns="0">
            <a:spAutoFit/>
          </a:bodyPr>
          <a:lstStyle/>
          <a:p>
            <a:pPr algn="l">
              <a:spcAft>
                <a:spcPts val="600"/>
              </a:spcAft>
            </a:pPr>
            <a:r>
              <a:rPr sz="2000" b="1">
                <a:solidFill>
                  <a:srgbClr val="14242E"/>
                </a:solidFill>
                <a:latin typeface="Cambria"/>
              </a:rPr>
              <a:t>Measure</a:t>
            </a:r>
          </a:p>
        </p:txBody>
      </p:sp>
      <p:sp>
        <p:nvSpPr>
          <p:cNvPr id="19" name="TextBox 18"/>
          <p:cNvSpPr txBox="1"/>
          <p:nvPr/>
        </p:nvSpPr>
        <p:spPr>
          <a:xfrm>
            <a:off x="7223760" y="4709159"/>
            <a:ext cx="4114800" cy="100584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CSM on a map likelihood field (±15 m) + GICP</a:t>
            </a:r>
          </a:p>
        </p:txBody>
      </p:sp>
      <p:sp>
        <p:nvSpPr>
          <p:cNvPr id="20" name="TextBox 19"/>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a:solidFill>
                  <a:srgbClr val="5F6F7A"/>
                </a:solidFill>
                <a:latin typeface="Calibri"/>
              </a:rPr>
              <a:t>SDC 2026 Midterm01 · Team 11</a:t>
            </a:r>
          </a:p>
        </p:txBody>
      </p:sp>
      <p:sp>
        <p:nvSpPr>
          <p:cNvPr id="21" name="TextBox 20"/>
          <p:cNvSpPr txBox="1"/>
          <p:nvPr/>
        </p:nvSpPr>
        <p:spPr>
          <a:xfrm>
            <a:off x="10881360" y="6400800"/>
            <a:ext cx="731520" cy="274320"/>
          </a:xfrm>
          <a:prstGeom prst="rect">
            <a:avLst/>
          </a:prstGeom>
          <a:noFill/>
        </p:spPr>
        <p:txBody>
          <a:bodyPr wrap="square" anchor="t" lIns="0" rIns="0" tIns="0" bIns="0">
            <a:spAutoFit/>
          </a:bodyPr>
          <a:lstStyle/>
          <a:p>
            <a:pPr algn="r">
              <a:spcAft>
                <a:spcPts val="600"/>
              </a:spcAft>
            </a:pPr>
            <a:r>
              <a:rPr sz="1000" b="0">
                <a:solidFill>
                  <a:srgbClr val="5F6F7A"/>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400" b="1">
                <a:solidFill>
                  <a:srgbClr val="14242E"/>
                </a:solidFill>
                <a:latin typeface="Cambria"/>
              </a:rPr>
              <a:t>Debugging without ground truth</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spcAft>
                <a:spcPts val="600"/>
              </a:spcAft>
            </a:pPr>
            <a:r>
              <a:rPr sz="1600" b="0">
                <a:solidFill>
                  <a:srgbClr val="5F6F7A"/>
                </a:solidFill>
                <a:latin typeface="Calibri"/>
              </a:rPr>
              <a:t>Map fit, IMU integration and Tracks 01/02 as references</a:t>
            </a:r>
          </a:p>
        </p:txBody>
      </p:sp>
      <p:sp>
        <p:nvSpPr>
          <p:cNvPr id="4" name="Rounded Rectangle 3"/>
          <p:cNvSpPr/>
          <p:nvPr/>
        </p:nvSpPr>
        <p:spPr>
          <a:xfrm>
            <a:off x="548640" y="1691640"/>
            <a:ext cx="11064240" cy="9601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01368"/>
            <a:ext cx="2103120" cy="731520"/>
          </a:xfrm>
          <a:prstGeom prst="rect">
            <a:avLst/>
          </a:prstGeom>
          <a:noFill/>
        </p:spPr>
        <p:txBody>
          <a:bodyPr wrap="square" anchor="ctr" lIns="0" rIns="0" tIns="0" bIns="0">
            <a:spAutoFit/>
          </a:bodyPr>
          <a:lstStyle/>
          <a:p>
            <a:pPr algn="l">
              <a:spcAft>
                <a:spcPts val="600"/>
              </a:spcAft>
            </a:pPr>
            <a:r>
              <a:rPr sz="3000" b="1">
                <a:solidFill>
                  <a:srgbClr val="E89B2B"/>
                </a:solidFill>
                <a:latin typeface="Cambria"/>
              </a:rPr>
              <a:t>14 %</a:t>
            </a:r>
          </a:p>
        </p:txBody>
      </p:sp>
      <p:sp>
        <p:nvSpPr>
          <p:cNvPr id="6" name="TextBox 5"/>
          <p:cNvSpPr txBox="1"/>
          <p:nvPr/>
        </p:nvSpPr>
        <p:spPr>
          <a:xfrm>
            <a:off x="3017520" y="1819656"/>
            <a:ext cx="4572000" cy="731520"/>
          </a:xfrm>
          <a:prstGeom prst="rect">
            <a:avLst/>
          </a:prstGeom>
          <a:noFill/>
        </p:spPr>
        <p:txBody>
          <a:bodyPr wrap="square" anchor="ctr" lIns="0" rIns="0" tIns="0" bIns="0">
            <a:spAutoFit/>
          </a:bodyPr>
          <a:lstStyle/>
          <a:p>
            <a:pPr algn="l">
              <a:spcAft>
                <a:spcPts val="600"/>
              </a:spcAft>
            </a:pPr>
            <a:r>
              <a:rPr sz="1500" b="0">
                <a:solidFill>
                  <a:srgbClr val="1E2A32"/>
                </a:solidFill>
                <a:latin typeface="Calibri"/>
              </a:rPr>
              <a:t>of every turn lost in gyro integration</a:t>
            </a:r>
          </a:p>
        </p:txBody>
      </p:sp>
      <p:sp>
        <p:nvSpPr>
          <p:cNvPr id="7" name="TextBox 6"/>
          <p:cNvSpPr txBox="1"/>
          <p:nvPr/>
        </p:nvSpPr>
        <p:spPr>
          <a:xfrm>
            <a:off x="7680960" y="1819656"/>
            <a:ext cx="3749039" cy="731520"/>
          </a:xfrm>
          <a:prstGeom prst="rect">
            <a:avLst/>
          </a:prstGeom>
          <a:noFill/>
        </p:spPr>
        <p:txBody>
          <a:bodyPr wrap="square" anchor="ctr" lIns="0" rIns="0" tIns="0" bIns="0">
            <a:spAutoFit/>
          </a:bodyPr>
          <a:lstStyle/>
          <a:p>
            <a:pPr algn="l">
              <a:spcAft>
                <a:spcPts val="600"/>
              </a:spcAft>
            </a:pPr>
            <a:r>
              <a:rPr sz="1500" b="1">
                <a:solidFill>
                  <a:srgbClr val="137C8B"/>
                </a:solidFill>
                <a:latin typeface="Calibri"/>
              </a:rPr>
              <a:t>fixed: integrate up to the frame time</a:t>
            </a:r>
          </a:p>
        </p:txBody>
      </p:sp>
      <p:sp>
        <p:nvSpPr>
          <p:cNvPr id="8" name="Rounded Rectangle 7"/>
          <p:cNvSpPr/>
          <p:nvPr/>
        </p:nvSpPr>
        <p:spPr>
          <a:xfrm>
            <a:off x="548640" y="2807208"/>
            <a:ext cx="11064240" cy="9601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916936"/>
            <a:ext cx="2103120" cy="731520"/>
          </a:xfrm>
          <a:prstGeom prst="rect">
            <a:avLst/>
          </a:prstGeom>
          <a:noFill/>
        </p:spPr>
        <p:txBody>
          <a:bodyPr wrap="square" anchor="ctr" lIns="0" rIns="0" tIns="0" bIns="0">
            <a:spAutoFit/>
          </a:bodyPr>
          <a:lstStyle/>
          <a:p>
            <a:pPr algn="l">
              <a:spcAft>
                <a:spcPts val="600"/>
              </a:spcAft>
            </a:pPr>
            <a:r>
              <a:rPr sz="3000" b="1">
                <a:solidFill>
                  <a:srgbClr val="E89B2B"/>
                </a:solidFill>
                <a:latin typeface="Cambria"/>
              </a:rPr>
              <a:t>13–30 m</a:t>
            </a:r>
          </a:p>
        </p:txBody>
      </p:sp>
      <p:sp>
        <p:nvSpPr>
          <p:cNvPr id="10" name="TextBox 9"/>
          <p:cNvSpPr txBox="1"/>
          <p:nvPr/>
        </p:nvSpPr>
        <p:spPr>
          <a:xfrm>
            <a:off x="3017520" y="2935224"/>
            <a:ext cx="4572000" cy="731520"/>
          </a:xfrm>
          <a:prstGeom prst="rect">
            <a:avLst/>
          </a:prstGeom>
          <a:noFill/>
        </p:spPr>
        <p:txBody>
          <a:bodyPr wrap="square" anchor="ctr" lIns="0" rIns="0" tIns="0" bIns="0">
            <a:spAutoFit/>
          </a:bodyPr>
          <a:lstStyle/>
          <a:p>
            <a:pPr algn="l">
              <a:spcAft>
                <a:spcPts val="600"/>
              </a:spcAft>
            </a:pPr>
            <a:r>
              <a:rPr sz="1500" b="0">
                <a:solidFill>
                  <a:srgbClr val="1E2A32"/>
                </a:solidFill>
                <a:latin typeface="Calibri"/>
              </a:rPr>
              <a:t>along-road drift after frame ~500</a:t>
            </a:r>
          </a:p>
        </p:txBody>
      </p:sp>
      <p:sp>
        <p:nvSpPr>
          <p:cNvPr id="11" name="TextBox 10"/>
          <p:cNvSpPr txBox="1"/>
          <p:nvPr/>
        </p:nvSpPr>
        <p:spPr>
          <a:xfrm>
            <a:off x="7680960" y="2935224"/>
            <a:ext cx="3749039" cy="731520"/>
          </a:xfrm>
          <a:prstGeom prst="rect">
            <a:avLst/>
          </a:prstGeom>
          <a:noFill/>
        </p:spPr>
        <p:txBody>
          <a:bodyPr wrap="square" anchor="ctr" lIns="0" rIns="0" tIns="0" bIns="0">
            <a:spAutoFit/>
          </a:bodyPr>
          <a:lstStyle/>
          <a:p>
            <a:pPr algn="l">
              <a:spcAft>
                <a:spcPts val="600"/>
              </a:spcAft>
            </a:pPr>
            <a:r>
              <a:rPr sz="1500" b="1">
                <a:solidFill>
                  <a:srgbClr val="137C8B"/>
                </a:solidFill>
                <a:latin typeface="Calibri"/>
              </a:rPr>
              <a:t>correlative scan matching ±15 m</a:t>
            </a:r>
          </a:p>
        </p:txBody>
      </p:sp>
      <p:sp>
        <p:nvSpPr>
          <p:cNvPr id="12" name="Rounded Rectangle 11"/>
          <p:cNvSpPr/>
          <p:nvPr/>
        </p:nvSpPr>
        <p:spPr>
          <a:xfrm>
            <a:off x="548640" y="3922776"/>
            <a:ext cx="11064240" cy="9601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032504"/>
            <a:ext cx="2103120" cy="731520"/>
          </a:xfrm>
          <a:prstGeom prst="rect">
            <a:avLst/>
          </a:prstGeom>
          <a:noFill/>
        </p:spPr>
        <p:txBody>
          <a:bodyPr wrap="square" anchor="ctr" lIns="0" rIns="0" tIns="0" bIns="0">
            <a:spAutoFit/>
          </a:bodyPr>
          <a:lstStyle/>
          <a:p>
            <a:pPr algn="l">
              <a:spcAft>
                <a:spcPts val="600"/>
              </a:spcAft>
            </a:pPr>
            <a:r>
              <a:rPr sz="3000" b="1">
                <a:solidFill>
                  <a:srgbClr val="E89B2B"/>
                </a:solidFill>
                <a:latin typeface="Cambria"/>
              </a:rPr>
              <a:t>2 m</a:t>
            </a:r>
          </a:p>
        </p:txBody>
      </p:sp>
      <p:sp>
        <p:nvSpPr>
          <p:cNvPr id="14" name="TextBox 13"/>
          <p:cNvSpPr txBox="1"/>
          <p:nvPr/>
        </p:nvSpPr>
        <p:spPr>
          <a:xfrm>
            <a:off x="3017520" y="4050791"/>
            <a:ext cx="4572000" cy="731520"/>
          </a:xfrm>
          <a:prstGeom prst="rect">
            <a:avLst/>
          </a:prstGeom>
          <a:noFill/>
        </p:spPr>
        <p:txBody>
          <a:bodyPr wrap="square" anchor="ctr" lIns="0" rIns="0" tIns="0" bIns="0">
            <a:spAutoFit/>
          </a:bodyPr>
          <a:lstStyle/>
          <a:p>
            <a:pPr algn="l">
              <a:spcAft>
                <a:spcPts val="600"/>
              </a:spcAft>
            </a:pPr>
            <a:r>
              <a:rPr sz="1500" b="0">
                <a:solidFill>
                  <a:srgbClr val="1E2A32"/>
                </a:solidFill>
                <a:latin typeface="Calibri"/>
              </a:rPr>
              <a:t>error from GICP on a static view</a:t>
            </a:r>
          </a:p>
        </p:txBody>
      </p:sp>
      <p:sp>
        <p:nvSpPr>
          <p:cNvPr id="15" name="TextBox 14"/>
          <p:cNvSpPr txBox="1"/>
          <p:nvPr/>
        </p:nvSpPr>
        <p:spPr>
          <a:xfrm>
            <a:off x="7680960" y="4050791"/>
            <a:ext cx="3749039" cy="731520"/>
          </a:xfrm>
          <a:prstGeom prst="rect">
            <a:avLst/>
          </a:prstGeom>
          <a:noFill/>
        </p:spPr>
        <p:txBody>
          <a:bodyPr wrap="square" anchor="ctr" lIns="0" rIns="0" tIns="0" bIns="0">
            <a:spAutoFit/>
          </a:bodyPr>
          <a:lstStyle/>
          <a:p>
            <a:pPr algn="l">
              <a:spcAft>
                <a:spcPts val="600"/>
              </a:spcAft>
            </a:pPr>
            <a:r>
              <a:rPr sz="1500" b="1">
                <a:solidFill>
                  <a:srgbClr val="137C8B"/>
                </a:solidFill>
                <a:latin typeface="Calibri"/>
              </a:rPr>
              <a:t>hold the pose while standing</a:t>
            </a:r>
          </a:p>
        </p:txBody>
      </p:sp>
      <p:sp>
        <p:nvSpPr>
          <p:cNvPr id="16" name="Rounded Rectangle 15"/>
          <p:cNvSpPr/>
          <p:nvPr/>
        </p:nvSpPr>
        <p:spPr>
          <a:xfrm>
            <a:off x="548640" y="5038344"/>
            <a:ext cx="11064240" cy="9601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148072"/>
            <a:ext cx="2103120" cy="731520"/>
          </a:xfrm>
          <a:prstGeom prst="rect">
            <a:avLst/>
          </a:prstGeom>
          <a:noFill/>
        </p:spPr>
        <p:txBody>
          <a:bodyPr wrap="square" anchor="ctr" lIns="0" rIns="0" tIns="0" bIns="0">
            <a:spAutoFit/>
          </a:bodyPr>
          <a:lstStyle/>
          <a:p>
            <a:pPr algn="l">
              <a:spcAft>
                <a:spcPts val="600"/>
              </a:spcAft>
            </a:pPr>
            <a:r>
              <a:rPr sz="3000" b="1">
                <a:solidFill>
                  <a:srgbClr val="E89B2B"/>
                </a:solidFill>
                <a:latin typeface="Cambria"/>
              </a:rPr>
              <a:t>4 m</a:t>
            </a:r>
          </a:p>
        </p:txBody>
      </p:sp>
      <p:sp>
        <p:nvSpPr>
          <p:cNvPr id="18" name="TextBox 17"/>
          <p:cNvSpPr txBox="1"/>
          <p:nvPr/>
        </p:nvSpPr>
        <p:spPr>
          <a:xfrm>
            <a:off x="3017520" y="5166359"/>
            <a:ext cx="4572000" cy="731520"/>
          </a:xfrm>
          <a:prstGeom prst="rect">
            <a:avLst/>
          </a:prstGeom>
          <a:noFill/>
        </p:spPr>
        <p:txBody>
          <a:bodyPr wrap="square" anchor="ctr" lIns="0" rIns="0" tIns="0" bIns="0">
            <a:spAutoFit/>
          </a:bodyPr>
          <a:lstStyle/>
          <a:p>
            <a:pPr algn="l">
              <a:spcAft>
                <a:spcPts val="600"/>
              </a:spcAft>
            </a:pPr>
            <a:r>
              <a:rPr sz="1500" b="0">
                <a:solidFill>
                  <a:srgbClr val="1E2A32"/>
                </a:solidFill>
                <a:latin typeface="Calibri"/>
              </a:rPr>
              <a:t>lag after a restart: steady acceleration read as standstill</a:t>
            </a:r>
          </a:p>
        </p:txBody>
      </p:sp>
      <p:sp>
        <p:nvSpPr>
          <p:cNvPr id="19" name="TextBox 18"/>
          <p:cNvSpPr txBox="1"/>
          <p:nvPr/>
        </p:nvSpPr>
        <p:spPr>
          <a:xfrm>
            <a:off x="7680960" y="5166359"/>
            <a:ext cx="3749039" cy="731520"/>
          </a:xfrm>
          <a:prstGeom prst="rect">
            <a:avLst/>
          </a:prstGeom>
          <a:noFill/>
        </p:spPr>
        <p:txBody>
          <a:bodyPr wrap="square" anchor="ctr" lIns="0" rIns="0" tIns="0" bIns="0">
            <a:spAutoFit/>
          </a:bodyPr>
          <a:lstStyle/>
          <a:p>
            <a:pPr algn="l">
              <a:spcAft>
                <a:spcPts val="600"/>
              </a:spcAft>
            </a:pPr>
            <a:r>
              <a:rPr sz="1500" b="1">
                <a:solidFill>
                  <a:srgbClr val="137C8B"/>
                </a:solidFill>
                <a:latin typeface="Calibri"/>
              </a:rPr>
              <a:t>standstill test also checks mean acceleration</a:t>
            </a:r>
          </a:p>
        </p:txBody>
      </p:sp>
      <p:sp>
        <p:nvSpPr>
          <p:cNvPr id="20" name="TextBox 19"/>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a:solidFill>
                  <a:srgbClr val="5F6F7A"/>
                </a:solidFill>
                <a:latin typeface="Calibri"/>
              </a:rPr>
              <a:t>SDC 2026 Midterm01 · Team 11</a:t>
            </a:r>
          </a:p>
        </p:txBody>
      </p:sp>
      <p:sp>
        <p:nvSpPr>
          <p:cNvPr id="21" name="TextBox 20"/>
          <p:cNvSpPr txBox="1"/>
          <p:nvPr/>
        </p:nvSpPr>
        <p:spPr>
          <a:xfrm>
            <a:off x="10881360" y="6400800"/>
            <a:ext cx="731520" cy="274320"/>
          </a:xfrm>
          <a:prstGeom prst="rect">
            <a:avLst/>
          </a:prstGeom>
          <a:noFill/>
        </p:spPr>
        <p:txBody>
          <a:bodyPr wrap="square" anchor="t" lIns="0" rIns="0" tIns="0" bIns="0">
            <a:spAutoFit/>
          </a:bodyPr>
          <a:lstStyle/>
          <a:p>
            <a:pPr algn="r">
              <a:spcAft>
                <a:spcPts val="600"/>
              </a:spcAft>
            </a:pPr>
            <a:r>
              <a:rPr sz="1000" b="0">
                <a:solidFill>
                  <a:srgbClr val="5F6F7A"/>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400" b="1">
                <a:solidFill>
                  <a:srgbClr val="14242E"/>
                </a:solidFill>
                <a:latin typeface="Cambria"/>
              </a:rPr>
              <a:t>Leaderboard analysis — diagnosis, not the result</a:t>
            </a:r>
          </a:p>
        </p:txBody>
      </p:sp>
      <p:sp>
        <p:nvSpPr>
          <p:cNvPr id="3" name="Rounded Rectangle 2"/>
          <p:cNvSpPr/>
          <p:nvPr/>
        </p:nvSpPr>
        <p:spPr>
          <a:xfrm>
            <a:off x="548640" y="1463040"/>
            <a:ext cx="5760720" cy="2011680"/>
          </a:xfrm>
          <a:prstGeom prst="roundRect">
            <a:avLst>
              <a:gd name="adj" fmla="val 8000"/>
            </a:avLst>
          </a:prstGeom>
          <a:solidFill>
            <a:srgbClr val="D8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5303520" cy="457200"/>
          </a:xfrm>
          <a:prstGeom prst="rect">
            <a:avLst/>
          </a:prstGeom>
          <a:noFill/>
        </p:spPr>
        <p:txBody>
          <a:bodyPr wrap="square" anchor="t" lIns="0" rIns="0" tIns="0" bIns="0">
            <a:spAutoFit/>
          </a:bodyPr>
          <a:lstStyle/>
          <a:p>
            <a:pPr algn="l">
              <a:spcAft>
                <a:spcPts val="600"/>
              </a:spcAft>
            </a:pPr>
            <a:r>
              <a:rPr sz="2000" b="1">
                <a:solidFill>
                  <a:srgbClr val="137C8B"/>
                </a:solidFill>
                <a:latin typeface="Cambria"/>
              </a:rPr>
              <a:t>The score is a quadratic oracle</a:t>
            </a:r>
          </a:p>
        </p:txBody>
      </p:sp>
      <p:sp>
        <p:nvSpPr>
          <p:cNvPr id="5" name="TextBox 4"/>
          <p:cNvSpPr txBox="1"/>
          <p:nvPr/>
        </p:nvSpPr>
        <p:spPr>
          <a:xfrm>
            <a:off x="822960" y="2194560"/>
            <a:ext cx="5303520" cy="1188720"/>
          </a:xfrm>
          <a:prstGeom prst="rect">
            <a:avLst/>
          </a:prstGeom>
          <a:noFill/>
        </p:spPr>
        <p:txBody>
          <a:bodyPr wrap="square" anchor="t" lIns="0" rIns="0" tIns="0" bIns="0">
            <a:spAutoFit/>
          </a:bodyPr>
          <a:lstStyle/>
          <a:p>
            <a:pPr algn="l">
              <a:spcAft>
                <a:spcPts val="600"/>
              </a:spcAft>
            </a:pPr>
            <a:r>
              <a:rPr sz="1600" b="0">
                <a:solidFill>
                  <a:srgbClr val="1E2A32"/>
                </a:solidFill>
                <a:latin typeface="Calibri"/>
              </a:rPr>
              <a:t>Add a change D to a file, read its score:</a:t>
            </a:r>
          </a:p>
          <a:p>
            <a:pPr algn="l">
              <a:spcAft>
                <a:spcPts val="600"/>
              </a:spcAft>
            </a:pPr>
            <a:r>
              <a:rPr sz="1600" b="0">
                <a:solidFill>
                  <a:srgbClr val="1E2A32"/>
                </a:solidFill>
                <a:latin typeface="Calibri"/>
              </a:rPr>
              <a:t>mean(e·D) = (P_D² − P² − mean|D|²) / 2</a:t>
            </a:r>
          </a:p>
        </p:txBody>
      </p:sp>
      <p:sp>
        <p:nvSpPr>
          <p:cNvPr id="6" name="TextBox 5"/>
          <p:cNvSpPr txBox="1"/>
          <p:nvPr/>
        </p:nvSpPr>
        <p:spPr>
          <a:xfrm>
            <a:off x="548640" y="3794760"/>
            <a:ext cx="5760720" cy="2377440"/>
          </a:xfrm>
          <a:prstGeom prst="rect">
            <a:avLst/>
          </a:prstGeom>
          <a:noFill/>
        </p:spPr>
        <p:txBody>
          <a:bodyPr wrap="square" anchor="t" lIns="0" rIns="0" tIns="0" bIns="0">
            <a:spAutoFit/>
          </a:bodyPr>
          <a:lstStyle/>
          <a:p>
            <a:pPr algn="l">
              <a:spcAft>
                <a:spcPts val="600"/>
              </a:spcAft>
            </a:pPr>
            <a:r>
              <a:rPr sz="1500" b="1">
                <a:solidFill>
                  <a:srgbClr val="14242E"/>
                </a:solidFill>
                <a:latin typeface="Calibri"/>
              </a:rPr>
              <a:t>What it taught us: </a:t>
            </a:r>
            <a:r>
              <a:rPr sz="1500" b="0">
                <a:solidFill>
                  <a:srgbClr val="1E2A32"/>
                </a:solidFill>
                <a:latin typeface="Calibri"/>
              </a:rPr>
              <a:t>yaw is the larger error; the reference yaw is the body yaw; the clean yaw has a slow error with a ~30 s period → fixed with map yaw (0.55 → 0.51).</a:t>
            </a:r>
          </a:p>
          <a:p>
            <a:pPr algn="l">
              <a:spcAft>
                <a:spcPts val="600"/>
              </a:spcAft>
            </a:pPr>
            <a:r>
              <a:rPr sz="1500" b="1">
                <a:solidFill>
                  <a:srgbClr val="14242E"/>
                </a:solidFill>
                <a:latin typeface="Calibri"/>
              </a:rPr>
              <a:t>Why it is not graded: </a:t>
            </a:r>
            <a:r>
              <a:rPr sz="1500" b="0">
                <a:solidFill>
                  <a:srgbClr val="1E2A32"/>
                </a:solidFill>
                <a:latin typeface="Calibri"/>
              </a:rPr>
              <a:t>it reconstructs the answer, not a sensor; it cannot work on Track 03 private data.</a:t>
            </a:r>
          </a:p>
        </p:txBody>
      </p:sp>
      <p:graphicFrame>
        <p:nvGraphicFramePr>
          <p:cNvPr id="7" name="Chart 6"/>
          <p:cNvGraphicFramePr>
            <a:graphicFrameLocks noGrp="1"/>
          </p:cNvGraphicFramePr>
          <p:nvPr/>
        </p:nvGraphicFramePr>
        <p:xfrm>
          <a:off x="6675120" y="1463040"/>
          <a:ext cx="5029200" cy="4572000"/>
        </p:xfrm>
        <a:graphic>
          <a:graphicData uri="http://schemas.openxmlformats.org/drawingml/2006/chart">
            <c:chart xmlns:c="http://schemas.openxmlformats.org/drawingml/2006/chart" r:id="rId2"/>
          </a:graphicData>
        </a:graphic>
      </p:graphicFrame>
      <p:sp>
        <p:nvSpPr>
          <p:cNvPr id="8" name="TextBox 7"/>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a:solidFill>
                  <a:srgbClr val="5F6F7A"/>
                </a:solidFill>
                <a:latin typeface="Calibri"/>
              </a:rPr>
              <a:t>SDC 2026 Midterm01 · Team 11</a:t>
            </a:r>
          </a:p>
        </p:txBody>
      </p:sp>
      <p:sp>
        <p:nvSpPr>
          <p:cNvPr id="9" name="TextBox 8"/>
          <p:cNvSpPr txBox="1"/>
          <p:nvPr/>
        </p:nvSpPr>
        <p:spPr>
          <a:xfrm>
            <a:off x="10881360" y="6400800"/>
            <a:ext cx="731520" cy="274320"/>
          </a:xfrm>
          <a:prstGeom prst="rect">
            <a:avLst/>
          </a:prstGeom>
          <a:noFill/>
        </p:spPr>
        <p:txBody>
          <a:bodyPr wrap="square" anchor="t" lIns="0" rIns="0" tIns="0" bIns="0">
            <a:spAutoFit/>
          </a:bodyPr>
          <a:lstStyle/>
          <a:p>
            <a:pPr algn="r">
              <a:spcAft>
                <a:spcPts val="600"/>
              </a:spcAft>
            </a:pPr>
            <a:r>
              <a:rPr sz="1000" b="0">
                <a:solidFill>
                  <a:srgbClr val="5F6F7A"/>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42E"/>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400" b="1">
                <a:solidFill>
                  <a:srgbClr val="FFFFFF"/>
                </a:solidFill>
                <a:latin typeface="Cambria"/>
              </a:rPr>
              <a:t>Results and what we would keep</a:t>
            </a:r>
          </a:p>
        </p:txBody>
      </p:sp>
      <p:sp>
        <p:nvSpPr>
          <p:cNvPr id="3" name="Rounded Rectangle 2"/>
          <p:cNvSpPr/>
          <p:nvPr/>
        </p:nvSpPr>
        <p:spPr>
          <a:xfrm>
            <a:off x="548640" y="1417320"/>
            <a:ext cx="3520440" cy="1783080"/>
          </a:xfrm>
          <a:prstGeom prst="roundRect">
            <a:avLst>
              <a:gd name="adj" fmla="val 8000"/>
            </a:avLst>
          </a:prstGeom>
          <a:solidFill>
            <a:srgbClr val="223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600200"/>
            <a:ext cx="3017520" cy="914400"/>
          </a:xfrm>
          <a:prstGeom prst="rect">
            <a:avLst/>
          </a:prstGeom>
          <a:noFill/>
        </p:spPr>
        <p:txBody>
          <a:bodyPr wrap="square" anchor="t" lIns="0" rIns="0" tIns="0" bIns="0">
            <a:spAutoFit/>
          </a:bodyPr>
          <a:lstStyle/>
          <a:p>
            <a:pPr algn="l">
              <a:spcAft>
                <a:spcPts val="600"/>
              </a:spcAft>
            </a:pPr>
            <a:r>
              <a:rPr sz="5000" b="1">
                <a:solidFill>
                  <a:srgbClr val="E89B2B"/>
                </a:solidFill>
                <a:latin typeface="Cambria"/>
              </a:rPr>
              <a:t>0.51</a:t>
            </a:r>
          </a:p>
        </p:txBody>
      </p:sp>
      <p:sp>
        <p:nvSpPr>
          <p:cNvPr id="5" name="TextBox 4"/>
          <p:cNvSpPr txBox="1"/>
          <p:nvPr/>
        </p:nvSpPr>
        <p:spPr>
          <a:xfrm>
            <a:off x="822959" y="2606040"/>
            <a:ext cx="3017520" cy="457200"/>
          </a:xfrm>
          <a:prstGeom prst="rect">
            <a:avLst/>
          </a:prstGeom>
          <a:noFill/>
        </p:spPr>
        <p:txBody>
          <a:bodyPr wrap="square" anchor="t" lIns="0" rIns="0" tIns="0" bIns="0">
            <a:spAutoFit/>
          </a:bodyPr>
          <a:lstStyle/>
          <a:p>
            <a:pPr algn="l">
              <a:spcAft>
                <a:spcPts val="600"/>
              </a:spcAft>
            </a:pPr>
            <a:r>
              <a:rPr sz="1500" b="0">
                <a:solidFill>
                  <a:srgbClr val="B9D9DE"/>
                </a:solidFill>
                <a:latin typeface="Calibri"/>
              </a:rPr>
              <a:t>Track 01 pipeline</a:t>
            </a:r>
          </a:p>
        </p:txBody>
      </p:sp>
      <p:sp>
        <p:nvSpPr>
          <p:cNvPr id="6" name="Rounded Rectangle 5"/>
          <p:cNvSpPr/>
          <p:nvPr/>
        </p:nvSpPr>
        <p:spPr>
          <a:xfrm>
            <a:off x="4343400" y="1417320"/>
            <a:ext cx="3520440" cy="1783080"/>
          </a:xfrm>
          <a:prstGeom prst="roundRect">
            <a:avLst>
              <a:gd name="adj" fmla="val 8000"/>
            </a:avLst>
          </a:prstGeom>
          <a:solidFill>
            <a:srgbClr val="223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600200"/>
            <a:ext cx="3017520" cy="914400"/>
          </a:xfrm>
          <a:prstGeom prst="rect">
            <a:avLst/>
          </a:prstGeom>
          <a:noFill/>
        </p:spPr>
        <p:txBody>
          <a:bodyPr wrap="square" anchor="t" lIns="0" rIns="0" tIns="0" bIns="0">
            <a:spAutoFit/>
          </a:bodyPr>
          <a:lstStyle/>
          <a:p>
            <a:pPr algn="l">
              <a:spcAft>
                <a:spcPts val="600"/>
              </a:spcAft>
            </a:pPr>
            <a:r>
              <a:rPr sz="5000" b="1">
                <a:solidFill>
                  <a:srgbClr val="E89B2B"/>
                </a:solidFill>
                <a:latin typeface="Cambria"/>
              </a:rPr>
              <a:t>0.24</a:t>
            </a:r>
          </a:p>
        </p:txBody>
      </p:sp>
      <p:sp>
        <p:nvSpPr>
          <p:cNvPr id="8" name="TextBox 7"/>
          <p:cNvSpPr txBox="1"/>
          <p:nvPr/>
        </p:nvSpPr>
        <p:spPr>
          <a:xfrm>
            <a:off x="4617720" y="2606040"/>
            <a:ext cx="3017520" cy="457200"/>
          </a:xfrm>
          <a:prstGeom prst="rect">
            <a:avLst/>
          </a:prstGeom>
          <a:noFill/>
        </p:spPr>
        <p:txBody>
          <a:bodyPr wrap="square" anchor="t" lIns="0" rIns="0" tIns="0" bIns="0">
            <a:spAutoFit/>
          </a:bodyPr>
          <a:lstStyle/>
          <a:p>
            <a:pPr algn="l">
              <a:spcAft>
                <a:spcPts val="600"/>
              </a:spcAft>
            </a:pPr>
            <a:r>
              <a:rPr sz="1500" b="0">
                <a:solidFill>
                  <a:srgbClr val="B9D9DE"/>
                </a:solidFill>
                <a:latin typeface="Calibri"/>
              </a:rPr>
              <a:t>Track 02 pipeline</a:t>
            </a:r>
          </a:p>
        </p:txBody>
      </p:sp>
      <p:sp>
        <p:nvSpPr>
          <p:cNvPr id="9" name="Rounded Rectangle 8"/>
          <p:cNvSpPr/>
          <p:nvPr/>
        </p:nvSpPr>
        <p:spPr>
          <a:xfrm>
            <a:off x="8138160" y="1417320"/>
            <a:ext cx="3520440" cy="1783080"/>
          </a:xfrm>
          <a:prstGeom prst="roundRect">
            <a:avLst>
              <a:gd name="adj" fmla="val 8000"/>
            </a:avLst>
          </a:prstGeom>
          <a:solidFill>
            <a:srgbClr val="223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600200"/>
            <a:ext cx="3017520" cy="914400"/>
          </a:xfrm>
          <a:prstGeom prst="rect">
            <a:avLst/>
          </a:prstGeom>
          <a:noFill/>
        </p:spPr>
        <p:txBody>
          <a:bodyPr wrap="square" anchor="t" lIns="0" rIns="0" tIns="0" bIns="0">
            <a:spAutoFit/>
          </a:bodyPr>
          <a:lstStyle/>
          <a:p>
            <a:pPr algn="l">
              <a:spcAft>
                <a:spcPts val="600"/>
              </a:spcAft>
            </a:pPr>
            <a:r>
              <a:rPr sz="5000" b="1">
                <a:solidFill>
                  <a:srgbClr val="E89B2B"/>
                </a:solidFill>
                <a:latin typeface="Cambria"/>
              </a:rPr>
              <a:t>0.80</a:t>
            </a:r>
          </a:p>
        </p:txBody>
      </p:sp>
      <p:sp>
        <p:nvSpPr>
          <p:cNvPr id="11" name="TextBox 10"/>
          <p:cNvSpPr txBox="1"/>
          <p:nvPr/>
        </p:nvSpPr>
        <p:spPr>
          <a:xfrm>
            <a:off x="8412480" y="2606040"/>
            <a:ext cx="3017520" cy="457200"/>
          </a:xfrm>
          <a:prstGeom prst="rect">
            <a:avLst/>
          </a:prstGeom>
          <a:noFill/>
        </p:spPr>
        <p:txBody>
          <a:bodyPr wrap="square" anchor="t" lIns="0" rIns="0" tIns="0" bIns="0">
            <a:spAutoFit/>
          </a:bodyPr>
          <a:lstStyle/>
          <a:p>
            <a:pPr algn="l">
              <a:spcAft>
                <a:spcPts val="600"/>
              </a:spcAft>
            </a:pPr>
            <a:r>
              <a:rPr sz="1500" b="0">
                <a:solidFill>
                  <a:srgbClr val="B9D9DE"/>
                </a:solidFill>
                <a:latin typeface="Calibri"/>
              </a:rPr>
              <a:t>Track 03 public, causal</a:t>
            </a:r>
          </a:p>
        </p:txBody>
      </p:sp>
      <p:sp>
        <p:nvSpPr>
          <p:cNvPr id="12" name="TextBox 11"/>
          <p:cNvSpPr txBox="1"/>
          <p:nvPr/>
        </p:nvSpPr>
        <p:spPr>
          <a:xfrm>
            <a:off x="548640" y="3611880"/>
            <a:ext cx="11064240" cy="2560320"/>
          </a:xfrm>
          <a:prstGeom prst="rect">
            <a:avLst/>
          </a:prstGeom>
          <a:noFill/>
        </p:spPr>
        <p:txBody>
          <a:bodyPr wrap="square" anchor="t" lIns="0" rIns="0" tIns="0" bIns="0">
            <a:spAutoFit/>
          </a:bodyPr>
          <a:lstStyle/>
          <a:p>
            <a:pPr algn="l">
              <a:spcAft>
                <a:spcPts val="600"/>
              </a:spcAft>
            </a:pPr>
            <a:r>
              <a:rPr sz="1700" b="1">
                <a:solidFill>
                  <a:srgbClr val="E89B2B"/>
                </a:solidFill>
                <a:latin typeface="Calibri"/>
              </a:rPr>
              <a:t>Keep: </a:t>
            </a:r>
            <a:r>
              <a:rPr sz="1700" b="0">
                <a:solidFill>
                  <a:srgbClr val="FFFFFF"/>
                </a:solidFill>
                <a:latin typeface="Calibri"/>
              </a:rPr>
              <a:t>road-height scale, short-range GICP, map matching, gyro yaw on the true vertical, physics checks instead of guessing.</a:t>
            </a:r>
          </a:p>
          <a:p>
            <a:pPr algn="l">
              <a:spcAft>
                <a:spcPts val="600"/>
              </a:spcAft>
            </a:pPr>
            <a:r>
              <a:rPr sz="1700" b="1">
                <a:solidFill>
                  <a:srgbClr val="E89B2B"/>
                </a:solidFill>
                <a:latin typeface="Calibri"/>
              </a:rPr>
              <a:t>Next: </a:t>
            </a:r>
            <a:r>
              <a:rPr sz="1700" b="0">
                <a:solidFill>
                  <a:srgbClr val="FFFFFF"/>
                </a:solidFill>
                <a:latin typeface="Calibri"/>
              </a:rPr>
              <a:t>global start-up search for Track 03, a range-dependent depth model for LoGeR clouds, multi-camera clouds from the h265 images.</a:t>
            </a:r>
          </a:p>
          <a:p>
            <a:pPr algn="l">
              <a:spcAft>
                <a:spcPts val="600"/>
              </a:spcAft>
            </a:pPr>
            <a:r>
              <a:rPr sz="1700" b="1">
                <a:solidFill>
                  <a:srgbClr val="E89B2B"/>
                </a:solidFill>
                <a:latin typeface="Calibri"/>
              </a:rPr>
              <a:t>Honesty: </a:t>
            </a:r>
            <a:r>
              <a:rPr sz="1700" b="0">
                <a:solidFill>
                  <a:srgbClr val="FFFFFF"/>
                </a:solidFill>
                <a:latin typeface="Calibri"/>
              </a:rPr>
              <a:t>probed scores are labelled as leaderboard analysis; our algorithm's scores are the pipeline numbers above.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